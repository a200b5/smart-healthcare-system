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84" d="100"/>
          <a:sy n="84" d="100"/>
        </p:scale>
        <p:origin x="629"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 Id="rId5" Type="http://schemas.openxmlformats.org/officeDocument/2006/relationships/image" Target="../media/image27.png"/><Relationship Id="rId4" Type="http://schemas.openxmlformats.org/officeDocument/2006/relationships/image" Target="../media/image26.png"/></Relationships>
</file>

<file path=ppt/slides/_rels/slide2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1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Section label"/>
          <p:cNvSpPr txBox="1"/>
          <p:nvPr/>
        </p:nvSpPr>
        <p:spPr>
          <a:xfrm>
            <a:off x="685800" y="1047749"/>
            <a:ext cx="8572500" cy="247649"/>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1" i="0" u="none">
                <a:solidFill>
                  <a:srgbClr val="93A3B8"/>
                </a:solidFill>
                <a:latin typeface="Arial"/>
              </a:rPr>
              <a:t>DEPI GRADUATION PROJECT · 2026</a:t>
            </a:r>
          </a:p>
        </p:txBody>
      </p:sp>
      <p:sp>
        <p:nvSpPr>
          <p:cNvPr id="3" name="Cover accent"/>
          <p:cNvSpPr/>
          <p:nvPr/>
        </p:nvSpPr>
        <p:spPr>
          <a:xfrm>
            <a:off x="685800" y="3143250"/>
            <a:ext cx="533400" cy="47625"/>
          </a:xfrm>
          <a:prstGeom prst="rect">
            <a:avLst/>
          </a:prstGeom>
          <a:solidFill>
            <a:srgbClr val="2DD4BF"/>
          </a:solidFill>
          <a:ln>
            <a:noFill/>
          </a:ln>
        </p:spPr>
        <p:txBody>
          <a:bodyPr rtlCol="0" anchor="ctr"/>
          <a:lstStyle/>
          <a:p>
            <a:pPr algn="ctr"/>
            <a:endParaRPr/>
          </a:p>
        </p:txBody>
      </p:sp>
      <p:sp>
        <p:nvSpPr>
          <p:cNvPr id="4" name="TextBox 3"/>
          <p:cNvSpPr txBox="1"/>
          <p:nvPr/>
        </p:nvSpPr>
        <p:spPr>
          <a:xfrm>
            <a:off x="685800" y="3390900"/>
            <a:ext cx="9906000" cy="1600200"/>
          </a:xfrm>
          <a:prstGeom prst="rect">
            <a:avLst/>
          </a:prstGeom>
          <a:noFill/>
          <a:ln>
            <a:noFill/>
          </a:ln>
        </p:spPr>
        <p:txBody>
          <a:bodyPr wrap="square" lIns="0" tIns="0" rIns="0" bIns="0" anchor="t">
            <a:noAutofit/>
          </a:bodyPr>
          <a:lstStyle/>
          <a:p>
            <a:pPr algn="l">
              <a:lnSpc>
                <a:spcPts val="4950"/>
              </a:lnSpc>
              <a:spcBef>
                <a:spcPts val="0"/>
              </a:spcBef>
              <a:spcAft>
                <a:spcPts val="0"/>
              </a:spcAft>
            </a:pPr>
            <a:r>
              <a:rPr sz="4950" b="1" i="0" u="none">
                <a:solidFill>
                  <a:srgbClr val="F3F6FA"/>
                </a:solidFill>
                <a:latin typeface="Arial"/>
              </a:rPr>
              <a:t>MediCare Pro</a:t>
            </a:r>
          </a:p>
        </p:txBody>
      </p:sp>
      <p:sp>
        <p:nvSpPr>
          <p:cNvPr id="5" name="TextBox 4"/>
          <p:cNvSpPr txBox="1"/>
          <p:nvPr/>
        </p:nvSpPr>
        <p:spPr>
          <a:xfrm>
            <a:off x="685800" y="5124450"/>
            <a:ext cx="7810499" cy="742950"/>
          </a:xfrm>
          <a:prstGeom prst="rect">
            <a:avLst/>
          </a:prstGeom>
          <a:noFill/>
          <a:ln>
            <a:noFill/>
          </a:ln>
        </p:spPr>
        <p:txBody>
          <a:bodyPr wrap="square" lIns="0" tIns="0" rIns="0" bIns="0" anchor="t">
            <a:noAutofit/>
          </a:bodyPr>
          <a:lstStyle/>
          <a:p>
            <a:pPr algn="l">
              <a:lnSpc>
                <a:spcPts val="2250"/>
              </a:lnSpc>
              <a:spcBef>
                <a:spcPts val="0"/>
              </a:spcBef>
              <a:spcAft>
                <a:spcPts val="0"/>
              </a:spcAft>
            </a:pPr>
            <a:r>
              <a:rPr sz="1800" b="0" i="0" u="none">
                <a:solidFill>
                  <a:srgbClr val="93A3B8"/>
                </a:solidFill>
                <a:latin typeface="Arial"/>
              </a:rPr>
              <a:t>Smart Healthcare Management System — a full-stack platform for patients, doctors, and administrators.</a:t>
            </a:r>
          </a:p>
        </p:txBody>
      </p:sp>
      <p:sp>
        <p:nvSpPr>
          <p:cNvPr id="6" name="Footer"/>
          <p:cNvSpPr txBox="1"/>
          <p:nvPr/>
        </p:nvSpPr>
        <p:spPr>
          <a:xfrm>
            <a:off x="8077200" y="6305550"/>
            <a:ext cx="3429000" cy="171450"/>
          </a:xfrm>
          <a:prstGeom prst="rect">
            <a:avLst/>
          </a:prstGeom>
          <a:noFill/>
          <a:ln>
            <a:noFill/>
          </a:ln>
        </p:spPr>
        <p:txBody>
          <a:bodyPr wrap="square" lIns="0" tIns="0" rIns="0" bIns="0" anchor="t">
            <a:noAutofit/>
          </a:bodyPr>
          <a:lstStyle/>
          <a:p>
            <a:pPr algn="r">
              <a:lnSpc>
                <a:spcPts val="1044"/>
              </a:lnSpc>
              <a:spcBef>
                <a:spcPts val="0"/>
              </a:spcBef>
              <a:spcAft>
                <a:spcPts val="0"/>
              </a:spcAft>
            </a:pPr>
            <a:r>
              <a:rPr sz="900" b="0" i="0" u="none">
                <a:solidFill>
                  <a:srgbClr val="93A3B8"/>
                </a:solidFill>
                <a:latin typeface="Arial"/>
              </a:rPr>
              <a:t>Ahmed Bakr · Ahmed Sabry · Ibrahim Mohamed · Ahmed Hany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AFC"/>
        </a:solidFill>
        <a:effectLst/>
      </p:bgPr>
    </p:bg>
    <p:spTree>
      <p:nvGrpSpPr>
        <p:cNvPr id="1" name=""/>
        <p:cNvGrpSpPr/>
        <p:nvPr/>
      </p:nvGrpSpPr>
      <p:grpSpPr>
        <a:xfrm>
          <a:off x="0" y="0"/>
          <a:ext cx="0" cy="0"/>
          <a:chOff x="0" y="0"/>
          <a:chExt cx="0" cy="0"/>
        </a:xfrm>
      </p:grpSpPr>
      <p:sp>
        <p:nvSpPr>
          <p:cNvPr id="2" name="Section label"/>
          <p:cNvSpPr txBox="1"/>
          <p:nvPr/>
        </p:nvSpPr>
        <p:spPr>
          <a:xfrm>
            <a:off x="685800" y="685800"/>
            <a:ext cx="5905500" cy="247649"/>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1" i="0" u="none">
                <a:solidFill>
                  <a:srgbClr val="5B6B84"/>
                </a:solidFill>
                <a:latin typeface="Arial"/>
              </a:rPr>
              <a:t>PRESENTATION OUTLINE</a:t>
            </a:r>
          </a:p>
        </p:txBody>
      </p:sp>
      <p:sp>
        <p:nvSpPr>
          <p:cNvPr id="3" name="Title accent"/>
          <p:cNvSpPr/>
          <p:nvPr/>
        </p:nvSpPr>
        <p:spPr>
          <a:xfrm>
            <a:off x="685800" y="1009650"/>
            <a:ext cx="419100" cy="38100"/>
          </a:xfrm>
          <a:prstGeom prst="rect">
            <a:avLst/>
          </a:prstGeom>
          <a:solidFill>
            <a:srgbClr val="0D9488"/>
          </a:solidFill>
          <a:ln>
            <a:noFill/>
          </a:ln>
        </p:spPr>
        <p:txBody>
          <a:bodyPr rtlCol="0" anchor="ctr"/>
          <a:lstStyle/>
          <a:p>
            <a:pPr algn="ctr"/>
            <a:endParaRPr/>
          </a:p>
        </p:txBody>
      </p:sp>
      <p:sp>
        <p:nvSpPr>
          <p:cNvPr id="4" name="Slide title"/>
          <p:cNvSpPr txBox="1"/>
          <p:nvPr/>
        </p:nvSpPr>
        <p:spPr>
          <a:xfrm>
            <a:off x="685800" y="1181100"/>
            <a:ext cx="10820400" cy="876300"/>
          </a:xfrm>
          <a:prstGeom prst="rect">
            <a:avLst/>
          </a:prstGeom>
          <a:noFill/>
          <a:ln>
            <a:noFill/>
          </a:ln>
        </p:spPr>
        <p:txBody>
          <a:bodyPr wrap="square" lIns="0" tIns="0" rIns="0" bIns="0" anchor="t">
            <a:noAutofit/>
          </a:bodyPr>
          <a:lstStyle/>
          <a:p>
            <a:pPr algn="l">
              <a:lnSpc>
                <a:spcPts val="3276"/>
              </a:lnSpc>
              <a:spcBef>
                <a:spcPts val="0"/>
              </a:spcBef>
              <a:spcAft>
                <a:spcPts val="0"/>
              </a:spcAft>
            </a:pPr>
            <a:r>
              <a:rPr sz="3150" b="1" i="0" u="none">
                <a:solidFill>
                  <a:srgbClr val="132238"/>
                </a:solidFill>
                <a:latin typeface="Arial"/>
              </a:rPr>
              <a:t>Agenda</a:t>
            </a:r>
          </a:p>
        </p:txBody>
      </p:sp>
      <p:sp>
        <p:nvSpPr>
          <p:cNvPr id="5" name="TextBox 4"/>
          <p:cNvSpPr txBox="1"/>
          <p:nvPr/>
        </p:nvSpPr>
        <p:spPr>
          <a:xfrm>
            <a:off x="685800" y="2247900"/>
            <a:ext cx="514350" cy="285750"/>
          </a:xfrm>
          <a:prstGeom prst="rect">
            <a:avLst/>
          </a:prstGeom>
          <a:noFill/>
          <a:ln>
            <a:noFill/>
          </a:ln>
        </p:spPr>
        <p:txBody>
          <a:bodyPr wrap="square" lIns="0" tIns="0" rIns="0" bIns="0" anchor="t">
            <a:noAutofit/>
          </a:bodyPr>
          <a:lstStyle/>
          <a:p>
            <a:pPr algn="l">
              <a:lnSpc>
                <a:spcPts val="1739"/>
              </a:lnSpc>
              <a:spcBef>
                <a:spcPts val="0"/>
              </a:spcBef>
              <a:spcAft>
                <a:spcPts val="0"/>
              </a:spcAft>
            </a:pPr>
            <a:r>
              <a:rPr sz="1500" b="1" i="0" u="none">
                <a:solidFill>
                  <a:srgbClr val="0D9488"/>
                </a:solidFill>
                <a:latin typeface="Arial"/>
              </a:rPr>
              <a:t>01</a:t>
            </a:r>
          </a:p>
        </p:txBody>
      </p:sp>
      <p:sp>
        <p:nvSpPr>
          <p:cNvPr id="6" name="TextBox 5"/>
          <p:cNvSpPr txBox="1"/>
          <p:nvPr/>
        </p:nvSpPr>
        <p:spPr>
          <a:xfrm>
            <a:off x="1276350" y="2228850"/>
            <a:ext cx="3810000" cy="323850"/>
          </a:xfrm>
          <a:prstGeom prst="rect">
            <a:avLst/>
          </a:prstGeom>
          <a:noFill/>
          <a:ln>
            <a:noFill/>
          </a:ln>
        </p:spPr>
        <p:txBody>
          <a:bodyPr wrap="square" lIns="0" tIns="0" rIns="0" bIns="0" anchor="t">
            <a:noAutofit/>
          </a:bodyPr>
          <a:lstStyle/>
          <a:p>
            <a:pPr algn="l">
              <a:lnSpc>
                <a:spcPts val="2261"/>
              </a:lnSpc>
              <a:spcBef>
                <a:spcPts val="0"/>
              </a:spcBef>
              <a:spcAft>
                <a:spcPts val="0"/>
              </a:spcAft>
            </a:pPr>
            <a:r>
              <a:rPr sz="1950" b="1" i="0" u="none">
                <a:solidFill>
                  <a:srgbClr val="132238"/>
                </a:solidFill>
                <a:latin typeface="Arial"/>
              </a:rPr>
              <a:t>Foundations</a:t>
            </a:r>
          </a:p>
        </p:txBody>
      </p:sp>
      <p:cxnSp>
        <p:nvCxnSpPr>
          <p:cNvPr id="7" name="Connector 6"/>
          <p:cNvCxnSpPr/>
          <p:nvPr/>
        </p:nvCxnSpPr>
        <p:spPr>
          <a:xfrm>
            <a:off x="685800" y="2781300"/>
            <a:ext cx="5086350" cy="0"/>
          </a:xfrm>
          <a:prstGeom prst="line">
            <a:avLst/>
          </a:prstGeom>
          <a:ln w="9525">
            <a:solidFill>
              <a:srgbClr val="DCE3EE"/>
            </a:solidFill>
          </a:ln>
        </p:spPr>
      </p:cxnSp>
      <p:sp>
        <p:nvSpPr>
          <p:cNvPr id="8" name="TextBox 7"/>
          <p:cNvSpPr txBox="1"/>
          <p:nvPr/>
        </p:nvSpPr>
        <p:spPr>
          <a:xfrm>
            <a:off x="685800" y="2971800"/>
            <a:ext cx="5086350" cy="2286000"/>
          </a:xfrm>
          <a:prstGeom prst="rect">
            <a:avLst/>
          </a:prstGeom>
          <a:noFill/>
          <a:ln>
            <a:noFill/>
          </a:ln>
        </p:spPr>
        <p:txBody>
          <a:bodyPr wrap="square" lIns="0" tIns="0" rIns="0" bIns="0" anchor="t">
            <a:noAutofit/>
          </a:bodyPr>
          <a:lstStyle/>
          <a:p>
            <a:pPr algn="l">
              <a:lnSpc>
                <a:spcPts val="2204"/>
              </a:lnSpc>
              <a:spcBef>
                <a:spcPts val="0"/>
              </a:spcBef>
              <a:spcAft>
                <a:spcPts val="0"/>
              </a:spcAft>
            </a:pPr>
            <a:r>
              <a:rPr sz="1575" b="0" i="0" u="none">
                <a:solidFill>
                  <a:srgbClr val="5B6B84"/>
                </a:solidFill>
                <a:latin typeface="Arial"/>
              </a:rPr>
              <a:t>01  Project Overview &amp; Problem Statement
02  Objectives &amp; Target Users
03  Main Features
04  Project Statistics
05  Tech Stack
06  System Architecture &amp; Database</a:t>
            </a:r>
          </a:p>
        </p:txBody>
      </p:sp>
      <p:sp>
        <p:nvSpPr>
          <p:cNvPr id="9" name="TextBox 8"/>
          <p:cNvSpPr txBox="1"/>
          <p:nvPr/>
        </p:nvSpPr>
        <p:spPr>
          <a:xfrm>
            <a:off x="6191250" y="2247900"/>
            <a:ext cx="514350" cy="285750"/>
          </a:xfrm>
          <a:prstGeom prst="rect">
            <a:avLst/>
          </a:prstGeom>
          <a:noFill/>
          <a:ln>
            <a:noFill/>
          </a:ln>
        </p:spPr>
        <p:txBody>
          <a:bodyPr wrap="square" lIns="0" tIns="0" rIns="0" bIns="0" anchor="t">
            <a:noAutofit/>
          </a:bodyPr>
          <a:lstStyle/>
          <a:p>
            <a:pPr algn="l">
              <a:lnSpc>
                <a:spcPts val="1739"/>
              </a:lnSpc>
              <a:spcBef>
                <a:spcPts val="0"/>
              </a:spcBef>
              <a:spcAft>
                <a:spcPts val="0"/>
              </a:spcAft>
            </a:pPr>
            <a:r>
              <a:rPr sz="1500" b="1" i="0" u="none">
                <a:solidFill>
                  <a:srgbClr val="0D9488"/>
                </a:solidFill>
                <a:latin typeface="Arial"/>
              </a:rPr>
              <a:t>02</a:t>
            </a:r>
          </a:p>
        </p:txBody>
      </p:sp>
      <p:sp>
        <p:nvSpPr>
          <p:cNvPr id="10" name="TextBox 9"/>
          <p:cNvSpPr txBox="1"/>
          <p:nvPr/>
        </p:nvSpPr>
        <p:spPr>
          <a:xfrm>
            <a:off x="6781800" y="2228850"/>
            <a:ext cx="3810000" cy="323850"/>
          </a:xfrm>
          <a:prstGeom prst="rect">
            <a:avLst/>
          </a:prstGeom>
          <a:noFill/>
          <a:ln>
            <a:noFill/>
          </a:ln>
        </p:spPr>
        <p:txBody>
          <a:bodyPr wrap="square" lIns="0" tIns="0" rIns="0" bIns="0" anchor="t">
            <a:noAutofit/>
          </a:bodyPr>
          <a:lstStyle/>
          <a:p>
            <a:pPr algn="l">
              <a:lnSpc>
                <a:spcPts val="2261"/>
              </a:lnSpc>
              <a:spcBef>
                <a:spcPts val="0"/>
              </a:spcBef>
              <a:spcAft>
                <a:spcPts val="0"/>
              </a:spcAft>
            </a:pPr>
            <a:r>
              <a:rPr sz="1950" b="1" i="0" u="none">
                <a:solidFill>
                  <a:srgbClr val="132238"/>
                </a:solidFill>
                <a:latin typeface="Arial"/>
              </a:rPr>
              <a:t>Deep Dive &amp; Showcase</a:t>
            </a:r>
          </a:p>
        </p:txBody>
      </p:sp>
      <p:cxnSp>
        <p:nvCxnSpPr>
          <p:cNvPr id="11" name="Connector 10"/>
          <p:cNvCxnSpPr/>
          <p:nvPr/>
        </p:nvCxnSpPr>
        <p:spPr>
          <a:xfrm>
            <a:off x="6191250" y="2781300"/>
            <a:ext cx="5086350" cy="0"/>
          </a:xfrm>
          <a:prstGeom prst="line">
            <a:avLst/>
          </a:prstGeom>
          <a:ln w="9525">
            <a:solidFill>
              <a:srgbClr val="DCE3EE"/>
            </a:solidFill>
          </a:ln>
        </p:spPr>
      </p:cxnSp>
      <p:sp>
        <p:nvSpPr>
          <p:cNvPr id="12" name="TextBox 11"/>
          <p:cNvSpPr txBox="1"/>
          <p:nvPr/>
        </p:nvSpPr>
        <p:spPr>
          <a:xfrm>
            <a:off x="6191250" y="2971800"/>
            <a:ext cx="5086350" cy="2286000"/>
          </a:xfrm>
          <a:prstGeom prst="rect">
            <a:avLst/>
          </a:prstGeom>
          <a:noFill/>
          <a:ln>
            <a:noFill/>
          </a:ln>
        </p:spPr>
        <p:txBody>
          <a:bodyPr wrap="square" lIns="0" tIns="0" rIns="0" bIns="0" anchor="t">
            <a:noAutofit/>
          </a:bodyPr>
          <a:lstStyle/>
          <a:p>
            <a:pPr algn="l">
              <a:lnSpc>
                <a:spcPts val="2204"/>
              </a:lnSpc>
              <a:spcBef>
                <a:spcPts val="0"/>
              </a:spcBef>
              <a:spcAft>
                <a:spcPts val="0"/>
              </a:spcAft>
            </a:pPr>
            <a:r>
              <a:rPr sz="1575" b="0" i="0" u="none">
                <a:solidFill>
                  <a:srgbClr val="5B6B84"/>
                </a:solidFill>
                <a:latin typeface="Arial"/>
              </a:rPr>
              <a:t>07  Security &amp; Feature Breakdown
08  UI Showcase — All Modules
09  Demo Flow &amp; Live Demo
10  Challenges &amp; Solutions
11  Strengths &amp; Future Enhancements
12  Team &amp; Conclusion</a:t>
            </a:r>
          </a:p>
        </p:txBody>
      </p:sp>
      <p:sp>
        <p:nvSpPr>
          <p:cNvPr id="13" name="Page number"/>
          <p:cNvSpPr txBox="1"/>
          <p:nvPr/>
        </p:nvSpPr>
        <p:spPr>
          <a:xfrm>
            <a:off x="10934700" y="6477000"/>
            <a:ext cx="571500" cy="190500"/>
          </a:xfrm>
          <a:prstGeom prst="rect">
            <a:avLst/>
          </a:prstGeom>
          <a:noFill/>
          <a:ln>
            <a:noFill/>
          </a:ln>
        </p:spPr>
        <p:txBody>
          <a:bodyPr wrap="square" lIns="0" tIns="0" rIns="0" bIns="0" anchor="t">
            <a:noAutofit/>
          </a:bodyPr>
          <a:lstStyle/>
          <a:p>
            <a:pPr algn="r">
              <a:spcBef>
                <a:spcPts val="0"/>
              </a:spcBef>
              <a:spcAft>
                <a:spcPts val="0"/>
              </a:spcAft>
            </a:pPr>
            <a:r>
              <a:rPr sz="825" b="0" i="0" u="none">
                <a:solidFill>
                  <a:srgbClr val="5B6B84"/>
                </a:solidFill>
                <a:latin typeface="Arial"/>
              </a:rPr>
              <a:t>2 / 29</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ection label"/>
          <p:cNvSpPr txBox="1"/>
          <p:nvPr/>
        </p:nvSpPr>
        <p:spPr>
          <a:xfrm>
            <a:off x="685800" y="1047749"/>
            <a:ext cx="8572500" cy="247649"/>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1" i="0" u="none">
                <a:solidFill>
                  <a:srgbClr val="5B6B84"/>
                </a:solidFill>
                <a:latin typeface="Arial"/>
              </a:rPr>
              <a:t>WHAT IS MEDICARE PRO?</a:t>
            </a:r>
          </a:p>
        </p:txBody>
      </p:sp>
      <p:sp>
        <p:nvSpPr>
          <p:cNvPr id="3" name="Claim accent"/>
          <p:cNvSpPr/>
          <p:nvPr/>
        </p:nvSpPr>
        <p:spPr>
          <a:xfrm>
            <a:off x="685800" y="2381250"/>
            <a:ext cx="533400" cy="47625"/>
          </a:xfrm>
          <a:prstGeom prst="rect">
            <a:avLst/>
          </a:prstGeom>
          <a:solidFill>
            <a:srgbClr val="0D9488"/>
          </a:solidFill>
          <a:ln>
            <a:noFill/>
          </a:ln>
        </p:spPr>
        <p:txBody>
          <a:bodyPr rtlCol="0" anchor="ctr"/>
          <a:lstStyle/>
          <a:p>
            <a:pPr algn="ctr"/>
            <a:endParaRPr/>
          </a:p>
        </p:txBody>
      </p:sp>
      <p:sp>
        <p:nvSpPr>
          <p:cNvPr id="4" name="TextBox 3"/>
          <p:cNvSpPr txBox="1"/>
          <p:nvPr/>
        </p:nvSpPr>
        <p:spPr>
          <a:xfrm>
            <a:off x="685800" y="2628900"/>
            <a:ext cx="10287000" cy="2000250"/>
          </a:xfrm>
          <a:prstGeom prst="rect">
            <a:avLst/>
          </a:prstGeom>
          <a:noFill/>
          <a:ln>
            <a:noFill/>
          </a:ln>
        </p:spPr>
        <p:txBody>
          <a:bodyPr wrap="square" lIns="0" tIns="0" rIns="0" bIns="0" anchor="t">
            <a:noAutofit/>
          </a:bodyPr>
          <a:lstStyle/>
          <a:p>
            <a:pPr algn="l">
              <a:lnSpc>
                <a:spcPts val="5304"/>
              </a:lnSpc>
              <a:spcBef>
                <a:spcPts val="0"/>
              </a:spcBef>
              <a:spcAft>
                <a:spcPts val="0"/>
              </a:spcAft>
            </a:pPr>
            <a:r>
              <a:rPr sz="5100" b="1" i="0" u="none">
                <a:solidFill>
                  <a:srgbClr val="132238"/>
                </a:solidFill>
                <a:latin typeface="Arial"/>
              </a:rPr>
              <a:t>One platform. Every appointment, secured.</a:t>
            </a:r>
          </a:p>
        </p:txBody>
      </p:sp>
      <p:sp>
        <p:nvSpPr>
          <p:cNvPr id="5" name="TextBox 4"/>
          <p:cNvSpPr txBox="1"/>
          <p:nvPr/>
        </p:nvSpPr>
        <p:spPr>
          <a:xfrm>
            <a:off x="685800" y="5295900"/>
            <a:ext cx="7810499" cy="457200"/>
          </a:xfrm>
          <a:prstGeom prst="rect">
            <a:avLst/>
          </a:prstGeom>
          <a:noFill/>
          <a:ln>
            <a:noFill/>
          </a:ln>
        </p:spPr>
        <p:txBody>
          <a:bodyPr wrap="square" lIns="0" tIns="0" rIns="0" bIns="0" anchor="t">
            <a:noAutofit/>
          </a:bodyPr>
          <a:lstStyle/>
          <a:p>
            <a:pPr algn="l">
              <a:lnSpc>
                <a:spcPts val="2242"/>
              </a:lnSpc>
              <a:spcBef>
                <a:spcPts val="0"/>
              </a:spcBef>
              <a:spcAft>
                <a:spcPts val="0"/>
              </a:spcAft>
            </a:pPr>
            <a:r>
              <a:rPr sz="1725" b="0" i="0" u="none">
                <a:solidFill>
                  <a:srgbClr val="5B6B84"/>
                </a:solidFill>
                <a:latin typeface="Arial"/>
              </a:rPr>
              <a:t>Connecting patients, doctors, and admins on one platform.</a:t>
            </a:r>
          </a:p>
        </p:txBody>
      </p:sp>
      <p:sp>
        <p:nvSpPr>
          <p:cNvPr id="6" name="Page number"/>
          <p:cNvSpPr txBox="1"/>
          <p:nvPr/>
        </p:nvSpPr>
        <p:spPr>
          <a:xfrm>
            <a:off x="10934700" y="6477000"/>
            <a:ext cx="571500" cy="190500"/>
          </a:xfrm>
          <a:prstGeom prst="rect">
            <a:avLst/>
          </a:prstGeom>
          <a:noFill/>
          <a:ln>
            <a:noFill/>
          </a:ln>
        </p:spPr>
        <p:txBody>
          <a:bodyPr wrap="square" lIns="0" tIns="0" rIns="0" bIns="0" anchor="t">
            <a:noAutofit/>
          </a:bodyPr>
          <a:lstStyle/>
          <a:p>
            <a:pPr algn="r">
              <a:spcBef>
                <a:spcPts val="0"/>
              </a:spcBef>
              <a:spcAft>
                <a:spcPts val="0"/>
              </a:spcAft>
            </a:pPr>
            <a:r>
              <a:rPr sz="825" b="0" i="0" u="none">
                <a:solidFill>
                  <a:srgbClr val="5B6B84"/>
                </a:solidFill>
                <a:latin typeface="Arial"/>
              </a:rPr>
              <a:t>3 / 29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Section label"/>
          <p:cNvSpPr txBox="1"/>
          <p:nvPr/>
        </p:nvSpPr>
        <p:spPr>
          <a:xfrm>
            <a:off x="685800" y="685800"/>
            <a:ext cx="5905500" cy="247649"/>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1" i="0" u="none">
                <a:solidFill>
                  <a:srgbClr val="93A3B8"/>
                </a:solidFill>
                <a:latin typeface="Arial"/>
              </a:rPr>
              <a:t>WHY MEDICARE PRO WAS BUILT</a:t>
            </a:r>
          </a:p>
        </p:txBody>
      </p:sp>
      <p:sp>
        <p:nvSpPr>
          <p:cNvPr id="3" name="Title accent"/>
          <p:cNvSpPr/>
          <p:nvPr/>
        </p:nvSpPr>
        <p:spPr>
          <a:xfrm>
            <a:off x="685800" y="1009650"/>
            <a:ext cx="419100" cy="38100"/>
          </a:xfrm>
          <a:prstGeom prst="rect">
            <a:avLst/>
          </a:prstGeom>
          <a:solidFill>
            <a:srgbClr val="2DD4BF"/>
          </a:solidFill>
          <a:ln>
            <a:noFill/>
          </a:ln>
        </p:spPr>
        <p:txBody>
          <a:bodyPr rtlCol="0" anchor="ctr"/>
          <a:lstStyle/>
          <a:p>
            <a:pPr algn="ctr"/>
            <a:endParaRPr/>
          </a:p>
        </p:txBody>
      </p:sp>
      <p:sp>
        <p:nvSpPr>
          <p:cNvPr id="4" name="Slide title"/>
          <p:cNvSpPr txBox="1"/>
          <p:nvPr/>
        </p:nvSpPr>
        <p:spPr>
          <a:xfrm>
            <a:off x="685800" y="1181100"/>
            <a:ext cx="10820400" cy="876300"/>
          </a:xfrm>
          <a:prstGeom prst="rect">
            <a:avLst/>
          </a:prstGeom>
          <a:noFill/>
          <a:ln>
            <a:noFill/>
          </a:ln>
        </p:spPr>
        <p:txBody>
          <a:bodyPr wrap="square" lIns="0" tIns="0" rIns="0" bIns="0" anchor="t">
            <a:noAutofit/>
          </a:bodyPr>
          <a:lstStyle/>
          <a:p>
            <a:pPr algn="l">
              <a:lnSpc>
                <a:spcPts val="3120"/>
              </a:lnSpc>
              <a:spcBef>
                <a:spcPts val="0"/>
              </a:spcBef>
              <a:spcAft>
                <a:spcPts val="0"/>
              </a:spcAft>
            </a:pPr>
            <a:r>
              <a:rPr sz="3000" b="1" i="0" u="none">
                <a:solidFill>
                  <a:srgbClr val="F3F6FA"/>
                </a:solidFill>
                <a:latin typeface="Arial"/>
              </a:rPr>
              <a:t>Problem Statement</a:t>
            </a:r>
          </a:p>
        </p:txBody>
      </p:sp>
      <p:sp>
        <p:nvSpPr>
          <p:cNvPr id="5" name="TextBox 4"/>
          <p:cNvSpPr txBox="1"/>
          <p:nvPr/>
        </p:nvSpPr>
        <p:spPr>
          <a:xfrm>
            <a:off x="685800" y="2381250"/>
            <a:ext cx="4953000" cy="1809750"/>
          </a:xfrm>
          <a:prstGeom prst="rect">
            <a:avLst/>
          </a:prstGeom>
          <a:noFill/>
          <a:ln>
            <a:noFill/>
          </a:ln>
        </p:spPr>
        <p:txBody>
          <a:bodyPr wrap="square" lIns="0" tIns="0" rIns="0" bIns="0" anchor="t">
            <a:noAutofit/>
          </a:bodyPr>
          <a:lstStyle/>
          <a:p>
            <a:pPr algn="l">
              <a:lnSpc>
                <a:spcPts val="4131"/>
              </a:lnSpc>
              <a:spcBef>
                <a:spcPts val="0"/>
              </a:spcBef>
              <a:spcAft>
                <a:spcPts val="0"/>
              </a:spcAft>
            </a:pPr>
            <a:r>
              <a:rPr sz="4050" b="1" i="0" u="none">
                <a:solidFill>
                  <a:srgbClr val="F3F6FA"/>
                </a:solidFill>
                <a:latin typeface="Arial"/>
              </a:rPr>
              <a:t>Manual scheduling doesn't scale.</a:t>
            </a:r>
          </a:p>
        </p:txBody>
      </p:sp>
      <p:sp>
        <p:nvSpPr>
          <p:cNvPr id="6" name="TextBox 5"/>
          <p:cNvSpPr txBox="1"/>
          <p:nvPr/>
        </p:nvSpPr>
        <p:spPr>
          <a:xfrm>
            <a:off x="685800" y="4305300"/>
            <a:ext cx="4762500" cy="609600"/>
          </a:xfrm>
          <a:prstGeom prst="rect">
            <a:avLst/>
          </a:prstGeom>
          <a:noFill/>
          <a:ln>
            <a:noFill/>
          </a:ln>
        </p:spPr>
        <p:txBody>
          <a:bodyPr wrap="square" lIns="0" tIns="0" rIns="0" bIns="0" anchor="t">
            <a:noAutofit/>
          </a:bodyPr>
          <a:lstStyle/>
          <a:p>
            <a:pPr algn="l">
              <a:lnSpc>
                <a:spcPts val="2025"/>
              </a:lnSpc>
              <a:spcBef>
                <a:spcPts val="0"/>
              </a:spcBef>
              <a:spcAft>
                <a:spcPts val="0"/>
              </a:spcAft>
            </a:pPr>
            <a:r>
              <a:rPr sz="1500" b="0" i="0" u="none">
                <a:solidFill>
                  <a:srgbClr val="93A3B8"/>
                </a:solidFill>
                <a:latin typeface="Arial"/>
              </a:rPr>
              <a:t>Clinics relying on phone bookings face conflicts, poor visibility, and no central oversight.</a:t>
            </a:r>
          </a:p>
        </p:txBody>
      </p:sp>
      <p:sp>
        <p:nvSpPr>
          <p:cNvPr id="7" name="Section label"/>
          <p:cNvSpPr txBox="1"/>
          <p:nvPr/>
        </p:nvSpPr>
        <p:spPr>
          <a:xfrm>
            <a:off x="6191250" y="2381250"/>
            <a:ext cx="2857500" cy="171450"/>
          </a:xfrm>
          <a:prstGeom prst="rect">
            <a:avLst/>
          </a:prstGeom>
          <a:noFill/>
          <a:ln>
            <a:noFill/>
          </a:ln>
        </p:spPr>
        <p:txBody>
          <a:bodyPr wrap="square" lIns="0" tIns="0" rIns="0" bIns="0" anchor="t">
            <a:noAutofit/>
          </a:bodyPr>
          <a:lstStyle/>
          <a:p>
            <a:pPr algn="l">
              <a:lnSpc>
                <a:spcPts val="1130"/>
              </a:lnSpc>
              <a:spcBef>
                <a:spcPts val="0"/>
              </a:spcBef>
              <a:spcAft>
                <a:spcPts val="0"/>
              </a:spcAft>
            </a:pPr>
            <a:r>
              <a:rPr sz="975" b="1" i="0" u="none">
                <a:solidFill>
                  <a:srgbClr val="2DD4BF"/>
                </a:solidFill>
                <a:latin typeface="Arial"/>
              </a:rPr>
              <a:t>APPOINTMENT CONFLICTS</a:t>
            </a:r>
          </a:p>
        </p:txBody>
      </p:sp>
      <p:sp>
        <p:nvSpPr>
          <p:cNvPr id="8" name="TextBox 7"/>
          <p:cNvSpPr txBox="1"/>
          <p:nvPr/>
        </p:nvSpPr>
        <p:spPr>
          <a:xfrm>
            <a:off x="6191250" y="2628900"/>
            <a:ext cx="5314950" cy="571500"/>
          </a:xfrm>
          <a:prstGeom prst="rect">
            <a:avLst/>
          </a:prstGeom>
          <a:noFill/>
          <a:ln>
            <a:noFill/>
          </a:ln>
        </p:spPr>
        <p:txBody>
          <a:bodyPr wrap="square" lIns="0" tIns="0" rIns="0" bIns="0" anchor="t">
            <a:noAutofit/>
          </a:bodyPr>
          <a:lstStyle/>
          <a:p>
            <a:pPr algn="l">
              <a:lnSpc>
                <a:spcPts val="2047"/>
              </a:lnSpc>
              <a:spcBef>
                <a:spcPts val="0"/>
              </a:spcBef>
              <a:spcAft>
                <a:spcPts val="0"/>
              </a:spcAft>
            </a:pPr>
            <a:r>
              <a:rPr sz="1575" b="1" i="0" u="none">
                <a:solidFill>
                  <a:srgbClr val="F3F6FA"/>
                </a:solidFill>
                <a:latin typeface="Arial"/>
              </a:rPr>
              <a:t>Phone-based scheduling leads to double-bookings and time clashes across clinics.</a:t>
            </a:r>
          </a:p>
        </p:txBody>
      </p:sp>
      <p:cxnSp>
        <p:nvCxnSpPr>
          <p:cNvPr id="9" name="Connector 8"/>
          <p:cNvCxnSpPr/>
          <p:nvPr/>
        </p:nvCxnSpPr>
        <p:spPr>
          <a:xfrm>
            <a:off x="6191250" y="3238500"/>
            <a:ext cx="5314950" cy="0"/>
          </a:xfrm>
          <a:prstGeom prst="line">
            <a:avLst/>
          </a:prstGeom>
          <a:ln w="9525">
            <a:solidFill>
              <a:srgbClr val="28334A"/>
            </a:solidFill>
          </a:ln>
        </p:spPr>
      </p:cxnSp>
      <p:sp>
        <p:nvSpPr>
          <p:cNvPr id="10" name="Section label"/>
          <p:cNvSpPr txBox="1"/>
          <p:nvPr/>
        </p:nvSpPr>
        <p:spPr>
          <a:xfrm>
            <a:off x="6191250" y="3371850"/>
            <a:ext cx="2857500" cy="171450"/>
          </a:xfrm>
          <a:prstGeom prst="rect">
            <a:avLst/>
          </a:prstGeom>
          <a:noFill/>
          <a:ln>
            <a:noFill/>
          </a:ln>
        </p:spPr>
        <p:txBody>
          <a:bodyPr wrap="square" lIns="0" tIns="0" rIns="0" bIns="0" anchor="t">
            <a:noAutofit/>
          </a:bodyPr>
          <a:lstStyle/>
          <a:p>
            <a:pPr algn="l">
              <a:lnSpc>
                <a:spcPts val="1130"/>
              </a:lnSpc>
              <a:spcBef>
                <a:spcPts val="0"/>
              </a:spcBef>
              <a:spcAft>
                <a:spcPts val="0"/>
              </a:spcAft>
            </a:pPr>
            <a:r>
              <a:rPr sz="975" b="1" i="0" u="none">
                <a:solidFill>
                  <a:srgbClr val="2DD4BF"/>
                </a:solidFill>
                <a:latin typeface="Arial"/>
              </a:rPr>
              <a:t>POOR COMMUNICATION</a:t>
            </a:r>
          </a:p>
        </p:txBody>
      </p:sp>
      <p:sp>
        <p:nvSpPr>
          <p:cNvPr id="11" name="TextBox 10"/>
          <p:cNvSpPr txBox="1"/>
          <p:nvPr/>
        </p:nvSpPr>
        <p:spPr>
          <a:xfrm>
            <a:off x="6191250" y="3619500"/>
            <a:ext cx="5314950" cy="571500"/>
          </a:xfrm>
          <a:prstGeom prst="rect">
            <a:avLst/>
          </a:prstGeom>
          <a:noFill/>
          <a:ln>
            <a:noFill/>
          </a:ln>
        </p:spPr>
        <p:txBody>
          <a:bodyPr wrap="square" lIns="0" tIns="0" rIns="0" bIns="0" anchor="t">
            <a:noAutofit/>
          </a:bodyPr>
          <a:lstStyle/>
          <a:p>
            <a:pPr algn="l">
              <a:lnSpc>
                <a:spcPts val="2047"/>
              </a:lnSpc>
              <a:spcBef>
                <a:spcPts val="0"/>
              </a:spcBef>
              <a:spcAft>
                <a:spcPts val="0"/>
              </a:spcAft>
            </a:pPr>
            <a:r>
              <a:rPr sz="1575" b="1" i="0" u="none">
                <a:solidFill>
                  <a:srgbClr val="F3F6FA"/>
                </a:solidFill>
                <a:latin typeface="Arial"/>
              </a:rPr>
              <a:t>No direct digital channel between patients and doctors for updates or follow-ups.</a:t>
            </a:r>
          </a:p>
        </p:txBody>
      </p:sp>
      <p:cxnSp>
        <p:nvCxnSpPr>
          <p:cNvPr id="12" name="Connector 11"/>
          <p:cNvCxnSpPr/>
          <p:nvPr/>
        </p:nvCxnSpPr>
        <p:spPr>
          <a:xfrm>
            <a:off x="6191250" y="4229100"/>
            <a:ext cx="5314950" cy="0"/>
          </a:xfrm>
          <a:prstGeom prst="line">
            <a:avLst/>
          </a:prstGeom>
          <a:ln w="9525">
            <a:solidFill>
              <a:srgbClr val="28334A"/>
            </a:solidFill>
          </a:ln>
        </p:spPr>
      </p:cxnSp>
      <p:sp>
        <p:nvSpPr>
          <p:cNvPr id="13" name="Section label"/>
          <p:cNvSpPr txBox="1"/>
          <p:nvPr/>
        </p:nvSpPr>
        <p:spPr>
          <a:xfrm>
            <a:off x="6191250" y="4362450"/>
            <a:ext cx="2857500" cy="171450"/>
          </a:xfrm>
          <a:prstGeom prst="rect">
            <a:avLst/>
          </a:prstGeom>
          <a:noFill/>
          <a:ln>
            <a:noFill/>
          </a:ln>
        </p:spPr>
        <p:txBody>
          <a:bodyPr wrap="square" lIns="0" tIns="0" rIns="0" bIns="0" anchor="t">
            <a:noAutofit/>
          </a:bodyPr>
          <a:lstStyle/>
          <a:p>
            <a:pPr algn="l">
              <a:lnSpc>
                <a:spcPts val="1130"/>
              </a:lnSpc>
              <a:spcBef>
                <a:spcPts val="0"/>
              </a:spcBef>
              <a:spcAft>
                <a:spcPts val="0"/>
              </a:spcAft>
            </a:pPr>
            <a:r>
              <a:rPr sz="975" b="1" i="0" u="none">
                <a:solidFill>
                  <a:srgbClr val="2DD4BF"/>
                </a:solidFill>
                <a:latin typeface="Arial"/>
              </a:rPr>
              <a:t>NO DISCOVERY</a:t>
            </a:r>
          </a:p>
        </p:txBody>
      </p:sp>
      <p:sp>
        <p:nvSpPr>
          <p:cNvPr id="14" name="TextBox 13"/>
          <p:cNvSpPr txBox="1"/>
          <p:nvPr/>
        </p:nvSpPr>
        <p:spPr>
          <a:xfrm>
            <a:off x="6191250" y="4610100"/>
            <a:ext cx="5314950" cy="571500"/>
          </a:xfrm>
          <a:prstGeom prst="rect">
            <a:avLst/>
          </a:prstGeom>
          <a:noFill/>
          <a:ln>
            <a:noFill/>
          </a:ln>
        </p:spPr>
        <p:txBody>
          <a:bodyPr wrap="square" lIns="0" tIns="0" rIns="0" bIns="0" anchor="t">
            <a:noAutofit/>
          </a:bodyPr>
          <a:lstStyle/>
          <a:p>
            <a:pPr algn="l">
              <a:lnSpc>
                <a:spcPts val="2047"/>
              </a:lnSpc>
              <a:spcBef>
                <a:spcPts val="0"/>
              </a:spcBef>
              <a:spcAft>
                <a:spcPts val="0"/>
              </a:spcAft>
            </a:pPr>
            <a:r>
              <a:rPr sz="1575" b="1" i="0" u="none">
                <a:solidFill>
                  <a:srgbClr val="F3F6FA"/>
                </a:solidFill>
                <a:latin typeface="Arial"/>
              </a:rPr>
              <a:t>Patients struggle to find verified specialists filtered by specialty and rating.</a:t>
            </a:r>
          </a:p>
        </p:txBody>
      </p:sp>
      <p:cxnSp>
        <p:nvCxnSpPr>
          <p:cNvPr id="15" name="Connector 14"/>
          <p:cNvCxnSpPr/>
          <p:nvPr/>
        </p:nvCxnSpPr>
        <p:spPr>
          <a:xfrm>
            <a:off x="6191250" y="5219700"/>
            <a:ext cx="5314950" cy="0"/>
          </a:xfrm>
          <a:prstGeom prst="line">
            <a:avLst/>
          </a:prstGeom>
          <a:ln w="9525">
            <a:solidFill>
              <a:srgbClr val="28334A"/>
            </a:solidFill>
          </a:ln>
        </p:spPr>
      </p:cxnSp>
      <p:sp>
        <p:nvSpPr>
          <p:cNvPr id="16" name="Section label"/>
          <p:cNvSpPr txBox="1"/>
          <p:nvPr/>
        </p:nvSpPr>
        <p:spPr>
          <a:xfrm>
            <a:off x="6191250" y="5353050"/>
            <a:ext cx="2857500" cy="171450"/>
          </a:xfrm>
          <a:prstGeom prst="rect">
            <a:avLst/>
          </a:prstGeom>
          <a:noFill/>
          <a:ln>
            <a:noFill/>
          </a:ln>
        </p:spPr>
        <p:txBody>
          <a:bodyPr wrap="square" lIns="0" tIns="0" rIns="0" bIns="0" anchor="t">
            <a:noAutofit/>
          </a:bodyPr>
          <a:lstStyle/>
          <a:p>
            <a:pPr algn="l">
              <a:lnSpc>
                <a:spcPts val="1130"/>
              </a:lnSpc>
              <a:spcBef>
                <a:spcPts val="0"/>
              </a:spcBef>
              <a:spcAft>
                <a:spcPts val="0"/>
              </a:spcAft>
            </a:pPr>
            <a:r>
              <a:rPr sz="975" b="1" i="0" u="none">
                <a:solidFill>
                  <a:srgbClr val="2DD4BF"/>
                </a:solidFill>
                <a:latin typeface="Arial"/>
              </a:rPr>
              <a:t>NO CENTRALIZATION</a:t>
            </a:r>
          </a:p>
        </p:txBody>
      </p:sp>
      <p:sp>
        <p:nvSpPr>
          <p:cNvPr id="17" name="TextBox 16"/>
          <p:cNvSpPr txBox="1"/>
          <p:nvPr/>
        </p:nvSpPr>
        <p:spPr>
          <a:xfrm>
            <a:off x="6191250" y="5600700"/>
            <a:ext cx="5314950" cy="571500"/>
          </a:xfrm>
          <a:prstGeom prst="rect">
            <a:avLst/>
          </a:prstGeom>
          <a:noFill/>
          <a:ln>
            <a:noFill/>
          </a:ln>
        </p:spPr>
        <p:txBody>
          <a:bodyPr wrap="square" lIns="0" tIns="0" rIns="0" bIns="0" anchor="t">
            <a:noAutofit/>
          </a:bodyPr>
          <a:lstStyle/>
          <a:p>
            <a:pPr algn="l">
              <a:lnSpc>
                <a:spcPts val="2047"/>
              </a:lnSpc>
              <a:spcBef>
                <a:spcPts val="0"/>
              </a:spcBef>
              <a:spcAft>
                <a:spcPts val="0"/>
              </a:spcAft>
            </a:pPr>
            <a:r>
              <a:rPr sz="1575" b="1" i="0" u="none">
                <a:solidFill>
                  <a:srgbClr val="F3F6FA"/>
                </a:solidFill>
                <a:latin typeface="Arial"/>
              </a:rPr>
              <a:t>Scattered records make platform-wide monitoring and analytics impossible.</a:t>
            </a:r>
          </a:p>
        </p:txBody>
      </p:sp>
      <p:sp>
        <p:nvSpPr>
          <p:cNvPr id="18" name="Page number"/>
          <p:cNvSpPr txBox="1"/>
          <p:nvPr/>
        </p:nvSpPr>
        <p:spPr>
          <a:xfrm>
            <a:off x="10934700" y="6477000"/>
            <a:ext cx="571500" cy="190500"/>
          </a:xfrm>
          <a:prstGeom prst="rect">
            <a:avLst/>
          </a:prstGeom>
          <a:noFill/>
          <a:ln>
            <a:noFill/>
          </a:ln>
        </p:spPr>
        <p:txBody>
          <a:bodyPr wrap="square" lIns="0" tIns="0" rIns="0" bIns="0" anchor="t">
            <a:noAutofit/>
          </a:bodyPr>
          <a:lstStyle/>
          <a:p>
            <a:pPr algn="r">
              <a:spcBef>
                <a:spcPts val="0"/>
              </a:spcBef>
              <a:spcAft>
                <a:spcPts val="0"/>
              </a:spcAft>
            </a:pPr>
            <a:r>
              <a:rPr sz="825" b="0" i="0" u="none">
                <a:solidFill>
                  <a:srgbClr val="93A3B8"/>
                </a:solidFill>
                <a:latin typeface="Arial"/>
              </a:rPr>
              <a:t>4 / 29</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AFC"/>
        </a:solidFill>
        <a:effectLst/>
      </p:bgPr>
    </p:bg>
    <p:spTree>
      <p:nvGrpSpPr>
        <p:cNvPr id="1" name=""/>
        <p:cNvGrpSpPr/>
        <p:nvPr/>
      </p:nvGrpSpPr>
      <p:grpSpPr>
        <a:xfrm>
          <a:off x="0" y="0"/>
          <a:ext cx="0" cy="0"/>
          <a:chOff x="0" y="0"/>
          <a:chExt cx="0" cy="0"/>
        </a:xfrm>
      </p:grpSpPr>
      <p:sp>
        <p:nvSpPr>
          <p:cNvPr id="2" name="Section label"/>
          <p:cNvSpPr txBox="1"/>
          <p:nvPr/>
        </p:nvSpPr>
        <p:spPr>
          <a:xfrm>
            <a:off x="685800" y="685800"/>
            <a:ext cx="5905500" cy="247649"/>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1" i="0" u="none">
                <a:solidFill>
                  <a:srgbClr val="5B6B84"/>
                </a:solidFill>
                <a:latin typeface="Arial"/>
              </a:rPr>
              <a:t>WHAT MEDICARE PRO AIMS TO ACHIEVE</a:t>
            </a:r>
          </a:p>
        </p:txBody>
      </p:sp>
      <p:sp>
        <p:nvSpPr>
          <p:cNvPr id="3" name="Title accent"/>
          <p:cNvSpPr/>
          <p:nvPr/>
        </p:nvSpPr>
        <p:spPr>
          <a:xfrm>
            <a:off x="685800" y="1009650"/>
            <a:ext cx="419100" cy="38100"/>
          </a:xfrm>
          <a:prstGeom prst="rect">
            <a:avLst/>
          </a:prstGeom>
          <a:solidFill>
            <a:srgbClr val="0D9488"/>
          </a:solidFill>
          <a:ln>
            <a:noFill/>
          </a:ln>
        </p:spPr>
        <p:txBody>
          <a:bodyPr rtlCol="0" anchor="ctr"/>
          <a:lstStyle/>
          <a:p>
            <a:pPr algn="ctr"/>
            <a:endParaRPr/>
          </a:p>
        </p:txBody>
      </p:sp>
      <p:sp>
        <p:nvSpPr>
          <p:cNvPr id="4" name="Slide title"/>
          <p:cNvSpPr txBox="1"/>
          <p:nvPr/>
        </p:nvSpPr>
        <p:spPr>
          <a:xfrm>
            <a:off x="685800" y="1181100"/>
            <a:ext cx="10820400" cy="876300"/>
          </a:xfrm>
          <a:prstGeom prst="rect">
            <a:avLst/>
          </a:prstGeom>
          <a:noFill/>
          <a:ln>
            <a:noFill/>
          </a:ln>
        </p:spPr>
        <p:txBody>
          <a:bodyPr wrap="square" lIns="0" tIns="0" rIns="0" bIns="0" anchor="t">
            <a:noAutofit/>
          </a:bodyPr>
          <a:lstStyle/>
          <a:p>
            <a:pPr algn="l">
              <a:lnSpc>
                <a:spcPts val="3120"/>
              </a:lnSpc>
              <a:spcBef>
                <a:spcPts val="0"/>
              </a:spcBef>
              <a:spcAft>
                <a:spcPts val="0"/>
              </a:spcAft>
            </a:pPr>
            <a:r>
              <a:rPr sz="3000" b="1" i="0" u="none">
                <a:solidFill>
                  <a:srgbClr val="132238"/>
                </a:solidFill>
                <a:latin typeface="Arial"/>
              </a:rPr>
              <a:t>Project Objectives</a:t>
            </a:r>
          </a:p>
        </p:txBody>
      </p:sp>
      <p:sp>
        <p:nvSpPr>
          <p:cNvPr id="5" name="TextBox 4"/>
          <p:cNvSpPr txBox="1"/>
          <p:nvPr/>
        </p:nvSpPr>
        <p:spPr>
          <a:xfrm>
            <a:off x="685800" y="2152650"/>
            <a:ext cx="685800" cy="457200"/>
          </a:xfrm>
          <a:prstGeom prst="rect">
            <a:avLst/>
          </a:prstGeom>
          <a:noFill/>
          <a:ln>
            <a:noFill/>
          </a:ln>
        </p:spPr>
        <p:txBody>
          <a:bodyPr wrap="square" lIns="0" tIns="0" rIns="0" bIns="0" anchor="t">
            <a:noAutofit/>
          </a:bodyPr>
          <a:lstStyle/>
          <a:p>
            <a:pPr algn="l">
              <a:lnSpc>
                <a:spcPts val="3305"/>
              </a:lnSpc>
              <a:spcBef>
                <a:spcPts val="0"/>
              </a:spcBef>
              <a:spcAft>
                <a:spcPts val="0"/>
              </a:spcAft>
            </a:pPr>
            <a:r>
              <a:rPr sz="2850" b="1" i="0" u="none">
                <a:solidFill>
                  <a:srgbClr val="0D9488"/>
                </a:solidFill>
                <a:latin typeface="Arial"/>
              </a:rPr>
              <a:t>01</a:t>
            </a:r>
          </a:p>
        </p:txBody>
      </p:sp>
      <p:sp>
        <p:nvSpPr>
          <p:cNvPr id="6" name="TextBox 5"/>
          <p:cNvSpPr txBox="1"/>
          <p:nvPr/>
        </p:nvSpPr>
        <p:spPr>
          <a:xfrm>
            <a:off x="1600200" y="2133600"/>
            <a:ext cx="9906000" cy="438150"/>
          </a:xfrm>
          <a:prstGeom prst="rect">
            <a:avLst/>
          </a:prstGeom>
          <a:noFill/>
          <a:ln>
            <a:noFill/>
          </a:ln>
        </p:spPr>
        <p:txBody>
          <a:bodyPr wrap="square" lIns="0" tIns="0" rIns="0" bIns="0" anchor="t">
            <a:noAutofit/>
          </a:bodyPr>
          <a:lstStyle/>
          <a:p>
            <a:pPr algn="l">
              <a:lnSpc>
                <a:spcPts val="2268"/>
              </a:lnSpc>
              <a:spcBef>
                <a:spcPts val="0"/>
              </a:spcBef>
              <a:spcAft>
                <a:spcPts val="0"/>
              </a:spcAft>
            </a:pPr>
            <a:r>
              <a:rPr sz="2025" b="1" i="0" u="none">
                <a:solidFill>
                  <a:srgbClr val="132238"/>
                </a:solidFill>
                <a:latin typeface="Arial"/>
              </a:rPr>
              <a:t>Digitize Healthcare — move phone bookings online.</a:t>
            </a:r>
          </a:p>
        </p:txBody>
      </p:sp>
      <p:cxnSp>
        <p:nvCxnSpPr>
          <p:cNvPr id="7" name="Connector 6"/>
          <p:cNvCxnSpPr/>
          <p:nvPr/>
        </p:nvCxnSpPr>
        <p:spPr>
          <a:xfrm>
            <a:off x="685800" y="2667000"/>
            <a:ext cx="10820400" cy="0"/>
          </a:xfrm>
          <a:prstGeom prst="line">
            <a:avLst/>
          </a:prstGeom>
          <a:ln w="9525">
            <a:solidFill>
              <a:srgbClr val="DCE3EE"/>
            </a:solidFill>
          </a:ln>
        </p:spPr>
      </p:cxnSp>
      <p:sp>
        <p:nvSpPr>
          <p:cNvPr id="8" name="TextBox 7"/>
          <p:cNvSpPr txBox="1"/>
          <p:nvPr/>
        </p:nvSpPr>
        <p:spPr>
          <a:xfrm>
            <a:off x="685800" y="2971800"/>
            <a:ext cx="685800" cy="457200"/>
          </a:xfrm>
          <a:prstGeom prst="rect">
            <a:avLst/>
          </a:prstGeom>
          <a:noFill/>
          <a:ln>
            <a:noFill/>
          </a:ln>
        </p:spPr>
        <p:txBody>
          <a:bodyPr wrap="square" lIns="0" tIns="0" rIns="0" bIns="0" anchor="t">
            <a:noAutofit/>
          </a:bodyPr>
          <a:lstStyle/>
          <a:p>
            <a:pPr algn="l">
              <a:lnSpc>
                <a:spcPts val="3305"/>
              </a:lnSpc>
              <a:spcBef>
                <a:spcPts val="0"/>
              </a:spcBef>
              <a:spcAft>
                <a:spcPts val="0"/>
              </a:spcAft>
            </a:pPr>
            <a:r>
              <a:rPr sz="2850" b="1" i="0" u="none">
                <a:solidFill>
                  <a:srgbClr val="0D9488"/>
                </a:solidFill>
                <a:latin typeface="Arial"/>
              </a:rPr>
              <a:t>02</a:t>
            </a:r>
          </a:p>
        </p:txBody>
      </p:sp>
      <p:sp>
        <p:nvSpPr>
          <p:cNvPr id="9" name="TextBox 8"/>
          <p:cNvSpPr txBox="1"/>
          <p:nvPr/>
        </p:nvSpPr>
        <p:spPr>
          <a:xfrm>
            <a:off x="1600200" y="2952750"/>
            <a:ext cx="9906000" cy="438150"/>
          </a:xfrm>
          <a:prstGeom prst="rect">
            <a:avLst/>
          </a:prstGeom>
          <a:noFill/>
          <a:ln>
            <a:noFill/>
          </a:ln>
        </p:spPr>
        <p:txBody>
          <a:bodyPr wrap="square" lIns="0" tIns="0" rIns="0" bIns="0" anchor="t">
            <a:noAutofit/>
          </a:bodyPr>
          <a:lstStyle/>
          <a:p>
            <a:pPr algn="l">
              <a:lnSpc>
                <a:spcPts val="2268"/>
              </a:lnSpc>
              <a:spcBef>
                <a:spcPts val="0"/>
              </a:spcBef>
              <a:spcAft>
                <a:spcPts val="0"/>
              </a:spcAft>
            </a:pPr>
            <a:r>
              <a:rPr sz="2025" b="0" i="0" u="none">
                <a:solidFill>
                  <a:srgbClr val="132238"/>
                </a:solidFill>
                <a:latin typeface="Arial"/>
              </a:rPr>
              <a:t>Improve Communication — direct doctor-patient contact.</a:t>
            </a:r>
          </a:p>
        </p:txBody>
      </p:sp>
      <p:cxnSp>
        <p:nvCxnSpPr>
          <p:cNvPr id="10" name="Connector 9"/>
          <p:cNvCxnSpPr/>
          <p:nvPr/>
        </p:nvCxnSpPr>
        <p:spPr>
          <a:xfrm>
            <a:off x="685800" y="3486150"/>
            <a:ext cx="10820400" cy="0"/>
          </a:xfrm>
          <a:prstGeom prst="line">
            <a:avLst/>
          </a:prstGeom>
          <a:ln w="9525">
            <a:solidFill>
              <a:srgbClr val="DCE3EE"/>
            </a:solidFill>
          </a:ln>
        </p:spPr>
      </p:cxnSp>
      <p:sp>
        <p:nvSpPr>
          <p:cNvPr id="11" name="TextBox 10"/>
          <p:cNvSpPr txBox="1"/>
          <p:nvPr/>
        </p:nvSpPr>
        <p:spPr>
          <a:xfrm>
            <a:off x="685800" y="3790949"/>
            <a:ext cx="685800" cy="457200"/>
          </a:xfrm>
          <a:prstGeom prst="rect">
            <a:avLst/>
          </a:prstGeom>
          <a:noFill/>
          <a:ln>
            <a:noFill/>
          </a:ln>
        </p:spPr>
        <p:txBody>
          <a:bodyPr wrap="square" lIns="0" tIns="0" rIns="0" bIns="0" anchor="t">
            <a:noAutofit/>
          </a:bodyPr>
          <a:lstStyle/>
          <a:p>
            <a:pPr algn="l">
              <a:lnSpc>
                <a:spcPts val="3305"/>
              </a:lnSpc>
              <a:spcBef>
                <a:spcPts val="0"/>
              </a:spcBef>
              <a:spcAft>
                <a:spcPts val="0"/>
              </a:spcAft>
            </a:pPr>
            <a:r>
              <a:rPr sz="2850" b="1" i="0" u="none">
                <a:solidFill>
                  <a:srgbClr val="0D9488"/>
                </a:solidFill>
                <a:latin typeface="Arial"/>
              </a:rPr>
              <a:t>03</a:t>
            </a:r>
          </a:p>
        </p:txBody>
      </p:sp>
      <p:sp>
        <p:nvSpPr>
          <p:cNvPr id="12" name="TextBox 11"/>
          <p:cNvSpPr txBox="1"/>
          <p:nvPr/>
        </p:nvSpPr>
        <p:spPr>
          <a:xfrm>
            <a:off x="1600200" y="3771900"/>
            <a:ext cx="9906000" cy="438150"/>
          </a:xfrm>
          <a:prstGeom prst="rect">
            <a:avLst/>
          </a:prstGeom>
          <a:noFill/>
          <a:ln>
            <a:noFill/>
          </a:ln>
        </p:spPr>
        <p:txBody>
          <a:bodyPr wrap="square" lIns="0" tIns="0" rIns="0" bIns="0" anchor="t">
            <a:noAutofit/>
          </a:bodyPr>
          <a:lstStyle/>
          <a:p>
            <a:pPr algn="l">
              <a:lnSpc>
                <a:spcPts val="2268"/>
              </a:lnSpc>
              <a:spcBef>
                <a:spcPts val="0"/>
              </a:spcBef>
              <a:spcAft>
                <a:spcPts val="0"/>
              </a:spcAft>
            </a:pPr>
            <a:r>
              <a:rPr sz="2025" b="0" i="0" u="none">
                <a:solidFill>
                  <a:srgbClr val="132238"/>
                </a:solidFill>
                <a:latin typeface="Arial"/>
              </a:rPr>
              <a:t>Reduce Conflicts — prevent automatic double-bookings.</a:t>
            </a:r>
          </a:p>
        </p:txBody>
      </p:sp>
      <p:cxnSp>
        <p:nvCxnSpPr>
          <p:cNvPr id="13" name="Connector 12"/>
          <p:cNvCxnSpPr/>
          <p:nvPr/>
        </p:nvCxnSpPr>
        <p:spPr>
          <a:xfrm>
            <a:off x="685800" y="4305300"/>
            <a:ext cx="10820400" cy="0"/>
          </a:xfrm>
          <a:prstGeom prst="line">
            <a:avLst/>
          </a:prstGeom>
          <a:ln w="9525">
            <a:solidFill>
              <a:srgbClr val="DCE3EE"/>
            </a:solidFill>
          </a:ln>
        </p:spPr>
      </p:cxnSp>
      <p:sp>
        <p:nvSpPr>
          <p:cNvPr id="14" name="TextBox 13"/>
          <p:cNvSpPr txBox="1"/>
          <p:nvPr/>
        </p:nvSpPr>
        <p:spPr>
          <a:xfrm>
            <a:off x="685800" y="4610100"/>
            <a:ext cx="685800" cy="457200"/>
          </a:xfrm>
          <a:prstGeom prst="rect">
            <a:avLst/>
          </a:prstGeom>
          <a:noFill/>
          <a:ln>
            <a:noFill/>
          </a:ln>
        </p:spPr>
        <p:txBody>
          <a:bodyPr wrap="square" lIns="0" tIns="0" rIns="0" bIns="0" anchor="t">
            <a:noAutofit/>
          </a:bodyPr>
          <a:lstStyle/>
          <a:p>
            <a:pPr algn="l">
              <a:lnSpc>
                <a:spcPts val="3305"/>
              </a:lnSpc>
              <a:spcBef>
                <a:spcPts val="0"/>
              </a:spcBef>
              <a:spcAft>
                <a:spcPts val="0"/>
              </a:spcAft>
            </a:pPr>
            <a:r>
              <a:rPr sz="2850" b="1" i="0" u="none">
                <a:solidFill>
                  <a:srgbClr val="0D9488"/>
                </a:solidFill>
                <a:latin typeface="Arial"/>
              </a:rPr>
              <a:t>04</a:t>
            </a:r>
          </a:p>
        </p:txBody>
      </p:sp>
      <p:sp>
        <p:nvSpPr>
          <p:cNvPr id="15" name="TextBox 14"/>
          <p:cNvSpPr txBox="1"/>
          <p:nvPr/>
        </p:nvSpPr>
        <p:spPr>
          <a:xfrm>
            <a:off x="1600200" y="4591050"/>
            <a:ext cx="9906000" cy="438150"/>
          </a:xfrm>
          <a:prstGeom prst="rect">
            <a:avLst/>
          </a:prstGeom>
          <a:noFill/>
          <a:ln>
            <a:noFill/>
          </a:ln>
        </p:spPr>
        <p:txBody>
          <a:bodyPr wrap="square" lIns="0" tIns="0" rIns="0" bIns="0" anchor="t">
            <a:noAutofit/>
          </a:bodyPr>
          <a:lstStyle/>
          <a:p>
            <a:pPr algn="l">
              <a:lnSpc>
                <a:spcPts val="2268"/>
              </a:lnSpc>
              <a:spcBef>
                <a:spcPts val="0"/>
              </a:spcBef>
              <a:spcAft>
                <a:spcPts val="0"/>
              </a:spcAft>
            </a:pPr>
            <a:r>
              <a:rPr sz="2025" b="0" i="0" u="none">
                <a:solidFill>
                  <a:srgbClr val="132238"/>
                </a:solidFill>
                <a:latin typeface="Arial"/>
              </a:rPr>
              <a:t>Centralize Management — one platform, three roles.</a:t>
            </a:r>
          </a:p>
        </p:txBody>
      </p:sp>
      <p:cxnSp>
        <p:nvCxnSpPr>
          <p:cNvPr id="16" name="Connector 15"/>
          <p:cNvCxnSpPr/>
          <p:nvPr/>
        </p:nvCxnSpPr>
        <p:spPr>
          <a:xfrm>
            <a:off x="685800" y="5124450"/>
            <a:ext cx="10820400" cy="0"/>
          </a:xfrm>
          <a:prstGeom prst="line">
            <a:avLst/>
          </a:prstGeom>
          <a:ln w="9525">
            <a:solidFill>
              <a:srgbClr val="DCE3EE"/>
            </a:solidFill>
          </a:ln>
        </p:spPr>
      </p:cxnSp>
      <p:sp>
        <p:nvSpPr>
          <p:cNvPr id="17" name="TextBox 16"/>
          <p:cNvSpPr txBox="1"/>
          <p:nvPr/>
        </p:nvSpPr>
        <p:spPr>
          <a:xfrm>
            <a:off x="685800" y="5429250"/>
            <a:ext cx="685800" cy="457200"/>
          </a:xfrm>
          <a:prstGeom prst="rect">
            <a:avLst/>
          </a:prstGeom>
          <a:noFill/>
          <a:ln>
            <a:noFill/>
          </a:ln>
        </p:spPr>
        <p:txBody>
          <a:bodyPr wrap="square" lIns="0" tIns="0" rIns="0" bIns="0" anchor="t">
            <a:noAutofit/>
          </a:bodyPr>
          <a:lstStyle/>
          <a:p>
            <a:pPr algn="l">
              <a:lnSpc>
                <a:spcPts val="3305"/>
              </a:lnSpc>
              <a:spcBef>
                <a:spcPts val="0"/>
              </a:spcBef>
              <a:spcAft>
                <a:spcPts val="0"/>
              </a:spcAft>
            </a:pPr>
            <a:r>
              <a:rPr sz="2850" b="1" i="0" u="none">
                <a:solidFill>
                  <a:srgbClr val="0D9488"/>
                </a:solidFill>
                <a:latin typeface="Arial"/>
              </a:rPr>
              <a:t>05</a:t>
            </a:r>
          </a:p>
        </p:txBody>
      </p:sp>
      <p:sp>
        <p:nvSpPr>
          <p:cNvPr id="18" name="TextBox 17"/>
          <p:cNvSpPr txBox="1"/>
          <p:nvPr/>
        </p:nvSpPr>
        <p:spPr>
          <a:xfrm>
            <a:off x="1600200" y="5410200"/>
            <a:ext cx="9906000" cy="438150"/>
          </a:xfrm>
          <a:prstGeom prst="rect">
            <a:avLst/>
          </a:prstGeom>
          <a:noFill/>
          <a:ln>
            <a:noFill/>
          </a:ln>
        </p:spPr>
        <p:txBody>
          <a:bodyPr wrap="square" lIns="0" tIns="0" rIns="0" bIns="0" anchor="t">
            <a:noAutofit/>
          </a:bodyPr>
          <a:lstStyle/>
          <a:p>
            <a:pPr algn="l">
              <a:lnSpc>
                <a:spcPts val="2268"/>
              </a:lnSpc>
              <a:spcBef>
                <a:spcPts val="0"/>
              </a:spcBef>
              <a:spcAft>
                <a:spcPts val="0"/>
              </a:spcAft>
            </a:pPr>
            <a:r>
              <a:rPr sz="2025" b="0" i="0" u="none">
                <a:solidFill>
                  <a:srgbClr val="132238"/>
                </a:solidFill>
                <a:latin typeface="Arial"/>
              </a:rPr>
              <a:t>Responsive UX — consistent experience on every device.</a:t>
            </a:r>
          </a:p>
        </p:txBody>
      </p:sp>
      <p:sp>
        <p:nvSpPr>
          <p:cNvPr id="19" name="Page number"/>
          <p:cNvSpPr txBox="1"/>
          <p:nvPr/>
        </p:nvSpPr>
        <p:spPr>
          <a:xfrm>
            <a:off x="10934700" y="6477000"/>
            <a:ext cx="571500" cy="190500"/>
          </a:xfrm>
          <a:prstGeom prst="rect">
            <a:avLst/>
          </a:prstGeom>
          <a:noFill/>
          <a:ln>
            <a:noFill/>
          </a:ln>
        </p:spPr>
        <p:txBody>
          <a:bodyPr wrap="square" lIns="0" tIns="0" rIns="0" bIns="0" anchor="t">
            <a:noAutofit/>
          </a:bodyPr>
          <a:lstStyle/>
          <a:p>
            <a:pPr algn="r">
              <a:spcBef>
                <a:spcPts val="0"/>
              </a:spcBef>
              <a:spcAft>
                <a:spcPts val="0"/>
              </a:spcAft>
            </a:pPr>
            <a:r>
              <a:rPr sz="825" b="0" i="0" u="none">
                <a:solidFill>
                  <a:srgbClr val="5B6B84"/>
                </a:solidFill>
                <a:latin typeface="Arial"/>
              </a:rPr>
              <a:t>5 / 29</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AFC"/>
        </a:solidFill>
        <a:effectLst/>
      </p:bgPr>
    </p:bg>
    <p:spTree>
      <p:nvGrpSpPr>
        <p:cNvPr id="1" name=""/>
        <p:cNvGrpSpPr/>
        <p:nvPr/>
      </p:nvGrpSpPr>
      <p:grpSpPr>
        <a:xfrm>
          <a:off x="0" y="0"/>
          <a:ext cx="0" cy="0"/>
          <a:chOff x="0" y="0"/>
          <a:chExt cx="0" cy="0"/>
        </a:xfrm>
      </p:grpSpPr>
      <p:sp>
        <p:nvSpPr>
          <p:cNvPr id="2" name="Section label"/>
          <p:cNvSpPr txBox="1"/>
          <p:nvPr/>
        </p:nvSpPr>
        <p:spPr>
          <a:xfrm>
            <a:off x="685800" y="685800"/>
            <a:ext cx="5905500" cy="247649"/>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1" i="0" u="none">
                <a:solidFill>
                  <a:srgbClr val="5B6B84"/>
                </a:solidFill>
                <a:latin typeface="Arial"/>
              </a:rPr>
              <a:t>THREE DISTINCT ROLES</a:t>
            </a:r>
          </a:p>
        </p:txBody>
      </p:sp>
      <p:sp>
        <p:nvSpPr>
          <p:cNvPr id="3" name="Title accent"/>
          <p:cNvSpPr/>
          <p:nvPr/>
        </p:nvSpPr>
        <p:spPr>
          <a:xfrm>
            <a:off x="685800" y="1009650"/>
            <a:ext cx="419100" cy="38100"/>
          </a:xfrm>
          <a:prstGeom prst="rect">
            <a:avLst/>
          </a:prstGeom>
          <a:solidFill>
            <a:srgbClr val="0D9488"/>
          </a:solidFill>
          <a:ln>
            <a:noFill/>
          </a:ln>
        </p:spPr>
        <p:txBody>
          <a:bodyPr rtlCol="0" anchor="ctr"/>
          <a:lstStyle/>
          <a:p>
            <a:pPr algn="ctr"/>
            <a:endParaRPr/>
          </a:p>
        </p:txBody>
      </p:sp>
      <p:sp>
        <p:nvSpPr>
          <p:cNvPr id="4" name="Slide title"/>
          <p:cNvSpPr txBox="1"/>
          <p:nvPr/>
        </p:nvSpPr>
        <p:spPr>
          <a:xfrm>
            <a:off x="685800" y="1181100"/>
            <a:ext cx="10820400" cy="876300"/>
          </a:xfrm>
          <a:prstGeom prst="rect">
            <a:avLst/>
          </a:prstGeom>
          <a:noFill/>
          <a:ln>
            <a:noFill/>
          </a:ln>
        </p:spPr>
        <p:txBody>
          <a:bodyPr wrap="square" lIns="0" tIns="0" rIns="0" bIns="0" anchor="t">
            <a:noAutofit/>
          </a:bodyPr>
          <a:lstStyle/>
          <a:p>
            <a:pPr algn="l">
              <a:lnSpc>
                <a:spcPts val="3276"/>
              </a:lnSpc>
              <a:spcBef>
                <a:spcPts val="0"/>
              </a:spcBef>
              <a:spcAft>
                <a:spcPts val="0"/>
              </a:spcAft>
            </a:pPr>
            <a:r>
              <a:rPr sz="3150" b="1" i="0" u="none">
                <a:solidFill>
                  <a:srgbClr val="132238"/>
                </a:solidFill>
                <a:latin typeface="Arial"/>
              </a:rPr>
              <a:t>Target Users</a:t>
            </a:r>
          </a:p>
        </p:txBody>
      </p:sp>
      <p:sp>
        <p:nvSpPr>
          <p:cNvPr id="5" name="TextBox 4"/>
          <p:cNvSpPr txBox="1"/>
          <p:nvPr/>
        </p:nvSpPr>
        <p:spPr>
          <a:xfrm>
            <a:off x="685800" y="2247900"/>
            <a:ext cx="514350" cy="285750"/>
          </a:xfrm>
          <a:prstGeom prst="rect">
            <a:avLst/>
          </a:prstGeom>
          <a:noFill/>
          <a:ln>
            <a:noFill/>
          </a:ln>
        </p:spPr>
        <p:txBody>
          <a:bodyPr wrap="square" lIns="0" tIns="0" rIns="0" bIns="0" anchor="t">
            <a:noAutofit/>
          </a:bodyPr>
          <a:lstStyle/>
          <a:p>
            <a:pPr algn="l">
              <a:lnSpc>
                <a:spcPts val="1739"/>
              </a:lnSpc>
              <a:spcBef>
                <a:spcPts val="0"/>
              </a:spcBef>
              <a:spcAft>
                <a:spcPts val="0"/>
              </a:spcAft>
            </a:pPr>
            <a:r>
              <a:rPr sz="1500" b="1" i="0" u="none">
                <a:solidFill>
                  <a:srgbClr val="0D9488"/>
                </a:solidFill>
                <a:latin typeface="Arial"/>
              </a:rPr>
              <a:t>01</a:t>
            </a:r>
          </a:p>
        </p:txBody>
      </p:sp>
      <p:sp>
        <p:nvSpPr>
          <p:cNvPr id="6" name="TextBox 5"/>
          <p:cNvSpPr txBox="1"/>
          <p:nvPr/>
        </p:nvSpPr>
        <p:spPr>
          <a:xfrm>
            <a:off x="1276350" y="2228850"/>
            <a:ext cx="3810000" cy="323850"/>
          </a:xfrm>
          <a:prstGeom prst="rect">
            <a:avLst/>
          </a:prstGeom>
          <a:noFill/>
          <a:ln>
            <a:noFill/>
          </a:ln>
        </p:spPr>
        <p:txBody>
          <a:bodyPr wrap="square" lIns="0" tIns="0" rIns="0" bIns="0" anchor="t">
            <a:noAutofit/>
          </a:bodyPr>
          <a:lstStyle/>
          <a:p>
            <a:pPr algn="l">
              <a:lnSpc>
                <a:spcPts val="2261"/>
              </a:lnSpc>
              <a:spcBef>
                <a:spcPts val="0"/>
              </a:spcBef>
              <a:spcAft>
                <a:spcPts val="0"/>
              </a:spcAft>
            </a:pPr>
            <a:r>
              <a:rPr sz="1950" b="1" i="0" u="none">
                <a:solidFill>
                  <a:srgbClr val="132238"/>
                </a:solidFill>
                <a:latin typeface="Arial"/>
              </a:rPr>
              <a:t>Patients &amp; Doctors</a:t>
            </a:r>
          </a:p>
        </p:txBody>
      </p:sp>
      <p:cxnSp>
        <p:nvCxnSpPr>
          <p:cNvPr id="7" name="Connector 6"/>
          <p:cNvCxnSpPr/>
          <p:nvPr/>
        </p:nvCxnSpPr>
        <p:spPr>
          <a:xfrm>
            <a:off x="685800" y="2781300"/>
            <a:ext cx="5086350" cy="0"/>
          </a:xfrm>
          <a:prstGeom prst="line">
            <a:avLst/>
          </a:prstGeom>
          <a:ln w="9525">
            <a:solidFill>
              <a:srgbClr val="DCE3EE"/>
            </a:solidFill>
          </a:ln>
        </p:spPr>
      </p:cxnSp>
      <p:sp>
        <p:nvSpPr>
          <p:cNvPr id="8" name="TextBox 7"/>
          <p:cNvSpPr txBox="1"/>
          <p:nvPr/>
        </p:nvSpPr>
        <p:spPr>
          <a:xfrm>
            <a:off x="685800" y="2971800"/>
            <a:ext cx="5086350" cy="2286000"/>
          </a:xfrm>
          <a:prstGeom prst="rect">
            <a:avLst/>
          </a:prstGeom>
          <a:noFill/>
          <a:ln>
            <a:noFill/>
          </a:ln>
        </p:spPr>
        <p:txBody>
          <a:bodyPr wrap="square" lIns="0" tIns="0" rIns="0" bIns="0" anchor="t">
            <a:noAutofit/>
          </a:bodyPr>
          <a:lstStyle/>
          <a:p>
            <a:pPr algn="l">
              <a:lnSpc>
                <a:spcPts val="2204"/>
              </a:lnSpc>
              <a:spcBef>
                <a:spcPts val="0"/>
              </a:spcBef>
              <a:spcAft>
                <a:spcPts val="0"/>
              </a:spcAft>
            </a:pPr>
            <a:r>
              <a:rPr sz="1575" b="0" i="0" u="none">
                <a:solidFill>
                  <a:srgbClr val="5B6B84"/>
                </a:solidFill>
                <a:latin typeface="Arial"/>
              </a:rPr>
              <a:t>Patients register, search and filter verified doctors, book and cancel appointments, pay securely, and leave reviews.
Doctors register for approval, manage their weekly schedule, accept or complete appointments, and maintain their professional profile.</a:t>
            </a:r>
          </a:p>
        </p:txBody>
      </p:sp>
      <p:sp>
        <p:nvSpPr>
          <p:cNvPr id="9" name="TextBox 8"/>
          <p:cNvSpPr txBox="1"/>
          <p:nvPr/>
        </p:nvSpPr>
        <p:spPr>
          <a:xfrm>
            <a:off x="6191250" y="2247900"/>
            <a:ext cx="514350" cy="285750"/>
          </a:xfrm>
          <a:prstGeom prst="rect">
            <a:avLst/>
          </a:prstGeom>
          <a:noFill/>
          <a:ln>
            <a:noFill/>
          </a:ln>
        </p:spPr>
        <p:txBody>
          <a:bodyPr wrap="square" lIns="0" tIns="0" rIns="0" bIns="0" anchor="t">
            <a:noAutofit/>
          </a:bodyPr>
          <a:lstStyle/>
          <a:p>
            <a:pPr algn="l">
              <a:lnSpc>
                <a:spcPts val="1739"/>
              </a:lnSpc>
              <a:spcBef>
                <a:spcPts val="0"/>
              </a:spcBef>
              <a:spcAft>
                <a:spcPts val="0"/>
              </a:spcAft>
            </a:pPr>
            <a:r>
              <a:rPr sz="1500" b="1" i="0" u="none">
                <a:solidFill>
                  <a:srgbClr val="0D9488"/>
                </a:solidFill>
                <a:latin typeface="Arial"/>
              </a:rPr>
              <a:t>02</a:t>
            </a:r>
          </a:p>
        </p:txBody>
      </p:sp>
      <p:sp>
        <p:nvSpPr>
          <p:cNvPr id="10" name="TextBox 9"/>
          <p:cNvSpPr txBox="1"/>
          <p:nvPr/>
        </p:nvSpPr>
        <p:spPr>
          <a:xfrm>
            <a:off x="6781800" y="2228850"/>
            <a:ext cx="3810000" cy="323850"/>
          </a:xfrm>
          <a:prstGeom prst="rect">
            <a:avLst/>
          </a:prstGeom>
          <a:noFill/>
          <a:ln>
            <a:noFill/>
          </a:ln>
        </p:spPr>
        <p:txBody>
          <a:bodyPr wrap="square" lIns="0" tIns="0" rIns="0" bIns="0" anchor="t">
            <a:noAutofit/>
          </a:bodyPr>
          <a:lstStyle/>
          <a:p>
            <a:pPr algn="l">
              <a:lnSpc>
                <a:spcPts val="2261"/>
              </a:lnSpc>
              <a:spcBef>
                <a:spcPts val="0"/>
              </a:spcBef>
              <a:spcAft>
                <a:spcPts val="0"/>
              </a:spcAft>
            </a:pPr>
            <a:r>
              <a:rPr sz="1950" b="1" i="0" u="none">
                <a:solidFill>
                  <a:srgbClr val="132238"/>
                </a:solidFill>
                <a:latin typeface="Arial"/>
              </a:rPr>
              <a:t>Administrators</a:t>
            </a:r>
          </a:p>
        </p:txBody>
      </p:sp>
      <p:cxnSp>
        <p:nvCxnSpPr>
          <p:cNvPr id="11" name="Connector 10"/>
          <p:cNvCxnSpPr/>
          <p:nvPr/>
        </p:nvCxnSpPr>
        <p:spPr>
          <a:xfrm>
            <a:off x="6191250" y="2781300"/>
            <a:ext cx="5086350" cy="0"/>
          </a:xfrm>
          <a:prstGeom prst="line">
            <a:avLst/>
          </a:prstGeom>
          <a:ln w="9525">
            <a:solidFill>
              <a:srgbClr val="DCE3EE"/>
            </a:solidFill>
          </a:ln>
        </p:spPr>
      </p:cxnSp>
      <p:sp>
        <p:nvSpPr>
          <p:cNvPr id="12" name="TextBox 11"/>
          <p:cNvSpPr txBox="1"/>
          <p:nvPr/>
        </p:nvSpPr>
        <p:spPr>
          <a:xfrm>
            <a:off x="6191250" y="2971800"/>
            <a:ext cx="5086350" cy="2286000"/>
          </a:xfrm>
          <a:prstGeom prst="rect">
            <a:avLst/>
          </a:prstGeom>
          <a:noFill/>
          <a:ln>
            <a:noFill/>
          </a:ln>
        </p:spPr>
        <p:txBody>
          <a:bodyPr wrap="square" lIns="0" tIns="0" rIns="0" bIns="0" anchor="t">
            <a:noAutofit/>
          </a:bodyPr>
          <a:lstStyle/>
          <a:p>
            <a:pPr algn="l">
              <a:lnSpc>
                <a:spcPts val="2204"/>
              </a:lnSpc>
              <a:spcBef>
                <a:spcPts val="0"/>
              </a:spcBef>
              <a:spcAft>
                <a:spcPts val="0"/>
              </a:spcAft>
            </a:pPr>
            <a:r>
              <a:rPr sz="1575" b="0" i="0" u="none">
                <a:solidFill>
                  <a:srgbClr val="5B6B84"/>
                </a:solidFill>
                <a:latin typeface="Arial"/>
              </a:rPr>
              <a:t>Administrators manage all users, approve doctor registrations, monitor every appointment platform-wide, and track revenue and system health through analytics dashboards.</a:t>
            </a:r>
          </a:p>
        </p:txBody>
      </p:sp>
      <p:sp>
        <p:nvSpPr>
          <p:cNvPr id="13" name="Page number"/>
          <p:cNvSpPr txBox="1"/>
          <p:nvPr/>
        </p:nvSpPr>
        <p:spPr>
          <a:xfrm>
            <a:off x="10934700" y="6477000"/>
            <a:ext cx="571500" cy="190500"/>
          </a:xfrm>
          <a:prstGeom prst="rect">
            <a:avLst/>
          </a:prstGeom>
          <a:noFill/>
          <a:ln>
            <a:noFill/>
          </a:ln>
        </p:spPr>
        <p:txBody>
          <a:bodyPr wrap="square" lIns="0" tIns="0" rIns="0" bIns="0" anchor="t">
            <a:noAutofit/>
          </a:bodyPr>
          <a:lstStyle/>
          <a:p>
            <a:pPr algn="r">
              <a:spcBef>
                <a:spcPts val="0"/>
              </a:spcBef>
              <a:spcAft>
                <a:spcPts val="0"/>
              </a:spcAft>
            </a:pPr>
            <a:r>
              <a:rPr sz="825" b="0" i="0" u="none">
                <a:solidFill>
                  <a:srgbClr val="5B6B84"/>
                </a:solidFill>
                <a:latin typeface="Arial"/>
              </a:rPr>
              <a:t>6 / 29</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AFC"/>
        </a:solidFill>
        <a:effectLst/>
      </p:bgPr>
    </p:bg>
    <p:spTree>
      <p:nvGrpSpPr>
        <p:cNvPr id="1" name=""/>
        <p:cNvGrpSpPr/>
        <p:nvPr/>
      </p:nvGrpSpPr>
      <p:grpSpPr>
        <a:xfrm>
          <a:off x="0" y="0"/>
          <a:ext cx="0" cy="0"/>
          <a:chOff x="0" y="0"/>
          <a:chExt cx="0" cy="0"/>
        </a:xfrm>
      </p:grpSpPr>
      <p:sp>
        <p:nvSpPr>
          <p:cNvPr id="2" name="Section label"/>
          <p:cNvSpPr txBox="1"/>
          <p:nvPr/>
        </p:nvSpPr>
        <p:spPr>
          <a:xfrm>
            <a:off x="685800" y="685800"/>
            <a:ext cx="5905500" cy="247649"/>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1" i="0" u="none">
                <a:solidFill>
                  <a:srgbClr val="5B6B84"/>
                </a:solidFill>
                <a:latin typeface="Arial"/>
              </a:rPr>
              <a:t>CORE FUNCTIONALITIES OF THE PLATFORM</a:t>
            </a:r>
          </a:p>
        </p:txBody>
      </p:sp>
      <p:sp>
        <p:nvSpPr>
          <p:cNvPr id="3" name="Title accent"/>
          <p:cNvSpPr/>
          <p:nvPr/>
        </p:nvSpPr>
        <p:spPr>
          <a:xfrm>
            <a:off x="685800" y="1009650"/>
            <a:ext cx="419100" cy="38100"/>
          </a:xfrm>
          <a:prstGeom prst="rect">
            <a:avLst/>
          </a:prstGeom>
          <a:solidFill>
            <a:srgbClr val="0D9488"/>
          </a:solidFill>
          <a:ln>
            <a:noFill/>
          </a:ln>
        </p:spPr>
        <p:txBody>
          <a:bodyPr rtlCol="0" anchor="ctr"/>
          <a:lstStyle/>
          <a:p>
            <a:pPr algn="ctr"/>
            <a:endParaRPr/>
          </a:p>
        </p:txBody>
      </p:sp>
      <p:sp>
        <p:nvSpPr>
          <p:cNvPr id="4" name="Slide title"/>
          <p:cNvSpPr txBox="1"/>
          <p:nvPr/>
        </p:nvSpPr>
        <p:spPr>
          <a:xfrm>
            <a:off x="685800" y="1181100"/>
            <a:ext cx="10820400" cy="876300"/>
          </a:xfrm>
          <a:prstGeom prst="rect">
            <a:avLst/>
          </a:prstGeom>
          <a:noFill/>
          <a:ln>
            <a:noFill/>
          </a:ln>
        </p:spPr>
        <p:txBody>
          <a:bodyPr wrap="square" lIns="0" tIns="0" rIns="0" bIns="0" anchor="t">
            <a:noAutofit/>
          </a:bodyPr>
          <a:lstStyle/>
          <a:p>
            <a:pPr algn="l">
              <a:lnSpc>
                <a:spcPts val="3120"/>
              </a:lnSpc>
              <a:spcBef>
                <a:spcPts val="0"/>
              </a:spcBef>
              <a:spcAft>
                <a:spcPts val="0"/>
              </a:spcAft>
            </a:pPr>
            <a:r>
              <a:rPr sz="3000" b="1" i="0" u="none">
                <a:solidFill>
                  <a:srgbClr val="132238"/>
                </a:solidFill>
                <a:latin typeface="Arial"/>
              </a:rPr>
              <a:t>Main Features</a:t>
            </a:r>
          </a:p>
        </p:txBody>
      </p:sp>
      <p:sp>
        <p:nvSpPr>
          <p:cNvPr id="5" name="TextBox 4"/>
          <p:cNvSpPr txBox="1"/>
          <p:nvPr/>
        </p:nvSpPr>
        <p:spPr>
          <a:xfrm>
            <a:off x="685800" y="2381250"/>
            <a:ext cx="4953000" cy="1809750"/>
          </a:xfrm>
          <a:prstGeom prst="rect">
            <a:avLst/>
          </a:prstGeom>
          <a:noFill/>
          <a:ln>
            <a:noFill/>
          </a:ln>
        </p:spPr>
        <p:txBody>
          <a:bodyPr wrap="square" lIns="0" tIns="0" rIns="0" bIns="0" anchor="t">
            <a:noAutofit/>
          </a:bodyPr>
          <a:lstStyle/>
          <a:p>
            <a:pPr algn="l">
              <a:lnSpc>
                <a:spcPts val="4131"/>
              </a:lnSpc>
              <a:spcBef>
                <a:spcPts val="0"/>
              </a:spcBef>
              <a:spcAft>
                <a:spcPts val="0"/>
              </a:spcAft>
            </a:pPr>
            <a:r>
              <a:rPr sz="4050" b="1" i="0" u="none">
                <a:solidFill>
                  <a:srgbClr val="132238"/>
                </a:solidFill>
                <a:latin typeface="Arial"/>
              </a:rPr>
              <a:t>Six core capabilities, one platform.</a:t>
            </a:r>
          </a:p>
        </p:txBody>
      </p:sp>
      <p:sp>
        <p:nvSpPr>
          <p:cNvPr id="6" name="TextBox 5"/>
          <p:cNvSpPr txBox="1"/>
          <p:nvPr/>
        </p:nvSpPr>
        <p:spPr>
          <a:xfrm>
            <a:off x="685800" y="4305300"/>
            <a:ext cx="4762500" cy="609600"/>
          </a:xfrm>
          <a:prstGeom prst="rect">
            <a:avLst/>
          </a:prstGeom>
          <a:noFill/>
          <a:ln>
            <a:noFill/>
          </a:ln>
        </p:spPr>
        <p:txBody>
          <a:bodyPr wrap="square" lIns="0" tIns="0" rIns="0" bIns="0" anchor="t">
            <a:noAutofit/>
          </a:bodyPr>
          <a:lstStyle/>
          <a:p>
            <a:pPr algn="l">
              <a:lnSpc>
                <a:spcPts val="2025"/>
              </a:lnSpc>
              <a:spcBef>
                <a:spcPts val="0"/>
              </a:spcBef>
              <a:spcAft>
                <a:spcPts val="0"/>
              </a:spcAft>
            </a:pPr>
            <a:r>
              <a:rPr sz="1500" b="0" i="0" u="none">
                <a:solidFill>
                  <a:srgbClr val="5B6B84"/>
                </a:solidFill>
                <a:latin typeface="Arial"/>
              </a:rPr>
              <a:t>Every feature is built around the three-role experience.</a:t>
            </a:r>
          </a:p>
        </p:txBody>
      </p:sp>
      <p:sp>
        <p:nvSpPr>
          <p:cNvPr id="7" name="Section label"/>
          <p:cNvSpPr txBox="1"/>
          <p:nvPr/>
        </p:nvSpPr>
        <p:spPr>
          <a:xfrm>
            <a:off x="6191250" y="2381250"/>
            <a:ext cx="2857500" cy="171450"/>
          </a:xfrm>
          <a:prstGeom prst="rect">
            <a:avLst/>
          </a:prstGeom>
          <a:noFill/>
          <a:ln>
            <a:noFill/>
          </a:ln>
        </p:spPr>
        <p:txBody>
          <a:bodyPr wrap="square" lIns="0" tIns="0" rIns="0" bIns="0" anchor="t">
            <a:noAutofit/>
          </a:bodyPr>
          <a:lstStyle/>
          <a:p>
            <a:pPr algn="l">
              <a:lnSpc>
                <a:spcPts val="1130"/>
              </a:lnSpc>
              <a:spcBef>
                <a:spcPts val="0"/>
              </a:spcBef>
              <a:spcAft>
                <a:spcPts val="0"/>
              </a:spcAft>
            </a:pPr>
            <a:r>
              <a:rPr sz="975" b="1" i="0" u="none">
                <a:solidFill>
                  <a:srgbClr val="0D9488"/>
                </a:solidFill>
                <a:latin typeface="Arial"/>
              </a:rPr>
              <a:t>AUTHENTICATION</a:t>
            </a:r>
          </a:p>
        </p:txBody>
      </p:sp>
      <p:sp>
        <p:nvSpPr>
          <p:cNvPr id="8" name="TextBox 7"/>
          <p:cNvSpPr txBox="1"/>
          <p:nvPr/>
        </p:nvSpPr>
        <p:spPr>
          <a:xfrm>
            <a:off x="6191250" y="2628900"/>
            <a:ext cx="5314950" cy="571500"/>
          </a:xfrm>
          <a:prstGeom prst="rect">
            <a:avLst/>
          </a:prstGeom>
          <a:noFill/>
          <a:ln>
            <a:noFill/>
          </a:ln>
        </p:spPr>
        <p:txBody>
          <a:bodyPr wrap="square" lIns="0" tIns="0" rIns="0" bIns="0" anchor="t">
            <a:noAutofit/>
          </a:bodyPr>
          <a:lstStyle/>
          <a:p>
            <a:pPr algn="l">
              <a:lnSpc>
                <a:spcPts val="2047"/>
              </a:lnSpc>
              <a:spcBef>
                <a:spcPts val="0"/>
              </a:spcBef>
              <a:spcAft>
                <a:spcPts val="0"/>
              </a:spcAft>
            </a:pPr>
            <a:r>
              <a:rPr sz="1575" b="1" i="0" u="none">
                <a:solidFill>
                  <a:srgbClr val="132238"/>
                </a:solidFill>
                <a:latin typeface="Arial"/>
              </a:rPr>
              <a:t>JWT tokens, bcrypt password hashing, protected routes, and role-based sessions.</a:t>
            </a:r>
          </a:p>
        </p:txBody>
      </p:sp>
      <p:cxnSp>
        <p:nvCxnSpPr>
          <p:cNvPr id="9" name="Connector 8"/>
          <p:cNvCxnSpPr/>
          <p:nvPr/>
        </p:nvCxnSpPr>
        <p:spPr>
          <a:xfrm>
            <a:off x="6191250" y="3238500"/>
            <a:ext cx="5314950" cy="0"/>
          </a:xfrm>
          <a:prstGeom prst="line">
            <a:avLst/>
          </a:prstGeom>
          <a:ln w="9525">
            <a:solidFill>
              <a:srgbClr val="DCE3EE"/>
            </a:solidFill>
          </a:ln>
        </p:spPr>
      </p:cxnSp>
      <p:sp>
        <p:nvSpPr>
          <p:cNvPr id="10" name="Section label"/>
          <p:cNvSpPr txBox="1"/>
          <p:nvPr/>
        </p:nvSpPr>
        <p:spPr>
          <a:xfrm>
            <a:off x="6191250" y="3371850"/>
            <a:ext cx="2857500" cy="171450"/>
          </a:xfrm>
          <a:prstGeom prst="rect">
            <a:avLst/>
          </a:prstGeom>
          <a:noFill/>
          <a:ln>
            <a:noFill/>
          </a:ln>
        </p:spPr>
        <p:txBody>
          <a:bodyPr wrap="square" lIns="0" tIns="0" rIns="0" bIns="0" anchor="t">
            <a:noAutofit/>
          </a:bodyPr>
          <a:lstStyle/>
          <a:p>
            <a:pPr algn="l">
              <a:lnSpc>
                <a:spcPts val="1130"/>
              </a:lnSpc>
              <a:spcBef>
                <a:spcPts val="0"/>
              </a:spcBef>
              <a:spcAft>
                <a:spcPts val="0"/>
              </a:spcAft>
            </a:pPr>
            <a:r>
              <a:rPr sz="975" b="1" i="0" u="none">
                <a:solidFill>
                  <a:srgbClr val="0D9488"/>
                </a:solidFill>
                <a:latin typeface="Arial"/>
              </a:rPr>
              <a:t>DOCTOR DISCOVERY &amp; BOOKING</a:t>
            </a:r>
          </a:p>
        </p:txBody>
      </p:sp>
      <p:sp>
        <p:nvSpPr>
          <p:cNvPr id="11" name="TextBox 10"/>
          <p:cNvSpPr txBox="1"/>
          <p:nvPr/>
        </p:nvSpPr>
        <p:spPr>
          <a:xfrm>
            <a:off x="6191250" y="3619500"/>
            <a:ext cx="5314950" cy="571500"/>
          </a:xfrm>
          <a:prstGeom prst="rect">
            <a:avLst/>
          </a:prstGeom>
          <a:noFill/>
          <a:ln>
            <a:noFill/>
          </a:ln>
        </p:spPr>
        <p:txBody>
          <a:bodyPr wrap="square" lIns="0" tIns="0" rIns="0" bIns="0" anchor="t">
            <a:noAutofit/>
          </a:bodyPr>
          <a:lstStyle/>
          <a:p>
            <a:pPr algn="l">
              <a:lnSpc>
                <a:spcPts val="2047"/>
              </a:lnSpc>
              <a:spcBef>
                <a:spcPts val="0"/>
              </a:spcBef>
              <a:spcAft>
                <a:spcPts val="0"/>
              </a:spcAft>
            </a:pPr>
            <a:r>
              <a:rPr sz="1575" b="1" i="0" u="none">
                <a:solidFill>
                  <a:srgbClr val="132238"/>
                </a:solidFill>
                <a:latin typeface="Arial"/>
              </a:rPr>
              <a:t>Search by name or specialty, filter by rating, and book available time slots instantly.</a:t>
            </a:r>
          </a:p>
        </p:txBody>
      </p:sp>
      <p:cxnSp>
        <p:nvCxnSpPr>
          <p:cNvPr id="12" name="Connector 11"/>
          <p:cNvCxnSpPr/>
          <p:nvPr/>
        </p:nvCxnSpPr>
        <p:spPr>
          <a:xfrm>
            <a:off x="6191250" y="4229100"/>
            <a:ext cx="5314950" cy="0"/>
          </a:xfrm>
          <a:prstGeom prst="line">
            <a:avLst/>
          </a:prstGeom>
          <a:ln w="9525">
            <a:solidFill>
              <a:srgbClr val="DCE3EE"/>
            </a:solidFill>
          </a:ln>
        </p:spPr>
      </p:cxnSp>
      <p:sp>
        <p:nvSpPr>
          <p:cNvPr id="13" name="Section label"/>
          <p:cNvSpPr txBox="1"/>
          <p:nvPr/>
        </p:nvSpPr>
        <p:spPr>
          <a:xfrm>
            <a:off x="6191250" y="4362450"/>
            <a:ext cx="2857500" cy="171450"/>
          </a:xfrm>
          <a:prstGeom prst="rect">
            <a:avLst/>
          </a:prstGeom>
          <a:noFill/>
          <a:ln>
            <a:noFill/>
          </a:ln>
        </p:spPr>
        <p:txBody>
          <a:bodyPr wrap="square" lIns="0" tIns="0" rIns="0" bIns="0" anchor="t">
            <a:noAutofit/>
          </a:bodyPr>
          <a:lstStyle/>
          <a:p>
            <a:pPr algn="l">
              <a:lnSpc>
                <a:spcPts val="1130"/>
              </a:lnSpc>
              <a:spcBef>
                <a:spcPts val="0"/>
              </a:spcBef>
              <a:spcAft>
                <a:spcPts val="0"/>
              </a:spcAft>
            </a:pPr>
            <a:r>
              <a:rPr sz="975" b="1" i="0" u="none">
                <a:solidFill>
                  <a:srgbClr val="0D9488"/>
                </a:solidFill>
                <a:latin typeface="Arial"/>
              </a:rPr>
              <a:t>SCHEDULE &amp; PRACTICE MANAGEMENT</a:t>
            </a:r>
          </a:p>
        </p:txBody>
      </p:sp>
      <p:sp>
        <p:nvSpPr>
          <p:cNvPr id="14" name="TextBox 13"/>
          <p:cNvSpPr txBox="1"/>
          <p:nvPr/>
        </p:nvSpPr>
        <p:spPr>
          <a:xfrm>
            <a:off x="6191250" y="4610100"/>
            <a:ext cx="5314950" cy="571500"/>
          </a:xfrm>
          <a:prstGeom prst="rect">
            <a:avLst/>
          </a:prstGeom>
          <a:noFill/>
          <a:ln>
            <a:noFill/>
          </a:ln>
        </p:spPr>
        <p:txBody>
          <a:bodyPr wrap="square" lIns="0" tIns="0" rIns="0" bIns="0" anchor="t">
            <a:noAutofit/>
          </a:bodyPr>
          <a:lstStyle/>
          <a:p>
            <a:pPr algn="l">
              <a:lnSpc>
                <a:spcPts val="2047"/>
              </a:lnSpc>
              <a:spcBef>
                <a:spcPts val="0"/>
              </a:spcBef>
              <a:spcAft>
                <a:spcPts val="0"/>
              </a:spcAft>
            </a:pPr>
            <a:r>
              <a:rPr sz="1575" b="1" i="0" u="none">
                <a:solidFill>
                  <a:srgbClr val="132238"/>
                </a:solidFill>
                <a:latin typeface="Arial"/>
              </a:rPr>
              <a:t>Doctors configure weekly availability and slot duration, and accept or complete appointments.</a:t>
            </a:r>
          </a:p>
        </p:txBody>
      </p:sp>
      <p:cxnSp>
        <p:nvCxnSpPr>
          <p:cNvPr id="15" name="Connector 14"/>
          <p:cNvCxnSpPr/>
          <p:nvPr/>
        </p:nvCxnSpPr>
        <p:spPr>
          <a:xfrm>
            <a:off x="6191250" y="5219700"/>
            <a:ext cx="5314950" cy="0"/>
          </a:xfrm>
          <a:prstGeom prst="line">
            <a:avLst/>
          </a:prstGeom>
          <a:ln w="9525">
            <a:solidFill>
              <a:srgbClr val="DCE3EE"/>
            </a:solidFill>
          </a:ln>
        </p:spPr>
      </p:cxnSp>
      <p:sp>
        <p:nvSpPr>
          <p:cNvPr id="16" name="Section label"/>
          <p:cNvSpPr txBox="1"/>
          <p:nvPr/>
        </p:nvSpPr>
        <p:spPr>
          <a:xfrm>
            <a:off x="6191250" y="5353050"/>
            <a:ext cx="2857500" cy="171450"/>
          </a:xfrm>
          <a:prstGeom prst="rect">
            <a:avLst/>
          </a:prstGeom>
          <a:noFill/>
          <a:ln>
            <a:noFill/>
          </a:ln>
        </p:spPr>
        <p:txBody>
          <a:bodyPr wrap="square" lIns="0" tIns="0" rIns="0" bIns="0" anchor="t">
            <a:noAutofit/>
          </a:bodyPr>
          <a:lstStyle/>
          <a:p>
            <a:pPr algn="l">
              <a:lnSpc>
                <a:spcPts val="1130"/>
              </a:lnSpc>
              <a:spcBef>
                <a:spcPts val="0"/>
              </a:spcBef>
              <a:spcAft>
                <a:spcPts val="0"/>
              </a:spcAft>
            </a:pPr>
            <a:r>
              <a:rPr sz="975" b="1" i="0" u="none">
                <a:solidFill>
                  <a:srgbClr val="0D9488"/>
                </a:solidFill>
                <a:latin typeface="Arial"/>
              </a:rPr>
              <a:t>ANALYTICS &amp; REVIEWS</a:t>
            </a:r>
          </a:p>
        </p:txBody>
      </p:sp>
      <p:sp>
        <p:nvSpPr>
          <p:cNvPr id="17" name="TextBox 16"/>
          <p:cNvSpPr txBox="1"/>
          <p:nvPr/>
        </p:nvSpPr>
        <p:spPr>
          <a:xfrm>
            <a:off x="6191250" y="5600700"/>
            <a:ext cx="5314950" cy="571500"/>
          </a:xfrm>
          <a:prstGeom prst="rect">
            <a:avLst/>
          </a:prstGeom>
          <a:noFill/>
          <a:ln>
            <a:noFill/>
          </a:ln>
        </p:spPr>
        <p:txBody>
          <a:bodyPr wrap="square" lIns="0" tIns="0" rIns="0" bIns="0" anchor="t">
            <a:noAutofit/>
          </a:bodyPr>
          <a:lstStyle/>
          <a:p>
            <a:pPr algn="l">
              <a:lnSpc>
                <a:spcPts val="2047"/>
              </a:lnSpc>
              <a:spcBef>
                <a:spcPts val="0"/>
              </a:spcBef>
              <a:spcAft>
                <a:spcPts val="0"/>
              </a:spcAft>
            </a:pPr>
            <a:r>
              <a:rPr sz="1575" b="1" i="0" u="none">
                <a:solidFill>
                  <a:srgbClr val="132238"/>
                </a:solidFill>
                <a:latin typeface="Arial"/>
              </a:rPr>
              <a:t>Admin revenue dashboards, appointment breakdowns, and a star-rating review system.</a:t>
            </a:r>
          </a:p>
        </p:txBody>
      </p:sp>
      <p:sp>
        <p:nvSpPr>
          <p:cNvPr id="18" name="Page number"/>
          <p:cNvSpPr txBox="1"/>
          <p:nvPr/>
        </p:nvSpPr>
        <p:spPr>
          <a:xfrm>
            <a:off x="10934700" y="6477000"/>
            <a:ext cx="571500" cy="190500"/>
          </a:xfrm>
          <a:prstGeom prst="rect">
            <a:avLst/>
          </a:prstGeom>
          <a:noFill/>
          <a:ln>
            <a:noFill/>
          </a:ln>
        </p:spPr>
        <p:txBody>
          <a:bodyPr wrap="square" lIns="0" tIns="0" rIns="0" bIns="0" anchor="t">
            <a:noAutofit/>
          </a:bodyPr>
          <a:lstStyle/>
          <a:p>
            <a:pPr algn="r">
              <a:spcBef>
                <a:spcPts val="0"/>
              </a:spcBef>
              <a:spcAft>
                <a:spcPts val="0"/>
              </a:spcAft>
            </a:pPr>
            <a:r>
              <a:rPr sz="825" b="0" i="0" u="none">
                <a:solidFill>
                  <a:srgbClr val="5B6B84"/>
                </a:solidFill>
                <a:latin typeface="Arial"/>
              </a:rPr>
              <a:t>7 / 29</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Section label"/>
          <p:cNvSpPr txBox="1"/>
          <p:nvPr/>
        </p:nvSpPr>
        <p:spPr>
          <a:xfrm>
            <a:off x="685800" y="685800"/>
            <a:ext cx="9525000" cy="247649"/>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1" i="0" u="none">
                <a:solidFill>
                  <a:srgbClr val="93A3B8"/>
                </a:solidFill>
                <a:latin typeface="Arial"/>
              </a:rPr>
              <a:t>MEDICARE PRO BY THE NUMBERS</a:t>
            </a:r>
          </a:p>
        </p:txBody>
      </p:sp>
      <p:sp>
        <p:nvSpPr>
          <p:cNvPr id="3" name="Title accent"/>
          <p:cNvSpPr/>
          <p:nvPr/>
        </p:nvSpPr>
        <p:spPr>
          <a:xfrm>
            <a:off x="685800" y="1009650"/>
            <a:ext cx="419100" cy="38100"/>
          </a:xfrm>
          <a:prstGeom prst="rect">
            <a:avLst/>
          </a:prstGeom>
          <a:solidFill>
            <a:srgbClr val="2DD4BF"/>
          </a:solidFill>
          <a:ln>
            <a:noFill/>
          </a:ln>
        </p:spPr>
        <p:txBody>
          <a:bodyPr rtlCol="0" anchor="ctr"/>
          <a:lstStyle/>
          <a:p>
            <a:pPr algn="ctr"/>
            <a:endParaRPr/>
          </a:p>
        </p:txBody>
      </p:sp>
      <p:sp>
        <p:nvSpPr>
          <p:cNvPr id="4" name="Slide title"/>
          <p:cNvSpPr txBox="1"/>
          <p:nvPr/>
        </p:nvSpPr>
        <p:spPr>
          <a:xfrm>
            <a:off x="685800" y="1181100"/>
            <a:ext cx="10820400" cy="876300"/>
          </a:xfrm>
          <a:prstGeom prst="rect">
            <a:avLst/>
          </a:prstGeom>
          <a:noFill/>
          <a:ln>
            <a:noFill/>
          </a:ln>
        </p:spPr>
        <p:txBody>
          <a:bodyPr wrap="square" lIns="0" tIns="0" rIns="0" bIns="0" anchor="t">
            <a:noAutofit/>
          </a:bodyPr>
          <a:lstStyle/>
          <a:p>
            <a:pPr algn="l">
              <a:lnSpc>
                <a:spcPts val="3120"/>
              </a:lnSpc>
              <a:spcBef>
                <a:spcPts val="0"/>
              </a:spcBef>
              <a:spcAft>
                <a:spcPts val="0"/>
              </a:spcAft>
            </a:pPr>
            <a:r>
              <a:rPr sz="3000" b="1" i="0" u="none">
                <a:solidFill>
                  <a:srgbClr val="F3F6FA"/>
                </a:solidFill>
                <a:latin typeface="Arial"/>
              </a:rPr>
              <a:t>Project Statistics</a:t>
            </a:r>
          </a:p>
        </p:txBody>
      </p:sp>
      <p:sp>
        <p:nvSpPr>
          <p:cNvPr id="5" name="Total Pages card"/>
          <p:cNvSpPr/>
          <p:nvPr/>
        </p:nvSpPr>
        <p:spPr>
          <a:xfrm>
            <a:off x="685800" y="2171700"/>
            <a:ext cx="3479800" cy="1828800"/>
          </a:xfrm>
          <a:prstGeom prst="roundRect">
            <a:avLst>
              <a:gd name="adj" fmla="val 6250"/>
            </a:avLst>
          </a:prstGeom>
          <a:solidFill>
            <a:srgbClr val="2DD4BF"/>
          </a:solidFill>
          <a:ln w="9525">
            <a:solidFill>
              <a:srgbClr val="2DD4BF"/>
            </a:solidFill>
          </a:ln>
        </p:spPr>
        <p:txBody>
          <a:bodyPr rtlCol="0" anchor="ctr"/>
          <a:lstStyle/>
          <a:p>
            <a:pPr algn="ctr"/>
            <a:endParaRPr/>
          </a:p>
        </p:txBody>
      </p:sp>
      <p:sp>
        <p:nvSpPr>
          <p:cNvPr id="6" name="Total Pages icon"/>
          <p:cNvSpPr txBox="1"/>
          <p:nvPr/>
        </p:nvSpPr>
        <p:spPr>
          <a:xfrm>
            <a:off x="914400" y="2343150"/>
            <a:ext cx="3022600" cy="285750"/>
          </a:xfrm>
          <a:prstGeom prst="rect">
            <a:avLst/>
          </a:prstGeom>
          <a:noFill/>
          <a:ln>
            <a:noFill/>
          </a:ln>
        </p:spPr>
        <p:txBody>
          <a:bodyPr wrap="square" lIns="0" tIns="0" rIns="0" bIns="0" anchor="t">
            <a:noAutofit/>
          </a:bodyPr>
          <a:lstStyle/>
          <a:p>
            <a:pPr algn="l">
              <a:lnSpc>
                <a:spcPts val="1913"/>
              </a:lnSpc>
              <a:spcBef>
                <a:spcPts val="0"/>
              </a:spcBef>
              <a:spcAft>
                <a:spcPts val="0"/>
              </a:spcAft>
            </a:pPr>
            <a:r>
              <a:rPr sz="1650" b="0" i="0" u="none">
                <a:solidFill>
                  <a:srgbClr val="F3F6FA"/>
                </a:solidFill>
                <a:latin typeface="Arial"/>
              </a:rPr>
              <a:t>📄</a:t>
            </a:r>
          </a:p>
        </p:txBody>
      </p:sp>
      <p:sp>
        <p:nvSpPr>
          <p:cNvPr id="7" name="Total Pages value"/>
          <p:cNvSpPr txBox="1"/>
          <p:nvPr/>
        </p:nvSpPr>
        <p:spPr>
          <a:xfrm>
            <a:off x="914400" y="2667000"/>
            <a:ext cx="3022600" cy="533400"/>
          </a:xfrm>
          <a:prstGeom prst="rect">
            <a:avLst/>
          </a:prstGeom>
          <a:noFill/>
          <a:ln>
            <a:noFill/>
          </a:ln>
        </p:spPr>
        <p:txBody>
          <a:bodyPr wrap="square" lIns="0" tIns="0" rIns="0" bIns="0" anchor="t">
            <a:noAutofit/>
          </a:bodyPr>
          <a:lstStyle/>
          <a:p>
            <a:pPr algn="l">
              <a:lnSpc>
                <a:spcPts val="3450"/>
              </a:lnSpc>
              <a:spcBef>
                <a:spcPts val="0"/>
              </a:spcBef>
              <a:spcAft>
                <a:spcPts val="0"/>
              </a:spcAft>
            </a:pPr>
            <a:r>
              <a:rPr sz="3450" b="1" i="0" u="none">
                <a:solidFill>
                  <a:srgbClr val="FFFFFF"/>
                </a:solidFill>
                <a:latin typeface="Arial"/>
              </a:rPr>
              <a:t>27</a:t>
            </a:r>
          </a:p>
        </p:txBody>
      </p:sp>
      <p:sp>
        <p:nvSpPr>
          <p:cNvPr id="8" name="Total Pages title"/>
          <p:cNvSpPr txBox="1"/>
          <p:nvPr/>
        </p:nvSpPr>
        <p:spPr>
          <a:xfrm>
            <a:off x="914400" y="3238500"/>
            <a:ext cx="3022600" cy="228600"/>
          </a:xfrm>
          <a:prstGeom prst="rect">
            <a:avLst/>
          </a:prstGeom>
          <a:noFill/>
          <a:ln>
            <a:noFill/>
          </a:ln>
        </p:spPr>
        <p:txBody>
          <a:bodyPr wrap="square" lIns="0" tIns="0" rIns="0" bIns="0" anchor="t">
            <a:noAutofit/>
          </a:bodyPr>
          <a:lstStyle/>
          <a:p>
            <a:pPr algn="l">
              <a:lnSpc>
                <a:spcPts val="1479"/>
              </a:lnSpc>
              <a:spcBef>
                <a:spcPts val="0"/>
              </a:spcBef>
              <a:spcAft>
                <a:spcPts val="0"/>
              </a:spcAft>
            </a:pPr>
            <a:r>
              <a:rPr sz="1275" b="1" i="0" u="none">
                <a:solidFill>
                  <a:srgbClr val="FFFFFF"/>
                </a:solidFill>
                <a:latin typeface="Arial"/>
              </a:rPr>
              <a:t>Total Pages</a:t>
            </a:r>
          </a:p>
        </p:txBody>
      </p:sp>
      <p:sp>
        <p:nvSpPr>
          <p:cNvPr id="9" name="Total Pages detail"/>
          <p:cNvSpPr txBox="1"/>
          <p:nvPr/>
        </p:nvSpPr>
        <p:spPr>
          <a:xfrm>
            <a:off x="914400" y="3486150"/>
            <a:ext cx="3022600" cy="381000"/>
          </a:xfrm>
          <a:prstGeom prst="rect">
            <a:avLst/>
          </a:prstGeom>
          <a:noFill/>
          <a:ln>
            <a:noFill/>
          </a:ln>
        </p:spPr>
        <p:txBody>
          <a:bodyPr wrap="square" lIns="0" tIns="0" rIns="0" bIns="0" anchor="t">
            <a:noAutofit/>
          </a:bodyPr>
          <a:lstStyle/>
          <a:p>
            <a:pPr algn="l">
              <a:lnSpc>
                <a:spcPts val="1218"/>
              </a:lnSpc>
              <a:spcBef>
                <a:spcPts val="0"/>
              </a:spcBef>
              <a:spcAft>
                <a:spcPts val="0"/>
              </a:spcAft>
            </a:pPr>
            <a:r>
              <a:rPr sz="975" b="0" i="0" u="none">
                <a:solidFill>
                  <a:srgbClr val="000000"/>
                </a:solidFill>
                <a:latin typeface="Arial"/>
              </a:rPr>
              <a:t>Patient, doctor, admin &amp; public</a:t>
            </a:r>
          </a:p>
        </p:txBody>
      </p:sp>
      <p:sp>
        <p:nvSpPr>
          <p:cNvPr id="10" name="REST API Routes card"/>
          <p:cNvSpPr/>
          <p:nvPr/>
        </p:nvSpPr>
        <p:spPr>
          <a:xfrm>
            <a:off x="4356100" y="2171700"/>
            <a:ext cx="3479800" cy="1828800"/>
          </a:xfrm>
          <a:prstGeom prst="roundRect">
            <a:avLst>
              <a:gd name="adj" fmla="val 6250"/>
            </a:avLst>
          </a:prstGeom>
          <a:solidFill>
            <a:srgbClr val="141C2E"/>
          </a:solidFill>
          <a:ln w="9525">
            <a:solidFill>
              <a:srgbClr val="28334A"/>
            </a:solidFill>
          </a:ln>
        </p:spPr>
        <p:txBody>
          <a:bodyPr rtlCol="0" anchor="ctr"/>
          <a:lstStyle/>
          <a:p>
            <a:pPr algn="ctr"/>
            <a:endParaRPr/>
          </a:p>
        </p:txBody>
      </p:sp>
      <p:sp>
        <p:nvSpPr>
          <p:cNvPr id="11" name="REST API Routes icon"/>
          <p:cNvSpPr txBox="1"/>
          <p:nvPr/>
        </p:nvSpPr>
        <p:spPr>
          <a:xfrm>
            <a:off x="4584700" y="2343150"/>
            <a:ext cx="3022600" cy="285750"/>
          </a:xfrm>
          <a:prstGeom prst="rect">
            <a:avLst/>
          </a:prstGeom>
          <a:noFill/>
          <a:ln>
            <a:noFill/>
          </a:ln>
        </p:spPr>
        <p:txBody>
          <a:bodyPr wrap="square" lIns="0" tIns="0" rIns="0" bIns="0" anchor="t">
            <a:noAutofit/>
          </a:bodyPr>
          <a:lstStyle/>
          <a:p>
            <a:pPr algn="l">
              <a:lnSpc>
                <a:spcPts val="1913"/>
              </a:lnSpc>
              <a:spcBef>
                <a:spcPts val="0"/>
              </a:spcBef>
              <a:spcAft>
                <a:spcPts val="0"/>
              </a:spcAft>
            </a:pPr>
            <a:r>
              <a:rPr sz="1650" b="0" i="0" u="none">
                <a:solidFill>
                  <a:srgbClr val="F3F6FA"/>
                </a:solidFill>
                <a:latin typeface="Arial"/>
              </a:rPr>
              <a:t>🔌</a:t>
            </a:r>
          </a:p>
        </p:txBody>
      </p:sp>
      <p:sp>
        <p:nvSpPr>
          <p:cNvPr id="12" name="REST API Routes value"/>
          <p:cNvSpPr txBox="1"/>
          <p:nvPr/>
        </p:nvSpPr>
        <p:spPr>
          <a:xfrm>
            <a:off x="4584700" y="2667000"/>
            <a:ext cx="3022600" cy="533400"/>
          </a:xfrm>
          <a:prstGeom prst="rect">
            <a:avLst/>
          </a:prstGeom>
          <a:noFill/>
          <a:ln>
            <a:noFill/>
          </a:ln>
        </p:spPr>
        <p:txBody>
          <a:bodyPr wrap="square" lIns="0" tIns="0" rIns="0" bIns="0" anchor="t">
            <a:noAutofit/>
          </a:bodyPr>
          <a:lstStyle/>
          <a:p>
            <a:pPr algn="l">
              <a:lnSpc>
                <a:spcPts val="3450"/>
              </a:lnSpc>
              <a:spcBef>
                <a:spcPts val="0"/>
              </a:spcBef>
              <a:spcAft>
                <a:spcPts val="0"/>
              </a:spcAft>
            </a:pPr>
            <a:r>
              <a:rPr sz="3450" b="1" i="0" u="none">
                <a:solidFill>
                  <a:srgbClr val="2DD4BF"/>
                </a:solidFill>
                <a:latin typeface="Arial"/>
              </a:rPr>
              <a:t>34</a:t>
            </a:r>
          </a:p>
        </p:txBody>
      </p:sp>
      <p:sp>
        <p:nvSpPr>
          <p:cNvPr id="13" name="REST API Routes title"/>
          <p:cNvSpPr txBox="1"/>
          <p:nvPr/>
        </p:nvSpPr>
        <p:spPr>
          <a:xfrm>
            <a:off x="4584700" y="3238500"/>
            <a:ext cx="3022600" cy="228600"/>
          </a:xfrm>
          <a:prstGeom prst="rect">
            <a:avLst/>
          </a:prstGeom>
          <a:noFill/>
          <a:ln>
            <a:noFill/>
          </a:ln>
        </p:spPr>
        <p:txBody>
          <a:bodyPr wrap="square" lIns="0" tIns="0" rIns="0" bIns="0" anchor="t">
            <a:noAutofit/>
          </a:bodyPr>
          <a:lstStyle/>
          <a:p>
            <a:pPr algn="l">
              <a:lnSpc>
                <a:spcPts val="1479"/>
              </a:lnSpc>
              <a:spcBef>
                <a:spcPts val="0"/>
              </a:spcBef>
              <a:spcAft>
                <a:spcPts val="0"/>
              </a:spcAft>
            </a:pPr>
            <a:r>
              <a:rPr sz="1275" b="1" i="0" u="none">
                <a:solidFill>
                  <a:srgbClr val="F3F6FA"/>
                </a:solidFill>
                <a:latin typeface="Arial"/>
              </a:rPr>
              <a:t>REST API Routes</a:t>
            </a:r>
          </a:p>
        </p:txBody>
      </p:sp>
      <p:sp>
        <p:nvSpPr>
          <p:cNvPr id="14" name="REST API Routes detail"/>
          <p:cNvSpPr txBox="1"/>
          <p:nvPr/>
        </p:nvSpPr>
        <p:spPr>
          <a:xfrm>
            <a:off x="4584700" y="3486150"/>
            <a:ext cx="3022600" cy="381000"/>
          </a:xfrm>
          <a:prstGeom prst="rect">
            <a:avLst/>
          </a:prstGeom>
          <a:noFill/>
          <a:ln>
            <a:noFill/>
          </a:ln>
        </p:spPr>
        <p:txBody>
          <a:bodyPr wrap="square" lIns="0" tIns="0" rIns="0" bIns="0" anchor="t">
            <a:noAutofit/>
          </a:bodyPr>
          <a:lstStyle/>
          <a:p>
            <a:pPr algn="l">
              <a:lnSpc>
                <a:spcPts val="1218"/>
              </a:lnSpc>
              <a:spcBef>
                <a:spcPts val="0"/>
              </a:spcBef>
              <a:spcAft>
                <a:spcPts val="0"/>
              </a:spcAft>
            </a:pPr>
            <a:r>
              <a:rPr sz="975" b="0" i="0" u="none">
                <a:solidFill>
                  <a:srgbClr val="93A3B8"/>
                </a:solidFill>
                <a:latin typeface="Arial"/>
              </a:rPr>
              <a:t>41 endpoints across 8 modules</a:t>
            </a:r>
          </a:p>
        </p:txBody>
      </p:sp>
      <p:sp>
        <p:nvSpPr>
          <p:cNvPr id="15" name="Database Tables card"/>
          <p:cNvSpPr/>
          <p:nvPr/>
        </p:nvSpPr>
        <p:spPr>
          <a:xfrm>
            <a:off x="8026399" y="2171700"/>
            <a:ext cx="3479800" cy="1828800"/>
          </a:xfrm>
          <a:prstGeom prst="roundRect">
            <a:avLst>
              <a:gd name="adj" fmla="val 6250"/>
            </a:avLst>
          </a:prstGeom>
          <a:solidFill>
            <a:srgbClr val="141C2E"/>
          </a:solidFill>
          <a:ln w="9525">
            <a:solidFill>
              <a:srgbClr val="28334A"/>
            </a:solidFill>
          </a:ln>
        </p:spPr>
        <p:txBody>
          <a:bodyPr rtlCol="0" anchor="ctr"/>
          <a:lstStyle/>
          <a:p>
            <a:pPr algn="ctr"/>
            <a:endParaRPr/>
          </a:p>
        </p:txBody>
      </p:sp>
      <p:sp>
        <p:nvSpPr>
          <p:cNvPr id="16" name="Database Tables icon"/>
          <p:cNvSpPr txBox="1"/>
          <p:nvPr/>
        </p:nvSpPr>
        <p:spPr>
          <a:xfrm>
            <a:off x="8254999" y="2343150"/>
            <a:ext cx="3022600" cy="285750"/>
          </a:xfrm>
          <a:prstGeom prst="rect">
            <a:avLst/>
          </a:prstGeom>
          <a:noFill/>
          <a:ln>
            <a:noFill/>
          </a:ln>
        </p:spPr>
        <p:txBody>
          <a:bodyPr wrap="square" lIns="0" tIns="0" rIns="0" bIns="0" anchor="t">
            <a:noAutofit/>
          </a:bodyPr>
          <a:lstStyle/>
          <a:p>
            <a:pPr algn="l">
              <a:lnSpc>
                <a:spcPts val="1913"/>
              </a:lnSpc>
              <a:spcBef>
                <a:spcPts val="0"/>
              </a:spcBef>
              <a:spcAft>
                <a:spcPts val="0"/>
              </a:spcAft>
            </a:pPr>
            <a:r>
              <a:rPr sz="1650" b="0" i="0" u="none">
                <a:solidFill>
                  <a:srgbClr val="F3F6FA"/>
                </a:solidFill>
                <a:latin typeface="Arial"/>
              </a:rPr>
              <a:t>🗄️</a:t>
            </a:r>
          </a:p>
        </p:txBody>
      </p:sp>
      <p:sp>
        <p:nvSpPr>
          <p:cNvPr id="17" name="Database Tables value"/>
          <p:cNvSpPr txBox="1"/>
          <p:nvPr/>
        </p:nvSpPr>
        <p:spPr>
          <a:xfrm>
            <a:off x="8254999" y="2667000"/>
            <a:ext cx="3022600" cy="533400"/>
          </a:xfrm>
          <a:prstGeom prst="rect">
            <a:avLst/>
          </a:prstGeom>
          <a:noFill/>
          <a:ln>
            <a:noFill/>
          </a:ln>
        </p:spPr>
        <p:txBody>
          <a:bodyPr wrap="square" lIns="0" tIns="0" rIns="0" bIns="0" anchor="t">
            <a:noAutofit/>
          </a:bodyPr>
          <a:lstStyle/>
          <a:p>
            <a:pPr algn="l">
              <a:lnSpc>
                <a:spcPts val="3450"/>
              </a:lnSpc>
              <a:spcBef>
                <a:spcPts val="0"/>
              </a:spcBef>
              <a:spcAft>
                <a:spcPts val="0"/>
              </a:spcAft>
            </a:pPr>
            <a:r>
              <a:rPr sz="3450" b="1" i="0" u="none">
                <a:solidFill>
                  <a:srgbClr val="2DD4BF"/>
                </a:solidFill>
                <a:latin typeface="Arial"/>
              </a:rPr>
              <a:t>7</a:t>
            </a:r>
          </a:p>
        </p:txBody>
      </p:sp>
      <p:sp>
        <p:nvSpPr>
          <p:cNvPr id="18" name="Database Tables title"/>
          <p:cNvSpPr txBox="1"/>
          <p:nvPr/>
        </p:nvSpPr>
        <p:spPr>
          <a:xfrm>
            <a:off x="8254999" y="3238500"/>
            <a:ext cx="3022600" cy="228600"/>
          </a:xfrm>
          <a:prstGeom prst="rect">
            <a:avLst/>
          </a:prstGeom>
          <a:noFill/>
          <a:ln>
            <a:noFill/>
          </a:ln>
        </p:spPr>
        <p:txBody>
          <a:bodyPr wrap="square" lIns="0" tIns="0" rIns="0" bIns="0" anchor="t">
            <a:noAutofit/>
          </a:bodyPr>
          <a:lstStyle/>
          <a:p>
            <a:pPr algn="l">
              <a:lnSpc>
                <a:spcPts val="1479"/>
              </a:lnSpc>
              <a:spcBef>
                <a:spcPts val="0"/>
              </a:spcBef>
              <a:spcAft>
                <a:spcPts val="0"/>
              </a:spcAft>
            </a:pPr>
            <a:r>
              <a:rPr sz="1275" b="1" i="0" u="none">
                <a:solidFill>
                  <a:srgbClr val="F3F6FA"/>
                </a:solidFill>
                <a:latin typeface="Arial"/>
              </a:rPr>
              <a:t>Database Tables</a:t>
            </a:r>
          </a:p>
        </p:txBody>
      </p:sp>
      <p:sp>
        <p:nvSpPr>
          <p:cNvPr id="19" name="Database Tables detail"/>
          <p:cNvSpPr txBox="1"/>
          <p:nvPr/>
        </p:nvSpPr>
        <p:spPr>
          <a:xfrm>
            <a:off x="8254999" y="3486150"/>
            <a:ext cx="3022600" cy="381000"/>
          </a:xfrm>
          <a:prstGeom prst="rect">
            <a:avLst/>
          </a:prstGeom>
          <a:noFill/>
          <a:ln>
            <a:noFill/>
          </a:ln>
        </p:spPr>
        <p:txBody>
          <a:bodyPr wrap="square" lIns="0" tIns="0" rIns="0" bIns="0" anchor="t">
            <a:noAutofit/>
          </a:bodyPr>
          <a:lstStyle/>
          <a:p>
            <a:pPr algn="l">
              <a:lnSpc>
                <a:spcPts val="1218"/>
              </a:lnSpc>
              <a:spcBef>
                <a:spcPts val="0"/>
              </a:spcBef>
              <a:spcAft>
                <a:spcPts val="0"/>
              </a:spcAft>
            </a:pPr>
            <a:r>
              <a:rPr sz="975" b="0" i="0" u="none">
                <a:solidFill>
                  <a:srgbClr val="93A3B8"/>
                </a:solidFill>
                <a:latin typeface="Arial"/>
              </a:rPr>
              <a:t>SQL Server, fully relational</a:t>
            </a:r>
          </a:p>
        </p:txBody>
      </p:sp>
      <p:sp>
        <p:nvSpPr>
          <p:cNvPr id="20" name="User Roles card"/>
          <p:cNvSpPr/>
          <p:nvPr/>
        </p:nvSpPr>
        <p:spPr>
          <a:xfrm>
            <a:off x="685800" y="4190999"/>
            <a:ext cx="3479800" cy="1828800"/>
          </a:xfrm>
          <a:prstGeom prst="roundRect">
            <a:avLst>
              <a:gd name="adj" fmla="val 6250"/>
            </a:avLst>
          </a:prstGeom>
          <a:solidFill>
            <a:srgbClr val="141C2E"/>
          </a:solidFill>
          <a:ln w="9525">
            <a:solidFill>
              <a:srgbClr val="28334A"/>
            </a:solidFill>
          </a:ln>
        </p:spPr>
        <p:txBody>
          <a:bodyPr rtlCol="0" anchor="ctr"/>
          <a:lstStyle/>
          <a:p>
            <a:pPr algn="ctr"/>
            <a:endParaRPr/>
          </a:p>
        </p:txBody>
      </p:sp>
      <p:sp>
        <p:nvSpPr>
          <p:cNvPr id="21" name="User Roles icon"/>
          <p:cNvSpPr txBox="1"/>
          <p:nvPr/>
        </p:nvSpPr>
        <p:spPr>
          <a:xfrm>
            <a:off x="914400" y="4362450"/>
            <a:ext cx="3022600" cy="285750"/>
          </a:xfrm>
          <a:prstGeom prst="rect">
            <a:avLst/>
          </a:prstGeom>
          <a:noFill/>
          <a:ln>
            <a:noFill/>
          </a:ln>
        </p:spPr>
        <p:txBody>
          <a:bodyPr wrap="square" lIns="0" tIns="0" rIns="0" bIns="0" anchor="t">
            <a:noAutofit/>
          </a:bodyPr>
          <a:lstStyle/>
          <a:p>
            <a:pPr algn="l">
              <a:lnSpc>
                <a:spcPts val="1913"/>
              </a:lnSpc>
              <a:spcBef>
                <a:spcPts val="0"/>
              </a:spcBef>
              <a:spcAft>
                <a:spcPts val="0"/>
              </a:spcAft>
            </a:pPr>
            <a:r>
              <a:rPr sz="1650" b="0" i="0" u="none">
                <a:solidFill>
                  <a:srgbClr val="F3F6FA"/>
                </a:solidFill>
                <a:latin typeface="Arial"/>
              </a:rPr>
              <a:t>👥</a:t>
            </a:r>
          </a:p>
        </p:txBody>
      </p:sp>
      <p:sp>
        <p:nvSpPr>
          <p:cNvPr id="22" name="User Roles value"/>
          <p:cNvSpPr txBox="1"/>
          <p:nvPr/>
        </p:nvSpPr>
        <p:spPr>
          <a:xfrm>
            <a:off x="914400" y="4686300"/>
            <a:ext cx="3022600" cy="533400"/>
          </a:xfrm>
          <a:prstGeom prst="rect">
            <a:avLst/>
          </a:prstGeom>
          <a:noFill/>
          <a:ln>
            <a:noFill/>
          </a:ln>
        </p:spPr>
        <p:txBody>
          <a:bodyPr wrap="square" lIns="0" tIns="0" rIns="0" bIns="0" anchor="t">
            <a:noAutofit/>
          </a:bodyPr>
          <a:lstStyle/>
          <a:p>
            <a:pPr algn="l">
              <a:lnSpc>
                <a:spcPts val="3450"/>
              </a:lnSpc>
              <a:spcBef>
                <a:spcPts val="0"/>
              </a:spcBef>
              <a:spcAft>
                <a:spcPts val="0"/>
              </a:spcAft>
            </a:pPr>
            <a:r>
              <a:rPr sz="3450" b="1" i="0" u="none">
                <a:solidFill>
                  <a:srgbClr val="2DD4BF"/>
                </a:solidFill>
                <a:latin typeface="Arial"/>
              </a:rPr>
              <a:t>3</a:t>
            </a:r>
          </a:p>
        </p:txBody>
      </p:sp>
      <p:sp>
        <p:nvSpPr>
          <p:cNvPr id="23" name="User Roles title"/>
          <p:cNvSpPr txBox="1"/>
          <p:nvPr/>
        </p:nvSpPr>
        <p:spPr>
          <a:xfrm>
            <a:off x="914400" y="5257800"/>
            <a:ext cx="3022600" cy="228600"/>
          </a:xfrm>
          <a:prstGeom prst="rect">
            <a:avLst/>
          </a:prstGeom>
          <a:noFill/>
          <a:ln>
            <a:noFill/>
          </a:ln>
        </p:spPr>
        <p:txBody>
          <a:bodyPr wrap="square" lIns="0" tIns="0" rIns="0" bIns="0" anchor="t">
            <a:noAutofit/>
          </a:bodyPr>
          <a:lstStyle/>
          <a:p>
            <a:pPr algn="l">
              <a:lnSpc>
                <a:spcPts val="1479"/>
              </a:lnSpc>
              <a:spcBef>
                <a:spcPts val="0"/>
              </a:spcBef>
              <a:spcAft>
                <a:spcPts val="0"/>
              </a:spcAft>
            </a:pPr>
            <a:r>
              <a:rPr sz="1275" b="1" i="0" u="none">
                <a:solidFill>
                  <a:srgbClr val="F3F6FA"/>
                </a:solidFill>
                <a:latin typeface="Arial"/>
              </a:rPr>
              <a:t>User Roles</a:t>
            </a:r>
          </a:p>
        </p:txBody>
      </p:sp>
      <p:sp>
        <p:nvSpPr>
          <p:cNvPr id="24" name="User Roles detail"/>
          <p:cNvSpPr txBox="1"/>
          <p:nvPr/>
        </p:nvSpPr>
        <p:spPr>
          <a:xfrm>
            <a:off x="914400" y="5505450"/>
            <a:ext cx="3022600" cy="381000"/>
          </a:xfrm>
          <a:prstGeom prst="rect">
            <a:avLst/>
          </a:prstGeom>
          <a:noFill/>
          <a:ln>
            <a:noFill/>
          </a:ln>
        </p:spPr>
        <p:txBody>
          <a:bodyPr wrap="square" lIns="0" tIns="0" rIns="0" bIns="0" anchor="t">
            <a:noAutofit/>
          </a:bodyPr>
          <a:lstStyle/>
          <a:p>
            <a:pPr algn="l">
              <a:lnSpc>
                <a:spcPts val="1218"/>
              </a:lnSpc>
              <a:spcBef>
                <a:spcPts val="0"/>
              </a:spcBef>
              <a:spcAft>
                <a:spcPts val="0"/>
              </a:spcAft>
            </a:pPr>
            <a:r>
              <a:rPr sz="975" b="0" i="0" u="none">
                <a:solidFill>
                  <a:srgbClr val="93A3B8"/>
                </a:solidFill>
                <a:latin typeface="Arial"/>
              </a:rPr>
              <a:t>Patient · Doctor · Admin</a:t>
            </a:r>
          </a:p>
        </p:txBody>
      </p:sp>
      <p:sp>
        <p:nvSpPr>
          <p:cNvPr id="25" name="Stripe Integrated card"/>
          <p:cNvSpPr/>
          <p:nvPr/>
        </p:nvSpPr>
        <p:spPr>
          <a:xfrm>
            <a:off x="4356100" y="4190999"/>
            <a:ext cx="3479800" cy="1828800"/>
          </a:xfrm>
          <a:prstGeom prst="roundRect">
            <a:avLst>
              <a:gd name="adj" fmla="val 6250"/>
            </a:avLst>
          </a:prstGeom>
          <a:solidFill>
            <a:srgbClr val="141C2E"/>
          </a:solidFill>
          <a:ln w="9525">
            <a:solidFill>
              <a:srgbClr val="28334A"/>
            </a:solidFill>
          </a:ln>
        </p:spPr>
        <p:txBody>
          <a:bodyPr rtlCol="0" anchor="ctr"/>
          <a:lstStyle/>
          <a:p>
            <a:pPr algn="ctr"/>
            <a:endParaRPr/>
          </a:p>
        </p:txBody>
      </p:sp>
      <p:sp>
        <p:nvSpPr>
          <p:cNvPr id="26" name="Stripe Integrated icon"/>
          <p:cNvSpPr txBox="1"/>
          <p:nvPr/>
        </p:nvSpPr>
        <p:spPr>
          <a:xfrm>
            <a:off x="4584700" y="4362450"/>
            <a:ext cx="3022600" cy="285750"/>
          </a:xfrm>
          <a:prstGeom prst="rect">
            <a:avLst/>
          </a:prstGeom>
          <a:noFill/>
          <a:ln>
            <a:noFill/>
          </a:ln>
        </p:spPr>
        <p:txBody>
          <a:bodyPr wrap="square" lIns="0" tIns="0" rIns="0" bIns="0" anchor="t">
            <a:noAutofit/>
          </a:bodyPr>
          <a:lstStyle/>
          <a:p>
            <a:pPr algn="l">
              <a:lnSpc>
                <a:spcPts val="1913"/>
              </a:lnSpc>
              <a:spcBef>
                <a:spcPts val="0"/>
              </a:spcBef>
              <a:spcAft>
                <a:spcPts val="0"/>
              </a:spcAft>
            </a:pPr>
            <a:r>
              <a:rPr sz="1650" b="0" i="0" u="none">
                <a:solidFill>
                  <a:srgbClr val="F3F6FA"/>
                </a:solidFill>
                <a:latin typeface="Arial"/>
              </a:rPr>
              <a:t>💳</a:t>
            </a:r>
          </a:p>
        </p:txBody>
      </p:sp>
      <p:sp>
        <p:nvSpPr>
          <p:cNvPr id="27" name="Stripe Integrated value"/>
          <p:cNvSpPr txBox="1"/>
          <p:nvPr/>
        </p:nvSpPr>
        <p:spPr>
          <a:xfrm>
            <a:off x="4584700" y="4686300"/>
            <a:ext cx="3022600" cy="533400"/>
          </a:xfrm>
          <a:prstGeom prst="rect">
            <a:avLst/>
          </a:prstGeom>
          <a:noFill/>
          <a:ln>
            <a:noFill/>
          </a:ln>
        </p:spPr>
        <p:txBody>
          <a:bodyPr wrap="square" lIns="0" tIns="0" rIns="0" bIns="0" anchor="t">
            <a:noAutofit/>
          </a:bodyPr>
          <a:lstStyle/>
          <a:p>
            <a:pPr algn="l">
              <a:lnSpc>
                <a:spcPts val="3450"/>
              </a:lnSpc>
              <a:spcBef>
                <a:spcPts val="0"/>
              </a:spcBef>
              <a:spcAft>
                <a:spcPts val="0"/>
              </a:spcAft>
            </a:pPr>
            <a:r>
              <a:rPr sz="3450" b="1" i="0" u="none">
                <a:solidFill>
                  <a:srgbClr val="2DD4BF"/>
                </a:solidFill>
                <a:latin typeface="Arial"/>
              </a:rPr>
              <a:t>✓</a:t>
            </a:r>
          </a:p>
        </p:txBody>
      </p:sp>
      <p:sp>
        <p:nvSpPr>
          <p:cNvPr id="28" name="Stripe Integrated title"/>
          <p:cNvSpPr txBox="1"/>
          <p:nvPr/>
        </p:nvSpPr>
        <p:spPr>
          <a:xfrm>
            <a:off x="4584700" y="5257800"/>
            <a:ext cx="3022600" cy="228600"/>
          </a:xfrm>
          <a:prstGeom prst="rect">
            <a:avLst/>
          </a:prstGeom>
          <a:noFill/>
          <a:ln>
            <a:noFill/>
          </a:ln>
        </p:spPr>
        <p:txBody>
          <a:bodyPr wrap="square" lIns="0" tIns="0" rIns="0" bIns="0" anchor="t">
            <a:noAutofit/>
          </a:bodyPr>
          <a:lstStyle/>
          <a:p>
            <a:pPr algn="l">
              <a:lnSpc>
                <a:spcPts val="1479"/>
              </a:lnSpc>
              <a:spcBef>
                <a:spcPts val="0"/>
              </a:spcBef>
              <a:spcAft>
                <a:spcPts val="0"/>
              </a:spcAft>
            </a:pPr>
            <a:r>
              <a:rPr sz="1275" b="1" i="0" u="none">
                <a:solidFill>
                  <a:srgbClr val="F3F6FA"/>
                </a:solidFill>
                <a:latin typeface="Arial"/>
              </a:rPr>
              <a:t>Stripe Integrated</a:t>
            </a:r>
          </a:p>
        </p:txBody>
      </p:sp>
      <p:sp>
        <p:nvSpPr>
          <p:cNvPr id="29" name="Stripe Integrated detail"/>
          <p:cNvSpPr txBox="1"/>
          <p:nvPr/>
        </p:nvSpPr>
        <p:spPr>
          <a:xfrm>
            <a:off x="4584700" y="5505450"/>
            <a:ext cx="3022600" cy="381000"/>
          </a:xfrm>
          <a:prstGeom prst="rect">
            <a:avLst/>
          </a:prstGeom>
          <a:noFill/>
          <a:ln>
            <a:noFill/>
          </a:ln>
        </p:spPr>
        <p:txBody>
          <a:bodyPr wrap="square" lIns="0" tIns="0" rIns="0" bIns="0" anchor="t">
            <a:noAutofit/>
          </a:bodyPr>
          <a:lstStyle/>
          <a:p>
            <a:pPr algn="l">
              <a:lnSpc>
                <a:spcPts val="1218"/>
              </a:lnSpc>
              <a:spcBef>
                <a:spcPts val="0"/>
              </a:spcBef>
              <a:spcAft>
                <a:spcPts val="0"/>
              </a:spcAft>
            </a:pPr>
            <a:r>
              <a:rPr sz="975" b="0" i="0" u="none">
                <a:solidFill>
                  <a:srgbClr val="93A3B8"/>
                </a:solidFill>
                <a:latin typeface="Arial"/>
              </a:rPr>
              <a:t>Checkout, refunds &amp; sync</a:t>
            </a:r>
          </a:p>
        </p:txBody>
      </p:sp>
      <p:sp>
        <p:nvSpPr>
          <p:cNvPr id="30" name="JWT Secured card"/>
          <p:cNvSpPr/>
          <p:nvPr/>
        </p:nvSpPr>
        <p:spPr>
          <a:xfrm>
            <a:off x="8026399" y="4190999"/>
            <a:ext cx="3479800" cy="1828800"/>
          </a:xfrm>
          <a:prstGeom prst="roundRect">
            <a:avLst>
              <a:gd name="adj" fmla="val 6250"/>
            </a:avLst>
          </a:prstGeom>
          <a:solidFill>
            <a:srgbClr val="141C2E"/>
          </a:solidFill>
          <a:ln w="9525">
            <a:solidFill>
              <a:srgbClr val="28334A"/>
            </a:solidFill>
          </a:ln>
        </p:spPr>
        <p:txBody>
          <a:bodyPr rtlCol="0" anchor="ctr"/>
          <a:lstStyle/>
          <a:p>
            <a:pPr algn="ctr"/>
            <a:endParaRPr/>
          </a:p>
        </p:txBody>
      </p:sp>
      <p:sp>
        <p:nvSpPr>
          <p:cNvPr id="31" name="JWT Secured icon"/>
          <p:cNvSpPr txBox="1"/>
          <p:nvPr/>
        </p:nvSpPr>
        <p:spPr>
          <a:xfrm>
            <a:off x="8254999" y="4362450"/>
            <a:ext cx="3022600" cy="285750"/>
          </a:xfrm>
          <a:prstGeom prst="rect">
            <a:avLst/>
          </a:prstGeom>
          <a:noFill/>
          <a:ln>
            <a:noFill/>
          </a:ln>
        </p:spPr>
        <p:txBody>
          <a:bodyPr wrap="square" lIns="0" tIns="0" rIns="0" bIns="0" anchor="t">
            <a:noAutofit/>
          </a:bodyPr>
          <a:lstStyle/>
          <a:p>
            <a:pPr algn="l">
              <a:lnSpc>
                <a:spcPts val="1913"/>
              </a:lnSpc>
              <a:spcBef>
                <a:spcPts val="0"/>
              </a:spcBef>
              <a:spcAft>
                <a:spcPts val="0"/>
              </a:spcAft>
            </a:pPr>
            <a:r>
              <a:rPr sz="1650" b="0" i="0" u="none">
                <a:solidFill>
                  <a:srgbClr val="F3F6FA"/>
                </a:solidFill>
                <a:latin typeface="Arial"/>
              </a:rPr>
              <a:t>🔐</a:t>
            </a:r>
          </a:p>
        </p:txBody>
      </p:sp>
      <p:sp>
        <p:nvSpPr>
          <p:cNvPr id="32" name="JWT Secured value"/>
          <p:cNvSpPr txBox="1"/>
          <p:nvPr/>
        </p:nvSpPr>
        <p:spPr>
          <a:xfrm>
            <a:off x="8254999" y="4686300"/>
            <a:ext cx="3022600" cy="533400"/>
          </a:xfrm>
          <a:prstGeom prst="rect">
            <a:avLst/>
          </a:prstGeom>
          <a:noFill/>
          <a:ln>
            <a:noFill/>
          </a:ln>
        </p:spPr>
        <p:txBody>
          <a:bodyPr wrap="square" lIns="0" tIns="0" rIns="0" bIns="0" anchor="t">
            <a:noAutofit/>
          </a:bodyPr>
          <a:lstStyle/>
          <a:p>
            <a:pPr algn="l">
              <a:lnSpc>
                <a:spcPts val="3450"/>
              </a:lnSpc>
              <a:spcBef>
                <a:spcPts val="0"/>
              </a:spcBef>
              <a:spcAft>
                <a:spcPts val="0"/>
              </a:spcAft>
            </a:pPr>
            <a:r>
              <a:rPr sz="3450" b="1" i="0" u="none">
                <a:solidFill>
                  <a:srgbClr val="2DD4BF"/>
                </a:solidFill>
                <a:latin typeface="Arial"/>
              </a:rPr>
              <a:t>✓</a:t>
            </a:r>
          </a:p>
        </p:txBody>
      </p:sp>
      <p:sp>
        <p:nvSpPr>
          <p:cNvPr id="33" name="JWT Secured title"/>
          <p:cNvSpPr txBox="1"/>
          <p:nvPr/>
        </p:nvSpPr>
        <p:spPr>
          <a:xfrm>
            <a:off x="8254999" y="5257800"/>
            <a:ext cx="3022600" cy="228600"/>
          </a:xfrm>
          <a:prstGeom prst="rect">
            <a:avLst/>
          </a:prstGeom>
          <a:noFill/>
          <a:ln>
            <a:noFill/>
          </a:ln>
        </p:spPr>
        <p:txBody>
          <a:bodyPr wrap="square" lIns="0" tIns="0" rIns="0" bIns="0" anchor="t">
            <a:noAutofit/>
          </a:bodyPr>
          <a:lstStyle/>
          <a:p>
            <a:pPr algn="l">
              <a:lnSpc>
                <a:spcPts val="1479"/>
              </a:lnSpc>
              <a:spcBef>
                <a:spcPts val="0"/>
              </a:spcBef>
              <a:spcAft>
                <a:spcPts val="0"/>
              </a:spcAft>
            </a:pPr>
            <a:r>
              <a:rPr sz="1275" b="1" i="0" u="none">
                <a:solidFill>
                  <a:srgbClr val="F3F6FA"/>
                </a:solidFill>
                <a:latin typeface="Arial"/>
              </a:rPr>
              <a:t>JWT Secured</a:t>
            </a:r>
          </a:p>
        </p:txBody>
      </p:sp>
      <p:sp>
        <p:nvSpPr>
          <p:cNvPr id="34" name="JWT Secured detail"/>
          <p:cNvSpPr txBox="1"/>
          <p:nvPr/>
        </p:nvSpPr>
        <p:spPr>
          <a:xfrm>
            <a:off x="8254999" y="5505450"/>
            <a:ext cx="3022600" cy="381000"/>
          </a:xfrm>
          <a:prstGeom prst="rect">
            <a:avLst/>
          </a:prstGeom>
          <a:noFill/>
          <a:ln>
            <a:noFill/>
          </a:ln>
        </p:spPr>
        <p:txBody>
          <a:bodyPr wrap="square" lIns="0" tIns="0" rIns="0" bIns="0" anchor="t">
            <a:noAutofit/>
          </a:bodyPr>
          <a:lstStyle/>
          <a:p>
            <a:pPr algn="l">
              <a:lnSpc>
                <a:spcPts val="1218"/>
              </a:lnSpc>
              <a:spcBef>
                <a:spcPts val="0"/>
              </a:spcBef>
              <a:spcAft>
                <a:spcPts val="0"/>
              </a:spcAft>
            </a:pPr>
            <a:r>
              <a:rPr sz="975" b="0" i="0" u="none">
                <a:solidFill>
                  <a:srgbClr val="93A3B8"/>
                </a:solidFill>
                <a:latin typeface="Arial"/>
              </a:rPr>
              <a:t>Stateless, role-based auth</a:t>
            </a:r>
          </a:p>
        </p:txBody>
      </p:sp>
      <p:sp>
        <p:nvSpPr>
          <p:cNvPr id="35" name="Page number"/>
          <p:cNvSpPr txBox="1"/>
          <p:nvPr/>
        </p:nvSpPr>
        <p:spPr>
          <a:xfrm>
            <a:off x="10934700" y="6477000"/>
            <a:ext cx="571500" cy="190500"/>
          </a:xfrm>
          <a:prstGeom prst="rect">
            <a:avLst/>
          </a:prstGeom>
          <a:noFill/>
          <a:ln>
            <a:noFill/>
          </a:ln>
        </p:spPr>
        <p:txBody>
          <a:bodyPr wrap="square" lIns="0" tIns="0" rIns="0" bIns="0" anchor="t">
            <a:noAutofit/>
          </a:bodyPr>
          <a:lstStyle/>
          <a:p>
            <a:pPr algn="r">
              <a:spcBef>
                <a:spcPts val="0"/>
              </a:spcBef>
              <a:spcAft>
                <a:spcPts val="0"/>
              </a:spcAft>
            </a:pPr>
            <a:r>
              <a:rPr sz="825" b="0" i="0" u="none">
                <a:solidFill>
                  <a:srgbClr val="93A3B8"/>
                </a:solidFill>
                <a:latin typeface="Arial"/>
              </a:rPr>
              <a:t>8 / 29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Section label"/>
          <p:cNvSpPr txBox="1"/>
          <p:nvPr/>
        </p:nvSpPr>
        <p:spPr>
          <a:xfrm>
            <a:off x="685800" y="685800"/>
            <a:ext cx="9525000" cy="247649"/>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1" i="0" u="none">
                <a:solidFill>
                  <a:srgbClr val="93A3B8"/>
                </a:solidFill>
                <a:latin typeface="Arial"/>
              </a:rPr>
              <a:t>MODERN, INDUSTRY-STANDARD TECHNOLOGIES</a:t>
            </a:r>
          </a:p>
        </p:txBody>
      </p:sp>
      <p:sp>
        <p:nvSpPr>
          <p:cNvPr id="3" name="Title accent"/>
          <p:cNvSpPr/>
          <p:nvPr/>
        </p:nvSpPr>
        <p:spPr>
          <a:xfrm>
            <a:off x="685800" y="1009650"/>
            <a:ext cx="419100" cy="38100"/>
          </a:xfrm>
          <a:prstGeom prst="rect">
            <a:avLst/>
          </a:prstGeom>
          <a:solidFill>
            <a:srgbClr val="2DD4BF"/>
          </a:solidFill>
          <a:ln>
            <a:noFill/>
          </a:ln>
        </p:spPr>
        <p:txBody>
          <a:bodyPr rtlCol="0" anchor="ctr"/>
          <a:lstStyle/>
          <a:p>
            <a:pPr algn="ctr"/>
            <a:endParaRPr/>
          </a:p>
        </p:txBody>
      </p:sp>
      <p:sp>
        <p:nvSpPr>
          <p:cNvPr id="4" name="Slide title"/>
          <p:cNvSpPr txBox="1"/>
          <p:nvPr/>
        </p:nvSpPr>
        <p:spPr>
          <a:xfrm>
            <a:off x="685800" y="1181100"/>
            <a:ext cx="10820400" cy="876300"/>
          </a:xfrm>
          <a:prstGeom prst="rect">
            <a:avLst/>
          </a:prstGeom>
          <a:noFill/>
          <a:ln>
            <a:noFill/>
          </a:ln>
        </p:spPr>
        <p:txBody>
          <a:bodyPr wrap="square" lIns="0" tIns="0" rIns="0" bIns="0" anchor="t">
            <a:noAutofit/>
          </a:bodyPr>
          <a:lstStyle/>
          <a:p>
            <a:pPr algn="l">
              <a:lnSpc>
                <a:spcPts val="3120"/>
              </a:lnSpc>
              <a:spcBef>
                <a:spcPts val="0"/>
              </a:spcBef>
              <a:spcAft>
                <a:spcPts val="0"/>
              </a:spcAft>
            </a:pPr>
            <a:r>
              <a:rPr sz="3000" b="1" i="0" u="none">
                <a:solidFill>
                  <a:srgbClr val="F3F6FA"/>
                </a:solidFill>
                <a:latin typeface="Arial"/>
              </a:rPr>
              <a:t>Tech Stack</a:t>
            </a:r>
          </a:p>
        </p:txBody>
      </p:sp>
      <p:sp>
        <p:nvSpPr>
          <p:cNvPr id="5" name="React 19 tile"/>
          <p:cNvSpPr/>
          <p:nvPr/>
        </p:nvSpPr>
        <p:spPr>
          <a:xfrm>
            <a:off x="685800" y="2400300"/>
            <a:ext cx="1981199" cy="1143000"/>
          </a:xfrm>
          <a:prstGeom prst="roundRect">
            <a:avLst>
              <a:gd name="adj" fmla="val 10000"/>
            </a:avLst>
          </a:prstGeom>
          <a:solidFill>
            <a:srgbClr val="141C2E"/>
          </a:solidFill>
          <a:ln w="9525">
            <a:solidFill>
              <a:srgbClr val="28334A"/>
            </a:solidFill>
          </a:ln>
        </p:spPr>
        <p:txBody>
          <a:bodyPr rtlCol="0" anchor="ctr"/>
          <a:lstStyle/>
          <a:p>
            <a:pPr algn="ctr"/>
            <a:endParaRPr/>
          </a:p>
        </p:txBody>
      </p:sp>
      <p:pic>
        <p:nvPicPr>
          <p:cNvPr id="6" name="React 19 icon" descr="react_teal.png"/>
          <p:cNvPicPr>
            <a:picLocks noChangeAspect="1"/>
          </p:cNvPicPr>
          <p:nvPr/>
        </p:nvPicPr>
        <p:blipFill>
          <a:blip r:embed="rId2"/>
          <a:stretch>
            <a:fillRect/>
          </a:stretch>
        </p:blipFill>
        <p:spPr>
          <a:xfrm>
            <a:off x="1409700" y="2571750"/>
            <a:ext cx="533400" cy="533400"/>
          </a:xfrm>
          <a:prstGeom prst="rect">
            <a:avLst/>
          </a:prstGeom>
        </p:spPr>
      </p:pic>
      <p:sp>
        <p:nvSpPr>
          <p:cNvPr id="7" name="React 19 caption"/>
          <p:cNvSpPr txBox="1"/>
          <p:nvPr/>
        </p:nvSpPr>
        <p:spPr>
          <a:xfrm>
            <a:off x="762000" y="3200400"/>
            <a:ext cx="1828800" cy="247649"/>
          </a:xfrm>
          <a:prstGeom prst="rect">
            <a:avLst/>
          </a:prstGeom>
          <a:noFill/>
          <a:ln>
            <a:noFill/>
          </a:ln>
        </p:spPr>
        <p:txBody>
          <a:bodyPr wrap="square" lIns="0" tIns="0" rIns="0" bIns="0" anchor="t">
            <a:noAutofit/>
          </a:bodyPr>
          <a:lstStyle/>
          <a:p>
            <a:pPr algn="ctr">
              <a:lnSpc>
                <a:spcPts val="1305"/>
              </a:lnSpc>
              <a:spcBef>
                <a:spcPts val="0"/>
              </a:spcBef>
              <a:spcAft>
                <a:spcPts val="0"/>
              </a:spcAft>
            </a:pPr>
            <a:r>
              <a:rPr sz="1125" b="1" i="0" u="none">
                <a:solidFill>
                  <a:srgbClr val="F3F6FA"/>
                </a:solidFill>
                <a:latin typeface="Arial"/>
              </a:rPr>
              <a:t>React 19</a:t>
            </a:r>
          </a:p>
        </p:txBody>
      </p:sp>
      <p:sp>
        <p:nvSpPr>
          <p:cNvPr id="8" name="Vite tile"/>
          <p:cNvSpPr/>
          <p:nvPr/>
        </p:nvSpPr>
        <p:spPr>
          <a:xfrm>
            <a:off x="2895600" y="2400300"/>
            <a:ext cx="1981199" cy="1143000"/>
          </a:xfrm>
          <a:prstGeom prst="roundRect">
            <a:avLst>
              <a:gd name="adj" fmla="val 10000"/>
            </a:avLst>
          </a:prstGeom>
          <a:solidFill>
            <a:srgbClr val="141C2E"/>
          </a:solidFill>
          <a:ln w="9525">
            <a:solidFill>
              <a:srgbClr val="28334A"/>
            </a:solidFill>
          </a:ln>
        </p:spPr>
        <p:txBody>
          <a:bodyPr rtlCol="0" anchor="ctr"/>
          <a:lstStyle/>
          <a:p>
            <a:pPr algn="ctr"/>
            <a:endParaRPr/>
          </a:p>
        </p:txBody>
      </p:sp>
      <p:pic>
        <p:nvPicPr>
          <p:cNvPr id="9" name="Vite icon" descr="vite_teal.png"/>
          <p:cNvPicPr>
            <a:picLocks noChangeAspect="1"/>
          </p:cNvPicPr>
          <p:nvPr/>
        </p:nvPicPr>
        <p:blipFill>
          <a:blip r:embed="rId3"/>
          <a:stretch>
            <a:fillRect/>
          </a:stretch>
        </p:blipFill>
        <p:spPr>
          <a:xfrm>
            <a:off x="3619500" y="2571750"/>
            <a:ext cx="533400" cy="533400"/>
          </a:xfrm>
          <a:prstGeom prst="rect">
            <a:avLst/>
          </a:prstGeom>
        </p:spPr>
      </p:pic>
      <p:sp>
        <p:nvSpPr>
          <p:cNvPr id="10" name="Vite caption"/>
          <p:cNvSpPr txBox="1"/>
          <p:nvPr/>
        </p:nvSpPr>
        <p:spPr>
          <a:xfrm>
            <a:off x="2971800" y="3200400"/>
            <a:ext cx="1828800" cy="247649"/>
          </a:xfrm>
          <a:prstGeom prst="rect">
            <a:avLst/>
          </a:prstGeom>
          <a:noFill/>
          <a:ln>
            <a:noFill/>
          </a:ln>
        </p:spPr>
        <p:txBody>
          <a:bodyPr wrap="square" lIns="0" tIns="0" rIns="0" bIns="0" anchor="t">
            <a:noAutofit/>
          </a:bodyPr>
          <a:lstStyle/>
          <a:p>
            <a:pPr algn="ctr">
              <a:lnSpc>
                <a:spcPts val="1305"/>
              </a:lnSpc>
              <a:spcBef>
                <a:spcPts val="0"/>
              </a:spcBef>
              <a:spcAft>
                <a:spcPts val="0"/>
              </a:spcAft>
            </a:pPr>
            <a:r>
              <a:rPr sz="1125" b="1" i="0" u="none">
                <a:solidFill>
                  <a:srgbClr val="F3F6FA"/>
                </a:solidFill>
                <a:latin typeface="Arial"/>
              </a:rPr>
              <a:t>Vite</a:t>
            </a:r>
          </a:p>
        </p:txBody>
      </p:sp>
      <p:sp>
        <p:nvSpPr>
          <p:cNvPr id="11" name="Node.js tile"/>
          <p:cNvSpPr/>
          <p:nvPr/>
        </p:nvSpPr>
        <p:spPr>
          <a:xfrm>
            <a:off x="5105400" y="2400300"/>
            <a:ext cx="1981199" cy="1143000"/>
          </a:xfrm>
          <a:prstGeom prst="roundRect">
            <a:avLst>
              <a:gd name="adj" fmla="val 10000"/>
            </a:avLst>
          </a:prstGeom>
          <a:solidFill>
            <a:srgbClr val="141C2E"/>
          </a:solidFill>
          <a:ln w="9525">
            <a:solidFill>
              <a:srgbClr val="28334A"/>
            </a:solidFill>
          </a:ln>
        </p:spPr>
        <p:txBody>
          <a:bodyPr rtlCol="0" anchor="ctr"/>
          <a:lstStyle/>
          <a:p>
            <a:pPr algn="ctr"/>
            <a:endParaRPr/>
          </a:p>
        </p:txBody>
      </p:sp>
      <p:pic>
        <p:nvPicPr>
          <p:cNvPr id="12" name="Node.js icon" descr="nodejs_teal.png"/>
          <p:cNvPicPr>
            <a:picLocks noChangeAspect="1"/>
          </p:cNvPicPr>
          <p:nvPr/>
        </p:nvPicPr>
        <p:blipFill>
          <a:blip r:embed="rId4"/>
          <a:stretch>
            <a:fillRect/>
          </a:stretch>
        </p:blipFill>
        <p:spPr>
          <a:xfrm>
            <a:off x="5829300" y="2571750"/>
            <a:ext cx="533400" cy="533400"/>
          </a:xfrm>
          <a:prstGeom prst="rect">
            <a:avLst/>
          </a:prstGeom>
        </p:spPr>
      </p:pic>
      <p:sp>
        <p:nvSpPr>
          <p:cNvPr id="13" name="Node.js caption"/>
          <p:cNvSpPr txBox="1"/>
          <p:nvPr/>
        </p:nvSpPr>
        <p:spPr>
          <a:xfrm>
            <a:off x="5181600" y="3200400"/>
            <a:ext cx="1828800" cy="247649"/>
          </a:xfrm>
          <a:prstGeom prst="rect">
            <a:avLst/>
          </a:prstGeom>
          <a:noFill/>
          <a:ln>
            <a:noFill/>
          </a:ln>
        </p:spPr>
        <p:txBody>
          <a:bodyPr wrap="square" lIns="0" tIns="0" rIns="0" bIns="0" anchor="t">
            <a:noAutofit/>
          </a:bodyPr>
          <a:lstStyle/>
          <a:p>
            <a:pPr algn="ctr">
              <a:lnSpc>
                <a:spcPts val="1305"/>
              </a:lnSpc>
              <a:spcBef>
                <a:spcPts val="0"/>
              </a:spcBef>
              <a:spcAft>
                <a:spcPts val="0"/>
              </a:spcAft>
            </a:pPr>
            <a:r>
              <a:rPr sz="1125" b="1" i="0" u="none">
                <a:solidFill>
                  <a:srgbClr val="F3F6FA"/>
                </a:solidFill>
                <a:latin typeface="Arial"/>
              </a:rPr>
              <a:t>Node.js</a:t>
            </a:r>
          </a:p>
        </p:txBody>
      </p:sp>
      <p:sp>
        <p:nvSpPr>
          <p:cNvPr id="14" name="Express.js tile"/>
          <p:cNvSpPr/>
          <p:nvPr/>
        </p:nvSpPr>
        <p:spPr>
          <a:xfrm>
            <a:off x="7315200" y="2400300"/>
            <a:ext cx="1981199" cy="1143000"/>
          </a:xfrm>
          <a:prstGeom prst="roundRect">
            <a:avLst>
              <a:gd name="adj" fmla="val 10000"/>
            </a:avLst>
          </a:prstGeom>
          <a:solidFill>
            <a:srgbClr val="141C2E"/>
          </a:solidFill>
          <a:ln w="9525">
            <a:solidFill>
              <a:srgbClr val="28334A"/>
            </a:solidFill>
          </a:ln>
        </p:spPr>
        <p:txBody>
          <a:bodyPr rtlCol="0" anchor="ctr"/>
          <a:lstStyle/>
          <a:p>
            <a:pPr algn="ctr"/>
            <a:endParaRPr/>
          </a:p>
        </p:txBody>
      </p:sp>
      <p:pic>
        <p:nvPicPr>
          <p:cNvPr id="15" name="Express.js icon" descr="express_teal.png"/>
          <p:cNvPicPr>
            <a:picLocks noChangeAspect="1"/>
          </p:cNvPicPr>
          <p:nvPr/>
        </p:nvPicPr>
        <p:blipFill>
          <a:blip r:embed="rId5"/>
          <a:stretch>
            <a:fillRect/>
          </a:stretch>
        </p:blipFill>
        <p:spPr>
          <a:xfrm>
            <a:off x="8039099" y="2571750"/>
            <a:ext cx="533400" cy="533400"/>
          </a:xfrm>
          <a:prstGeom prst="rect">
            <a:avLst/>
          </a:prstGeom>
        </p:spPr>
      </p:pic>
      <p:sp>
        <p:nvSpPr>
          <p:cNvPr id="16" name="Express.js caption"/>
          <p:cNvSpPr txBox="1"/>
          <p:nvPr/>
        </p:nvSpPr>
        <p:spPr>
          <a:xfrm>
            <a:off x="7391400" y="3200400"/>
            <a:ext cx="1828800" cy="247649"/>
          </a:xfrm>
          <a:prstGeom prst="rect">
            <a:avLst/>
          </a:prstGeom>
          <a:noFill/>
          <a:ln>
            <a:noFill/>
          </a:ln>
        </p:spPr>
        <p:txBody>
          <a:bodyPr wrap="square" lIns="0" tIns="0" rIns="0" bIns="0" anchor="t">
            <a:noAutofit/>
          </a:bodyPr>
          <a:lstStyle/>
          <a:p>
            <a:pPr algn="ctr">
              <a:lnSpc>
                <a:spcPts val="1305"/>
              </a:lnSpc>
              <a:spcBef>
                <a:spcPts val="0"/>
              </a:spcBef>
              <a:spcAft>
                <a:spcPts val="0"/>
              </a:spcAft>
            </a:pPr>
            <a:r>
              <a:rPr sz="1125" b="1" i="0" u="none">
                <a:solidFill>
                  <a:srgbClr val="F3F6FA"/>
                </a:solidFill>
                <a:latin typeface="Arial"/>
              </a:rPr>
              <a:t>Express.js</a:t>
            </a:r>
          </a:p>
        </p:txBody>
      </p:sp>
      <p:sp>
        <p:nvSpPr>
          <p:cNvPr id="17" name="SQL Server tile"/>
          <p:cNvSpPr/>
          <p:nvPr/>
        </p:nvSpPr>
        <p:spPr>
          <a:xfrm>
            <a:off x="9525000" y="2400300"/>
            <a:ext cx="1981199" cy="1143000"/>
          </a:xfrm>
          <a:prstGeom prst="roundRect">
            <a:avLst>
              <a:gd name="adj" fmla="val 10000"/>
            </a:avLst>
          </a:prstGeom>
          <a:solidFill>
            <a:srgbClr val="141C2E"/>
          </a:solidFill>
          <a:ln w="9525">
            <a:solidFill>
              <a:srgbClr val="28334A"/>
            </a:solidFill>
          </a:ln>
        </p:spPr>
        <p:txBody>
          <a:bodyPr rtlCol="0" anchor="ctr"/>
          <a:lstStyle/>
          <a:p>
            <a:pPr algn="ctr"/>
            <a:endParaRPr/>
          </a:p>
        </p:txBody>
      </p:sp>
      <p:pic>
        <p:nvPicPr>
          <p:cNvPr id="18" name="SQL Server icon" descr="sqlserver_teal.png"/>
          <p:cNvPicPr>
            <a:picLocks noChangeAspect="1"/>
          </p:cNvPicPr>
          <p:nvPr/>
        </p:nvPicPr>
        <p:blipFill>
          <a:blip r:embed="rId6"/>
          <a:stretch>
            <a:fillRect/>
          </a:stretch>
        </p:blipFill>
        <p:spPr>
          <a:xfrm>
            <a:off x="10248900" y="2571750"/>
            <a:ext cx="533400" cy="533400"/>
          </a:xfrm>
          <a:prstGeom prst="rect">
            <a:avLst/>
          </a:prstGeom>
        </p:spPr>
      </p:pic>
      <p:sp>
        <p:nvSpPr>
          <p:cNvPr id="19" name="SQL Server caption"/>
          <p:cNvSpPr txBox="1"/>
          <p:nvPr/>
        </p:nvSpPr>
        <p:spPr>
          <a:xfrm>
            <a:off x="9601200" y="3200400"/>
            <a:ext cx="1828800" cy="247649"/>
          </a:xfrm>
          <a:prstGeom prst="rect">
            <a:avLst/>
          </a:prstGeom>
          <a:noFill/>
          <a:ln>
            <a:noFill/>
          </a:ln>
        </p:spPr>
        <p:txBody>
          <a:bodyPr wrap="square" lIns="0" tIns="0" rIns="0" bIns="0" anchor="t">
            <a:noAutofit/>
          </a:bodyPr>
          <a:lstStyle/>
          <a:p>
            <a:pPr algn="ctr">
              <a:lnSpc>
                <a:spcPts val="1305"/>
              </a:lnSpc>
              <a:spcBef>
                <a:spcPts val="0"/>
              </a:spcBef>
              <a:spcAft>
                <a:spcPts val="0"/>
              </a:spcAft>
            </a:pPr>
            <a:r>
              <a:rPr sz="1125" b="1" i="0" u="none">
                <a:solidFill>
                  <a:srgbClr val="F3F6FA"/>
                </a:solidFill>
                <a:latin typeface="Arial"/>
              </a:rPr>
              <a:t>SQL Server</a:t>
            </a:r>
          </a:p>
        </p:txBody>
      </p:sp>
      <p:sp>
        <p:nvSpPr>
          <p:cNvPr id="20" name="Stripe tile"/>
          <p:cNvSpPr/>
          <p:nvPr/>
        </p:nvSpPr>
        <p:spPr>
          <a:xfrm>
            <a:off x="685800" y="3810000"/>
            <a:ext cx="1981199" cy="1143000"/>
          </a:xfrm>
          <a:prstGeom prst="roundRect">
            <a:avLst>
              <a:gd name="adj" fmla="val 10000"/>
            </a:avLst>
          </a:prstGeom>
          <a:solidFill>
            <a:srgbClr val="141C2E"/>
          </a:solidFill>
          <a:ln w="9525">
            <a:solidFill>
              <a:srgbClr val="28334A"/>
            </a:solidFill>
          </a:ln>
        </p:spPr>
        <p:txBody>
          <a:bodyPr rtlCol="0" anchor="ctr"/>
          <a:lstStyle/>
          <a:p>
            <a:pPr algn="ctr"/>
            <a:endParaRPr/>
          </a:p>
        </p:txBody>
      </p:sp>
      <p:pic>
        <p:nvPicPr>
          <p:cNvPr id="21" name="Stripe icon" descr="stripe_teal.png"/>
          <p:cNvPicPr>
            <a:picLocks noChangeAspect="1"/>
          </p:cNvPicPr>
          <p:nvPr/>
        </p:nvPicPr>
        <p:blipFill>
          <a:blip r:embed="rId7"/>
          <a:stretch>
            <a:fillRect/>
          </a:stretch>
        </p:blipFill>
        <p:spPr>
          <a:xfrm>
            <a:off x="1409700" y="3981450"/>
            <a:ext cx="533400" cy="533400"/>
          </a:xfrm>
          <a:prstGeom prst="rect">
            <a:avLst/>
          </a:prstGeom>
        </p:spPr>
      </p:pic>
      <p:sp>
        <p:nvSpPr>
          <p:cNvPr id="22" name="Stripe caption"/>
          <p:cNvSpPr txBox="1"/>
          <p:nvPr/>
        </p:nvSpPr>
        <p:spPr>
          <a:xfrm>
            <a:off x="762000" y="4610100"/>
            <a:ext cx="1828800" cy="247649"/>
          </a:xfrm>
          <a:prstGeom prst="rect">
            <a:avLst/>
          </a:prstGeom>
          <a:noFill/>
          <a:ln>
            <a:noFill/>
          </a:ln>
        </p:spPr>
        <p:txBody>
          <a:bodyPr wrap="square" lIns="0" tIns="0" rIns="0" bIns="0" anchor="t">
            <a:noAutofit/>
          </a:bodyPr>
          <a:lstStyle/>
          <a:p>
            <a:pPr algn="ctr">
              <a:lnSpc>
                <a:spcPts val="1305"/>
              </a:lnSpc>
              <a:spcBef>
                <a:spcPts val="0"/>
              </a:spcBef>
              <a:spcAft>
                <a:spcPts val="0"/>
              </a:spcAft>
            </a:pPr>
            <a:r>
              <a:rPr sz="1125" b="1" i="0" u="none">
                <a:solidFill>
                  <a:srgbClr val="F3F6FA"/>
                </a:solidFill>
                <a:latin typeface="Arial"/>
              </a:rPr>
              <a:t>Stripe</a:t>
            </a:r>
          </a:p>
        </p:txBody>
      </p:sp>
      <p:sp>
        <p:nvSpPr>
          <p:cNvPr id="23" name="JWT tile"/>
          <p:cNvSpPr/>
          <p:nvPr/>
        </p:nvSpPr>
        <p:spPr>
          <a:xfrm>
            <a:off x="2895600" y="3810000"/>
            <a:ext cx="1981199" cy="1143000"/>
          </a:xfrm>
          <a:prstGeom prst="roundRect">
            <a:avLst>
              <a:gd name="adj" fmla="val 10000"/>
            </a:avLst>
          </a:prstGeom>
          <a:solidFill>
            <a:srgbClr val="141C2E"/>
          </a:solidFill>
          <a:ln w="9525">
            <a:solidFill>
              <a:srgbClr val="28334A"/>
            </a:solidFill>
          </a:ln>
        </p:spPr>
        <p:txBody>
          <a:bodyPr rtlCol="0" anchor="ctr"/>
          <a:lstStyle/>
          <a:p>
            <a:pPr algn="ctr"/>
            <a:endParaRPr/>
          </a:p>
        </p:txBody>
      </p:sp>
      <p:pic>
        <p:nvPicPr>
          <p:cNvPr id="24" name="JWT icon" descr="jwt_teal.png"/>
          <p:cNvPicPr>
            <a:picLocks noChangeAspect="1"/>
          </p:cNvPicPr>
          <p:nvPr/>
        </p:nvPicPr>
        <p:blipFill>
          <a:blip r:embed="rId8"/>
          <a:stretch>
            <a:fillRect/>
          </a:stretch>
        </p:blipFill>
        <p:spPr>
          <a:xfrm>
            <a:off x="3619500" y="3981450"/>
            <a:ext cx="533400" cy="533400"/>
          </a:xfrm>
          <a:prstGeom prst="rect">
            <a:avLst/>
          </a:prstGeom>
        </p:spPr>
      </p:pic>
      <p:sp>
        <p:nvSpPr>
          <p:cNvPr id="25" name="JWT caption"/>
          <p:cNvSpPr txBox="1"/>
          <p:nvPr/>
        </p:nvSpPr>
        <p:spPr>
          <a:xfrm>
            <a:off x="2971800" y="4610100"/>
            <a:ext cx="1828800" cy="247649"/>
          </a:xfrm>
          <a:prstGeom prst="rect">
            <a:avLst/>
          </a:prstGeom>
          <a:noFill/>
          <a:ln>
            <a:noFill/>
          </a:ln>
        </p:spPr>
        <p:txBody>
          <a:bodyPr wrap="square" lIns="0" tIns="0" rIns="0" bIns="0" anchor="t">
            <a:noAutofit/>
          </a:bodyPr>
          <a:lstStyle/>
          <a:p>
            <a:pPr algn="ctr">
              <a:lnSpc>
                <a:spcPts val="1305"/>
              </a:lnSpc>
              <a:spcBef>
                <a:spcPts val="0"/>
              </a:spcBef>
              <a:spcAft>
                <a:spcPts val="0"/>
              </a:spcAft>
            </a:pPr>
            <a:r>
              <a:rPr sz="1125" b="1" i="0" u="none">
                <a:solidFill>
                  <a:srgbClr val="F3F6FA"/>
                </a:solidFill>
                <a:latin typeface="Arial"/>
              </a:rPr>
              <a:t>JWT</a:t>
            </a:r>
          </a:p>
        </p:txBody>
      </p:sp>
      <p:sp>
        <p:nvSpPr>
          <p:cNvPr id="26" name="Git tile"/>
          <p:cNvSpPr/>
          <p:nvPr/>
        </p:nvSpPr>
        <p:spPr>
          <a:xfrm>
            <a:off x="5105400" y="3810000"/>
            <a:ext cx="1981199" cy="1143000"/>
          </a:xfrm>
          <a:prstGeom prst="roundRect">
            <a:avLst>
              <a:gd name="adj" fmla="val 10000"/>
            </a:avLst>
          </a:prstGeom>
          <a:solidFill>
            <a:srgbClr val="141C2E"/>
          </a:solidFill>
          <a:ln w="9525">
            <a:solidFill>
              <a:srgbClr val="28334A"/>
            </a:solidFill>
          </a:ln>
        </p:spPr>
        <p:txBody>
          <a:bodyPr rtlCol="0" anchor="ctr"/>
          <a:lstStyle/>
          <a:p>
            <a:pPr algn="ctr"/>
            <a:endParaRPr/>
          </a:p>
        </p:txBody>
      </p:sp>
      <p:pic>
        <p:nvPicPr>
          <p:cNvPr id="27" name="Git icon" descr="git_teal.png"/>
          <p:cNvPicPr>
            <a:picLocks noChangeAspect="1"/>
          </p:cNvPicPr>
          <p:nvPr/>
        </p:nvPicPr>
        <p:blipFill>
          <a:blip r:embed="rId9"/>
          <a:stretch>
            <a:fillRect/>
          </a:stretch>
        </p:blipFill>
        <p:spPr>
          <a:xfrm>
            <a:off x="5829300" y="3981450"/>
            <a:ext cx="533400" cy="533400"/>
          </a:xfrm>
          <a:prstGeom prst="rect">
            <a:avLst/>
          </a:prstGeom>
        </p:spPr>
      </p:pic>
      <p:sp>
        <p:nvSpPr>
          <p:cNvPr id="28" name="Git caption"/>
          <p:cNvSpPr txBox="1"/>
          <p:nvPr/>
        </p:nvSpPr>
        <p:spPr>
          <a:xfrm>
            <a:off x="5181600" y="4610100"/>
            <a:ext cx="1828800" cy="247649"/>
          </a:xfrm>
          <a:prstGeom prst="rect">
            <a:avLst/>
          </a:prstGeom>
          <a:noFill/>
          <a:ln>
            <a:noFill/>
          </a:ln>
        </p:spPr>
        <p:txBody>
          <a:bodyPr wrap="square" lIns="0" tIns="0" rIns="0" bIns="0" anchor="t">
            <a:noAutofit/>
          </a:bodyPr>
          <a:lstStyle/>
          <a:p>
            <a:pPr algn="ctr">
              <a:lnSpc>
                <a:spcPts val="1305"/>
              </a:lnSpc>
              <a:spcBef>
                <a:spcPts val="0"/>
              </a:spcBef>
              <a:spcAft>
                <a:spcPts val="0"/>
              </a:spcAft>
            </a:pPr>
            <a:r>
              <a:rPr sz="1125" b="1" i="0" u="none">
                <a:solidFill>
                  <a:srgbClr val="F3F6FA"/>
                </a:solidFill>
                <a:latin typeface="Arial"/>
              </a:rPr>
              <a:t>Git</a:t>
            </a:r>
          </a:p>
        </p:txBody>
      </p:sp>
      <p:sp>
        <p:nvSpPr>
          <p:cNvPr id="29" name="GitHub tile"/>
          <p:cNvSpPr/>
          <p:nvPr/>
        </p:nvSpPr>
        <p:spPr>
          <a:xfrm>
            <a:off x="7315200" y="3810000"/>
            <a:ext cx="1981199" cy="1143000"/>
          </a:xfrm>
          <a:prstGeom prst="roundRect">
            <a:avLst>
              <a:gd name="adj" fmla="val 10000"/>
            </a:avLst>
          </a:prstGeom>
          <a:solidFill>
            <a:srgbClr val="141C2E"/>
          </a:solidFill>
          <a:ln w="9525">
            <a:solidFill>
              <a:srgbClr val="28334A"/>
            </a:solidFill>
          </a:ln>
        </p:spPr>
        <p:txBody>
          <a:bodyPr rtlCol="0" anchor="ctr"/>
          <a:lstStyle/>
          <a:p>
            <a:pPr algn="ctr"/>
            <a:endParaRPr/>
          </a:p>
        </p:txBody>
      </p:sp>
      <p:pic>
        <p:nvPicPr>
          <p:cNvPr id="30" name="GitHub icon" descr="github_teal.png"/>
          <p:cNvPicPr>
            <a:picLocks noChangeAspect="1"/>
          </p:cNvPicPr>
          <p:nvPr/>
        </p:nvPicPr>
        <p:blipFill>
          <a:blip r:embed="rId10"/>
          <a:stretch>
            <a:fillRect/>
          </a:stretch>
        </p:blipFill>
        <p:spPr>
          <a:xfrm>
            <a:off x="8039099" y="3981450"/>
            <a:ext cx="533400" cy="533400"/>
          </a:xfrm>
          <a:prstGeom prst="rect">
            <a:avLst/>
          </a:prstGeom>
        </p:spPr>
      </p:pic>
      <p:sp>
        <p:nvSpPr>
          <p:cNvPr id="31" name="GitHub caption"/>
          <p:cNvSpPr txBox="1"/>
          <p:nvPr/>
        </p:nvSpPr>
        <p:spPr>
          <a:xfrm>
            <a:off x="7391400" y="4610100"/>
            <a:ext cx="1828800" cy="247649"/>
          </a:xfrm>
          <a:prstGeom prst="rect">
            <a:avLst/>
          </a:prstGeom>
          <a:noFill/>
          <a:ln>
            <a:noFill/>
          </a:ln>
        </p:spPr>
        <p:txBody>
          <a:bodyPr wrap="square" lIns="0" tIns="0" rIns="0" bIns="0" anchor="t">
            <a:noAutofit/>
          </a:bodyPr>
          <a:lstStyle/>
          <a:p>
            <a:pPr algn="ctr">
              <a:lnSpc>
                <a:spcPts val="1305"/>
              </a:lnSpc>
              <a:spcBef>
                <a:spcPts val="0"/>
              </a:spcBef>
              <a:spcAft>
                <a:spcPts val="0"/>
              </a:spcAft>
            </a:pPr>
            <a:r>
              <a:rPr sz="1125" b="1" i="0" u="none">
                <a:solidFill>
                  <a:srgbClr val="F3F6FA"/>
                </a:solidFill>
                <a:latin typeface="Arial"/>
              </a:rPr>
              <a:t>GitHub</a:t>
            </a:r>
          </a:p>
        </p:txBody>
      </p:sp>
      <p:sp>
        <p:nvSpPr>
          <p:cNvPr id="32" name="Axios tile"/>
          <p:cNvSpPr/>
          <p:nvPr/>
        </p:nvSpPr>
        <p:spPr>
          <a:xfrm>
            <a:off x="9525000" y="3810000"/>
            <a:ext cx="1981199" cy="1143000"/>
          </a:xfrm>
          <a:prstGeom prst="roundRect">
            <a:avLst>
              <a:gd name="adj" fmla="val 10000"/>
            </a:avLst>
          </a:prstGeom>
          <a:solidFill>
            <a:srgbClr val="141C2E"/>
          </a:solidFill>
          <a:ln w="9525">
            <a:solidFill>
              <a:srgbClr val="28334A"/>
            </a:solidFill>
          </a:ln>
        </p:spPr>
        <p:txBody>
          <a:bodyPr rtlCol="0" anchor="ctr"/>
          <a:lstStyle/>
          <a:p>
            <a:pPr algn="ctr"/>
            <a:endParaRPr/>
          </a:p>
        </p:txBody>
      </p:sp>
      <p:pic>
        <p:nvPicPr>
          <p:cNvPr id="33" name="Axios icon" descr="axios_teal.png"/>
          <p:cNvPicPr>
            <a:picLocks noChangeAspect="1"/>
          </p:cNvPicPr>
          <p:nvPr/>
        </p:nvPicPr>
        <p:blipFill>
          <a:blip r:embed="rId11"/>
          <a:stretch>
            <a:fillRect/>
          </a:stretch>
        </p:blipFill>
        <p:spPr>
          <a:xfrm>
            <a:off x="10248900" y="3981450"/>
            <a:ext cx="533400" cy="533400"/>
          </a:xfrm>
          <a:prstGeom prst="rect">
            <a:avLst/>
          </a:prstGeom>
        </p:spPr>
      </p:pic>
      <p:sp>
        <p:nvSpPr>
          <p:cNvPr id="34" name="Axios caption"/>
          <p:cNvSpPr txBox="1"/>
          <p:nvPr/>
        </p:nvSpPr>
        <p:spPr>
          <a:xfrm>
            <a:off x="9601200" y="4610100"/>
            <a:ext cx="1828800" cy="247649"/>
          </a:xfrm>
          <a:prstGeom prst="rect">
            <a:avLst/>
          </a:prstGeom>
          <a:noFill/>
          <a:ln>
            <a:noFill/>
          </a:ln>
        </p:spPr>
        <p:txBody>
          <a:bodyPr wrap="square" lIns="0" tIns="0" rIns="0" bIns="0" anchor="t">
            <a:noAutofit/>
          </a:bodyPr>
          <a:lstStyle/>
          <a:p>
            <a:pPr algn="ctr">
              <a:lnSpc>
                <a:spcPts val="1305"/>
              </a:lnSpc>
              <a:spcBef>
                <a:spcPts val="0"/>
              </a:spcBef>
              <a:spcAft>
                <a:spcPts val="0"/>
              </a:spcAft>
            </a:pPr>
            <a:r>
              <a:rPr sz="1125" b="1" i="0" u="none">
                <a:solidFill>
                  <a:srgbClr val="F3F6FA"/>
                </a:solidFill>
                <a:latin typeface="Arial"/>
              </a:rPr>
              <a:t>Axios</a:t>
            </a:r>
          </a:p>
        </p:txBody>
      </p:sp>
      <p:sp>
        <p:nvSpPr>
          <p:cNvPr id="35" name="Tech stack footnote"/>
          <p:cNvSpPr txBox="1"/>
          <p:nvPr/>
        </p:nvSpPr>
        <p:spPr>
          <a:xfrm>
            <a:off x="685800" y="5334000"/>
            <a:ext cx="10820400" cy="285750"/>
          </a:xfrm>
          <a:prstGeom prst="rect">
            <a:avLst/>
          </a:prstGeom>
          <a:noFill/>
          <a:ln>
            <a:noFill/>
          </a:ln>
        </p:spPr>
        <p:txBody>
          <a:bodyPr wrap="square" lIns="0" tIns="0" rIns="0" bIns="0" anchor="t">
            <a:noAutofit/>
          </a:bodyPr>
          <a:lstStyle/>
          <a:p>
            <a:pPr algn="ctr">
              <a:lnSpc>
                <a:spcPts val="1305"/>
              </a:lnSpc>
              <a:spcBef>
                <a:spcPts val="0"/>
              </a:spcBef>
              <a:spcAft>
                <a:spcPts val="0"/>
              </a:spcAft>
            </a:pPr>
            <a:r>
              <a:rPr sz="1125" b="0" i="0" u="none">
                <a:solidFill>
                  <a:srgbClr val="93A3B8"/>
                </a:solidFill>
                <a:latin typeface="Arial"/>
              </a:rPr>
              <a:t>Also powered by React Context API for global state and Bootstrap 5 for responsive styling.</a:t>
            </a:r>
          </a:p>
        </p:txBody>
      </p:sp>
      <p:sp>
        <p:nvSpPr>
          <p:cNvPr id="36" name="Page number"/>
          <p:cNvSpPr txBox="1"/>
          <p:nvPr/>
        </p:nvSpPr>
        <p:spPr>
          <a:xfrm>
            <a:off x="10934700" y="6477000"/>
            <a:ext cx="571500" cy="190500"/>
          </a:xfrm>
          <a:prstGeom prst="rect">
            <a:avLst/>
          </a:prstGeom>
          <a:noFill/>
          <a:ln>
            <a:noFill/>
          </a:ln>
        </p:spPr>
        <p:txBody>
          <a:bodyPr wrap="square" lIns="0" tIns="0" rIns="0" bIns="0" anchor="t">
            <a:noAutofit/>
          </a:bodyPr>
          <a:lstStyle/>
          <a:p>
            <a:pPr algn="r">
              <a:spcBef>
                <a:spcPts val="0"/>
              </a:spcBef>
              <a:spcAft>
                <a:spcPts val="0"/>
              </a:spcAft>
            </a:pPr>
            <a:r>
              <a:rPr sz="825" b="0" i="0" u="none">
                <a:solidFill>
                  <a:srgbClr val="93A3B8"/>
                </a:solidFill>
                <a:latin typeface="Arial"/>
              </a:rPr>
              <a:t>9 / 29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AFC"/>
        </a:solidFill>
        <a:effectLst/>
      </p:bgPr>
    </p:bg>
    <p:spTree>
      <p:nvGrpSpPr>
        <p:cNvPr id="1" name=""/>
        <p:cNvGrpSpPr/>
        <p:nvPr/>
      </p:nvGrpSpPr>
      <p:grpSpPr>
        <a:xfrm>
          <a:off x="0" y="0"/>
          <a:ext cx="0" cy="0"/>
          <a:chOff x="0" y="0"/>
          <a:chExt cx="0" cy="0"/>
        </a:xfrm>
      </p:grpSpPr>
      <p:sp>
        <p:nvSpPr>
          <p:cNvPr id="2" name="Section label"/>
          <p:cNvSpPr txBox="1"/>
          <p:nvPr/>
        </p:nvSpPr>
        <p:spPr>
          <a:xfrm>
            <a:off x="685800" y="685800"/>
            <a:ext cx="9525000" cy="247649"/>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1" i="0" u="none">
                <a:solidFill>
                  <a:srgbClr val="5B6B84"/>
                </a:solidFill>
                <a:latin typeface="Arial"/>
              </a:rPr>
              <a:t>HOW THE LAYERS CONNECT</a:t>
            </a:r>
          </a:p>
        </p:txBody>
      </p:sp>
      <p:sp>
        <p:nvSpPr>
          <p:cNvPr id="3" name="Title accent"/>
          <p:cNvSpPr/>
          <p:nvPr/>
        </p:nvSpPr>
        <p:spPr>
          <a:xfrm>
            <a:off x="685800" y="1009650"/>
            <a:ext cx="419100" cy="38100"/>
          </a:xfrm>
          <a:prstGeom prst="rect">
            <a:avLst/>
          </a:prstGeom>
          <a:solidFill>
            <a:srgbClr val="0D9488"/>
          </a:solidFill>
          <a:ln>
            <a:noFill/>
          </a:ln>
        </p:spPr>
        <p:txBody>
          <a:bodyPr rtlCol="0" anchor="ctr"/>
          <a:lstStyle/>
          <a:p>
            <a:pPr algn="ctr"/>
            <a:endParaRPr/>
          </a:p>
        </p:txBody>
      </p:sp>
      <p:sp>
        <p:nvSpPr>
          <p:cNvPr id="4" name="Slide title"/>
          <p:cNvSpPr txBox="1"/>
          <p:nvPr/>
        </p:nvSpPr>
        <p:spPr>
          <a:xfrm>
            <a:off x="685800" y="1181100"/>
            <a:ext cx="10820400" cy="876300"/>
          </a:xfrm>
          <a:prstGeom prst="rect">
            <a:avLst/>
          </a:prstGeom>
          <a:noFill/>
          <a:ln>
            <a:noFill/>
          </a:ln>
        </p:spPr>
        <p:txBody>
          <a:bodyPr wrap="square" lIns="0" tIns="0" rIns="0" bIns="0" anchor="t">
            <a:noAutofit/>
          </a:bodyPr>
          <a:lstStyle/>
          <a:p>
            <a:pPr algn="l">
              <a:lnSpc>
                <a:spcPts val="3120"/>
              </a:lnSpc>
              <a:spcBef>
                <a:spcPts val="0"/>
              </a:spcBef>
              <a:spcAft>
                <a:spcPts val="0"/>
              </a:spcAft>
            </a:pPr>
            <a:r>
              <a:rPr sz="3000" b="1" i="0" u="none">
                <a:solidFill>
                  <a:srgbClr val="132238"/>
                </a:solidFill>
                <a:latin typeface="Arial"/>
              </a:rPr>
              <a:t>System Architecture</a:t>
            </a:r>
          </a:p>
        </p:txBody>
      </p:sp>
      <p:sp>
        <p:nvSpPr>
          <p:cNvPr id="5" name="Architecture intro"/>
          <p:cNvSpPr txBox="1"/>
          <p:nvPr/>
        </p:nvSpPr>
        <p:spPr>
          <a:xfrm>
            <a:off x="685800" y="2133600"/>
            <a:ext cx="10820400" cy="419100"/>
          </a:xfrm>
          <a:prstGeom prst="rect">
            <a:avLst/>
          </a:prstGeom>
          <a:noFill/>
          <a:ln>
            <a:noFill/>
          </a:ln>
        </p:spPr>
        <p:txBody>
          <a:bodyPr wrap="square" lIns="0" tIns="0" rIns="0" bIns="0" anchor="t">
            <a:noAutofit/>
          </a:bodyPr>
          <a:lstStyle/>
          <a:p>
            <a:pPr algn="l">
              <a:lnSpc>
                <a:spcPts val="1560"/>
              </a:lnSpc>
              <a:spcBef>
                <a:spcPts val="0"/>
              </a:spcBef>
              <a:spcAft>
                <a:spcPts val="0"/>
              </a:spcAft>
            </a:pPr>
            <a:r>
              <a:rPr sz="1200" b="0" i="0" u="none">
                <a:solidFill>
                  <a:srgbClr val="5B6B84"/>
                </a:solidFill>
                <a:latin typeface="Arial"/>
              </a:rPr>
              <a:t>The React frontend calls the Express API over authenticated REST requests, which reads/writes SQL Server and coordinates Stripe payments.</a:t>
            </a:r>
          </a:p>
        </p:txBody>
      </p:sp>
      <p:sp>
        <p:nvSpPr>
          <p:cNvPr id="6" name="React + Vite box"/>
          <p:cNvSpPr/>
          <p:nvPr/>
        </p:nvSpPr>
        <p:spPr>
          <a:xfrm>
            <a:off x="685800" y="3238500"/>
            <a:ext cx="1428750" cy="609600"/>
          </a:xfrm>
          <a:prstGeom prst="roundRect">
            <a:avLst>
              <a:gd name="adj" fmla="val 18750"/>
            </a:avLst>
          </a:prstGeom>
          <a:solidFill>
            <a:srgbClr val="FFFFFF"/>
          </a:solidFill>
          <a:ln w="14287">
            <a:solidFill>
              <a:srgbClr val="DCE3EE"/>
            </a:solidFill>
          </a:ln>
        </p:spPr>
        <p:txBody>
          <a:bodyPr rtlCol="0" anchor="ctr"/>
          <a:lstStyle/>
          <a:p>
            <a:pPr algn="ctr"/>
            <a:endParaRPr/>
          </a:p>
        </p:txBody>
      </p:sp>
      <p:sp>
        <p:nvSpPr>
          <p:cNvPr id="7" name="React + Vite label"/>
          <p:cNvSpPr txBox="1"/>
          <p:nvPr/>
        </p:nvSpPr>
        <p:spPr>
          <a:xfrm>
            <a:off x="762000" y="3333750"/>
            <a:ext cx="1276350" cy="209550"/>
          </a:xfrm>
          <a:prstGeom prst="rect">
            <a:avLst/>
          </a:prstGeom>
          <a:noFill/>
          <a:ln>
            <a:noFill/>
          </a:ln>
        </p:spPr>
        <p:txBody>
          <a:bodyPr wrap="square" lIns="0" tIns="0" rIns="0" bIns="0" anchor="t">
            <a:noAutofit/>
          </a:bodyPr>
          <a:lstStyle/>
          <a:p>
            <a:pPr algn="ctr">
              <a:lnSpc>
                <a:spcPts val="1155"/>
              </a:lnSpc>
              <a:spcBef>
                <a:spcPts val="0"/>
              </a:spcBef>
              <a:spcAft>
                <a:spcPts val="0"/>
              </a:spcAft>
            </a:pPr>
            <a:r>
              <a:rPr sz="1050" b="1" i="0" u="none">
                <a:solidFill>
                  <a:srgbClr val="132238"/>
                </a:solidFill>
                <a:latin typeface="Arial"/>
              </a:rPr>
              <a:t>React + Vite</a:t>
            </a:r>
          </a:p>
        </p:txBody>
      </p:sp>
      <p:sp>
        <p:nvSpPr>
          <p:cNvPr id="8" name="React + Vite sublabel"/>
          <p:cNvSpPr txBox="1"/>
          <p:nvPr/>
        </p:nvSpPr>
        <p:spPr>
          <a:xfrm>
            <a:off x="762000" y="3638550"/>
            <a:ext cx="1276350" cy="171450"/>
          </a:xfrm>
          <a:prstGeom prst="rect">
            <a:avLst/>
          </a:prstGeom>
          <a:noFill/>
          <a:ln>
            <a:noFill/>
          </a:ln>
        </p:spPr>
        <p:txBody>
          <a:bodyPr wrap="square" lIns="0" tIns="0" rIns="0" bIns="0" anchor="t">
            <a:noAutofit/>
          </a:bodyPr>
          <a:lstStyle/>
          <a:p>
            <a:pPr algn="ctr">
              <a:lnSpc>
                <a:spcPts val="956"/>
              </a:lnSpc>
              <a:spcBef>
                <a:spcPts val="0"/>
              </a:spcBef>
              <a:spcAft>
                <a:spcPts val="0"/>
              </a:spcAft>
            </a:pPr>
            <a:r>
              <a:rPr sz="825" b="0" i="0" u="none">
                <a:solidFill>
                  <a:srgbClr val="5B6B84"/>
                </a:solidFill>
                <a:latin typeface="Arial"/>
              </a:rPr>
              <a:t>UI Layer</a:t>
            </a:r>
          </a:p>
        </p:txBody>
      </p:sp>
      <p:cxnSp>
        <p:nvCxnSpPr>
          <p:cNvPr id="9" name="Connector"/>
          <p:cNvCxnSpPr/>
          <p:nvPr/>
        </p:nvCxnSpPr>
        <p:spPr>
          <a:xfrm>
            <a:off x="2114550" y="3543300"/>
            <a:ext cx="449580" cy="0"/>
          </a:xfrm>
          <a:prstGeom prst="line">
            <a:avLst/>
          </a:prstGeom>
          <a:ln w="19050">
            <a:solidFill>
              <a:srgbClr val="0D9488"/>
            </a:solidFill>
            <a:tailEnd type="triangle"/>
          </a:ln>
        </p:spPr>
      </p:cxnSp>
      <p:sp>
        <p:nvSpPr>
          <p:cNvPr id="10" name="Context API box"/>
          <p:cNvSpPr/>
          <p:nvPr/>
        </p:nvSpPr>
        <p:spPr>
          <a:xfrm>
            <a:off x="2564130" y="3238500"/>
            <a:ext cx="1428750" cy="609600"/>
          </a:xfrm>
          <a:prstGeom prst="roundRect">
            <a:avLst>
              <a:gd name="adj" fmla="val 18750"/>
            </a:avLst>
          </a:prstGeom>
          <a:solidFill>
            <a:srgbClr val="FFFFFF"/>
          </a:solidFill>
          <a:ln w="14287">
            <a:solidFill>
              <a:srgbClr val="DCE3EE"/>
            </a:solidFill>
          </a:ln>
        </p:spPr>
        <p:txBody>
          <a:bodyPr rtlCol="0" anchor="ctr"/>
          <a:lstStyle/>
          <a:p>
            <a:pPr algn="ctr"/>
            <a:endParaRPr/>
          </a:p>
        </p:txBody>
      </p:sp>
      <p:sp>
        <p:nvSpPr>
          <p:cNvPr id="11" name="Context API label"/>
          <p:cNvSpPr txBox="1"/>
          <p:nvPr/>
        </p:nvSpPr>
        <p:spPr>
          <a:xfrm>
            <a:off x="2640329" y="3333750"/>
            <a:ext cx="1276350" cy="209550"/>
          </a:xfrm>
          <a:prstGeom prst="rect">
            <a:avLst/>
          </a:prstGeom>
          <a:noFill/>
          <a:ln>
            <a:noFill/>
          </a:ln>
        </p:spPr>
        <p:txBody>
          <a:bodyPr wrap="square" lIns="0" tIns="0" rIns="0" bIns="0" anchor="t">
            <a:noAutofit/>
          </a:bodyPr>
          <a:lstStyle/>
          <a:p>
            <a:pPr algn="ctr">
              <a:lnSpc>
                <a:spcPts val="1155"/>
              </a:lnSpc>
              <a:spcBef>
                <a:spcPts val="0"/>
              </a:spcBef>
              <a:spcAft>
                <a:spcPts val="0"/>
              </a:spcAft>
            </a:pPr>
            <a:r>
              <a:rPr sz="1050" b="1" i="0" u="none">
                <a:solidFill>
                  <a:srgbClr val="132238"/>
                </a:solidFill>
                <a:latin typeface="Arial"/>
              </a:rPr>
              <a:t>Context API</a:t>
            </a:r>
          </a:p>
        </p:txBody>
      </p:sp>
      <p:sp>
        <p:nvSpPr>
          <p:cNvPr id="12" name="Context API sublabel"/>
          <p:cNvSpPr txBox="1"/>
          <p:nvPr/>
        </p:nvSpPr>
        <p:spPr>
          <a:xfrm>
            <a:off x="2640329" y="3638550"/>
            <a:ext cx="1276350" cy="171450"/>
          </a:xfrm>
          <a:prstGeom prst="rect">
            <a:avLst/>
          </a:prstGeom>
          <a:noFill/>
          <a:ln>
            <a:noFill/>
          </a:ln>
        </p:spPr>
        <p:txBody>
          <a:bodyPr wrap="square" lIns="0" tIns="0" rIns="0" bIns="0" anchor="t">
            <a:noAutofit/>
          </a:bodyPr>
          <a:lstStyle/>
          <a:p>
            <a:pPr algn="ctr">
              <a:lnSpc>
                <a:spcPts val="956"/>
              </a:lnSpc>
              <a:spcBef>
                <a:spcPts val="0"/>
              </a:spcBef>
              <a:spcAft>
                <a:spcPts val="0"/>
              </a:spcAft>
            </a:pPr>
            <a:r>
              <a:rPr sz="825" b="0" i="0" u="none">
                <a:solidFill>
                  <a:srgbClr val="5B6B84"/>
                </a:solidFill>
                <a:latin typeface="Arial"/>
              </a:rPr>
              <a:t>State</a:t>
            </a:r>
          </a:p>
        </p:txBody>
      </p:sp>
      <p:cxnSp>
        <p:nvCxnSpPr>
          <p:cNvPr id="13" name="Connector"/>
          <p:cNvCxnSpPr/>
          <p:nvPr/>
        </p:nvCxnSpPr>
        <p:spPr>
          <a:xfrm>
            <a:off x="3992879" y="3543300"/>
            <a:ext cx="449581" cy="0"/>
          </a:xfrm>
          <a:prstGeom prst="line">
            <a:avLst/>
          </a:prstGeom>
          <a:ln w="19050">
            <a:solidFill>
              <a:srgbClr val="0D9488"/>
            </a:solidFill>
            <a:tailEnd type="triangle"/>
          </a:ln>
        </p:spPr>
      </p:cxnSp>
      <p:sp>
        <p:nvSpPr>
          <p:cNvPr id="14" name="Axios box"/>
          <p:cNvSpPr/>
          <p:nvPr/>
        </p:nvSpPr>
        <p:spPr>
          <a:xfrm>
            <a:off x="4442460" y="3238500"/>
            <a:ext cx="1428750" cy="609600"/>
          </a:xfrm>
          <a:prstGeom prst="roundRect">
            <a:avLst>
              <a:gd name="adj" fmla="val 18750"/>
            </a:avLst>
          </a:prstGeom>
          <a:solidFill>
            <a:srgbClr val="FFFFFF"/>
          </a:solidFill>
          <a:ln w="14287">
            <a:solidFill>
              <a:srgbClr val="DCE3EE"/>
            </a:solidFill>
          </a:ln>
        </p:spPr>
        <p:txBody>
          <a:bodyPr rtlCol="0" anchor="ctr"/>
          <a:lstStyle/>
          <a:p>
            <a:pPr algn="ctr"/>
            <a:endParaRPr/>
          </a:p>
        </p:txBody>
      </p:sp>
      <p:sp>
        <p:nvSpPr>
          <p:cNvPr id="15" name="Axios label"/>
          <p:cNvSpPr txBox="1"/>
          <p:nvPr/>
        </p:nvSpPr>
        <p:spPr>
          <a:xfrm>
            <a:off x="4518660" y="3333750"/>
            <a:ext cx="1276350" cy="209550"/>
          </a:xfrm>
          <a:prstGeom prst="rect">
            <a:avLst/>
          </a:prstGeom>
          <a:noFill/>
          <a:ln>
            <a:noFill/>
          </a:ln>
        </p:spPr>
        <p:txBody>
          <a:bodyPr wrap="square" lIns="0" tIns="0" rIns="0" bIns="0" anchor="t">
            <a:noAutofit/>
          </a:bodyPr>
          <a:lstStyle/>
          <a:p>
            <a:pPr algn="ctr">
              <a:lnSpc>
                <a:spcPts val="1155"/>
              </a:lnSpc>
              <a:spcBef>
                <a:spcPts val="0"/>
              </a:spcBef>
              <a:spcAft>
                <a:spcPts val="0"/>
              </a:spcAft>
            </a:pPr>
            <a:r>
              <a:rPr sz="1050" b="1" i="0" u="none">
                <a:solidFill>
                  <a:srgbClr val="132238"/>
                </a:solidFill>
                <a:latin typeface="Arial"/>
              </a:rPr>
              <a:t>Axios</a:t>
            </a:r>
          </a:p>
        </p:txBody>
      </p:sp>
      <p:sp>
        <p:nvSpPr>
          <p:cNvPr id="16" name="Axios sublabel"/>
          <p:cNvSpPr txBox="1"/>
          <p:nvPr/>
        </p:nvSpPr>
        <p:spPr>
          <a:xfrm>
            <a:off x="4518660" y="3638550"/>
            <a:ext cx="1276350" cy="171450"/>
          </a:xfrm>
          <a:prstGeom prst="rect">
            <a:avLst/>
          </a:prstGeom>
          <a:noFill/>
          <a:ln>
            <a:noFill/>
          </a:ln>
        </p:spPr>
        <p:txBody>
          <a:bodyPr wrap="square" lIns="0" tIns="0" rIns="0" bIns="0" anchor="t">
            <a:noAutofit/>
          </a:bodyPr>
          <a:lstStyle/>
          <a:p>
            <a:pPr algn="ctr">
              <a:lnSpc>
                <a:spcPts val="956"/>
              </a:lnSpc>
              <a:spcBef>
                <a:spcPts val="0"/>
              </a:spcBef>
              <a:spcAft>
                <a:spcPts val="0"/>
              </a:spcAft>
            </a:pPr>
            <a:r>
              <a:rPr sz="825" b="0" i="0" u="none">
                <a:solidFill>
                  <a:srgbClr val="5B6B84"/>
                </a:solidFill>
                <a:latin typeface="Arial"/>
              </a:rPr>
              <a:t>HTTP Client</a:t>
            </a:r>
          </a:p>
        </p:txBody>
      </p:sp>
      <p:cxnSp>
        <p:nvCxnSpPr>
          <p:cNvPr id="17" name="Connector"/>
          <p:cNvCxnSpPr/>
          <p:nvPr/>
        </p:nvCxnSpPr>
        <p:spPr>
          <a:xfrm>
            <a:off x="5871210" y="3543300"/>
            <a:ext cx="449579" cy="0"/>
          </a:xfrm>
          <a:prstGeom prst="line">
            <a:avLst/>
          </a:prstGeom>
          <a:ln w="19050">
            <a:solidFill>
              <a:srgbClr val="0D9488"/>
            </a:solidFill>
            <a:tailEnd type="triangle"/>
          </a:ln>
        </p:spPr>
      </p:cxnSp>
      <p:sp>
        <p:nvSpPr>
          <p:cNvPr id="18" name="Express.js API box"/>
          <p:cNvSpPr/>
          <p:nvPr/>
        </p:nvSpPr>
        <p:spPr>
          <a:xfrm>
            <a:off x="6320789" y="3238500"/>
            <a:ext cx="1428750" cy="609600"/>
          </a:xfrm>
          <a:prstGeom prst="roundRect">
            <a:avLst>
              <a:gd name="adj" fmla="val 18750"/>
            </a:avLst>
          </a:prstGeom>
          <a:solidFill>
            <a:srgbClr val="FFFFFF"/>
          </a:solidFill>
          <a:ln w="14287">
            <a:solidFill>
              <a:srgbClr val="DCE3EE"/>
            </a:solidFill>
          </a:ln>
        </p:spPr>
        <p:txBody>
          <a:bodyPr rtlCol="0" anchor="ctr"/>
          <a:lstStyle/>
          <a:p>
            <a:pPr algn="ctr"/>
            <a:endParaRPr/>
          </a:p>
        </p:txBody>
      </p:sp>
      <p:sp>
        <p:nvSpPr>
          <p:cNvPr id="19" name="Express.js API label"/>
          <p:cNvSpPr txBox="1"/>
          <p:nvPr/>
        </p:nvSpPr>
        <p:spPr>
          <a:xfrm>
            <a:off x="6396989" y="3333750"/>
            <a:ext cx="1276350" cy="209550"/>
          </a:xfrm>
          <a:prstGeom prst="rect">
            <a:avLst/>
          </a:prstGeom>
          <a:noFill/>
          <a:ln>
            <a:noFill/>
          </a:ln>
        </p:spPr>
        <p:txBody>
          <a:bodyPr wrap="square" lIns="0" tIns="0" rIns="0" bIns="0" anchor="t">
            <a:noAutofit/>
          </a:bodyPr>
          <a:lstStyle/>
          <a:p>
            <a:pPr algn="ctr">
              <a:lnSpc>
                <a:spcPts val="1155"/>
              </a:lnSpc>
              <a:spcBef>
                <a:spcPts val="0"/>
              </a:spcBef>
              <a:spcAft>
                <a:spcPts val="0"/>
              </a:spcAft>
            </a:pPr>
            <a:r>
              <a:rPr sz="1050" b="1" i="0" u="none">
                <a:solidFill>
                  <a:srgbClr val="132238"/>
                </a:solidFill>
                <a:latin typeface="Arial"/>
              </a:rPr>
              <a:t>Express.js API</a:t>
            </a:r>
          </a:p>
        </p:txBody>
      </p:sp>
      <p:sp>
        <p:nvSpPr>
          <p:cNvPr id="20" name="Express.js API sublabel"/>
          <p:cNvSpPr txBox="1"/>
          <p:nvPr/>
        </p:nvSpPr>
        <p:spPr>
          <a:xfrm>
            <a:off x="6396989" y="3638550"/>
            <a:ext cx="1276350" cy="171450"/>
          </a:xfrm>
          <a:prstGeom prst="rect">
            <a:avLst/>
          </a:prstGeom>
          <a:noFill/>
          <a:ln>
            <a:noFill/>
          </a:ln>
        </p:spPr>
        <p:txBody>
          <a:bodyPr wrap="square" lIns="0" tIns="0" rIns="0" bIns="0" anchor="t">
            <a:noAutofit/>
          </a:bodyPr>
          <a:lstStyle/>
          <a:p>
            <a:pPr algn="ctr">
              <a:lnSpc>
                <a:spcPts val="956"/>
              </a:lnSpc>
              <a:spcBef>
                <a:spcPts val="0"/>
              </a:spcBef>
              <a:spcAft>
                <a:spcPts val="0"/>
              </a:spcAft>
            </a:pPr>
            <a:r>
              <a:rPr sz="825" b="0" i="0" u="none">
                <a:solidFill>
                  <a:srgbClr val="5B6B84"/>
                </a:solidFill>
                <a:latin typeface="Arial"/>
              </a:rPr>
              <a:t>34 Routes</a:t>
            </a:r>
          </a:p>
        </p:txBody>
      </p:sp>
      <p:cxnSp>
        <p:nvCxnSpPr>
          <p:cNvPr id="21" name="Connector"/>
          <p:cNvCxnSpPr/>
          <p:nvPr/>
        </p:nvCxnSpPr>
        <p:spPr>
          <a:xfrm>
            <a:off x="7749540" y="3543300"/>
            <a:ext cx="449580" cy="0"/>
          </a:xfrm>
          <a:prstGeom prst="line">
            <a:avLst/>
          </a:prstGeom>
          <a:ln w="19050">
            <a:solidFill>
              <a:srgbClr val="0D9488"/>
            </a:solidFill>
            <a:tailEnd type="triangle"/>
          </a:ln>
        </p:spPr>
      </p:cxnSp>
      <p:sp>
        <p:nvSpPr>
          <p:cNvPr id="22" name="SQL Server box"/>
          <p:cNvSpPr/>
          <p:nvPr/>
        </p:nvSpPr>
        <p:spPr>
          <a:xfrm>
            <a:off x="8199120" y="3238500"/>
            <a:ext cx="1428750" cy="609600"/>
          </a:xfrm>
          <a:prstGeom prst="roundRect">
            <a:avLst>
              <a:gd name="adj" fmla="val 18750"/>
            </a:avLst>
          </a:prstGeom>
          <a:solidFill>
            <a:srgbClr val="FFFFFF"/>
          </a:solidFill>
          <a:ln w="14287">
            <a:solidFill>
              <a:srgbClr val="DCE3EE"/>
            </a:solidFill>
          </a:ln>
        </p:spPr>
        <p:txBody>
          <a:bodyPr rtlCol="0" anchor="ctr"/>
          <a:lstStyle/>
          <a:p>
            <a:pPr algn="ctr"/>
            <a:endParaRPr/>
          </a:p>
        </p:txBody>
      </p:sp>
      <p:sp>
        <p:nvSpPr>
          <p:cNvPr id="23" name="SQL Server label"/>
          <p:cNvSpPr txBox="1"/>
          <p:nvPr/>
        </p:nvSpPr>
        <p:spPr>
          <a:xfrm>
            <a:off x="8275319" y="3333750"/>
            <a:ext cx="1276350" cy="209550"/>
          </a:xfrm>
          <a:prstGeom prst="rect">
            <a:avLst/>
          </a:prstGeom>
          <a:noFill/>
          <a:ln>
            <a:noFill/>
          </a:ln>
        </p:spPr>
        <p:txBody>
          <a:bodyPr wrap="square" lIns="0" tIns="0" rIns="0" bIns="0" anchor="t">
            <a:noAutofit/>
          </a:bodyPr>
          <a:lstStyle/>
          <a:p>
            <a:pPr algn="ctr">
              <a:lnSpc>
                <a:spcPts val="1155"/>
              </a:lnSpc>
              <a:spcBef>
                <a:spcPts val="0"/>
              </a:spcBef>
              <a:spcAft>
                <a:spcPts val="0"/>
              </a:spcAft>
            </a:pPr>
            <a:r>
              <a:rPr sz="1050" b="1" i="0" u="none">
                <a:solidFill>
                  <a:srgbClr val="132238"/>
                </a:solidFill>
                <a:latin typeface="Arial"/>
              </a:rPr>
              <a:t>SQL Server</a:t>
            </a:r>
          </a:p>
        </p:txBody>
      </p:sp>
      <p:sp>
        <p:nvSpPr>
          <p:cNvPr id="24" name="SQL Server sublabel"/>
          <p:cNvSpPr txBox="1"/>
          <p:nvPr/>
        </p:nvSpPr>
        <p:spPr>
          <a:xfrm>
            <a:off x="8275319" y="3638550"/>
            <a:ext cx="1276350" cy="171450"/>
          </a:xfrm>
          <a:prstGeom prst="rect">
            <a:avLst/>
          </a:prstGeom>
          <a:noFill/>
          <a:ln>
            <a:noFill/>
          </a:ln>
        </p:spPr>
        <p:txBody>
          <a:bodyPr wrap="square" lIns="0" tIns="0" rIns="0" bIns="0" anchor="t">
            <a:noAutofit/>
          </a:bodyPr>
          <a:lstStyle/>
          <a:p>
            <a:pPr algn="ctr">
              <a:lnSpc>
                <a:spcPts val="956"/>
              </a:lnSpc>
              <a:spcBef>
                <a:spcPts val="0"/>
              </a:spcBef>
              <a:spcAft>
                <a:spcPts val="0"/>
              </a:spcAft>
            </a:pPr>
            <a:r>
              <a:rPr sz="825" b="0" i="0" u="none">
                <a:solidFill>
                  <a:srgbClr val="5B6B84"/>
                </a:solidFill>
                <a:latin typeface="Arial"/>
              </a:rPr>
              <a:t>7 Tables</a:t>
            </a:r>
          </a:p>
        </p:txBody>
      </p:sp>
      <p:cxnSp>
        <p:nvCxnSpPr>
          <p:cNvPr id="25" name="Connector"/>
          <p:cNvCxnSpPr/>
          <p:nvPr/>
        </p:nvCxnSpPr>
        <p:spPr>
          <a:xfrm>
            <a:off x="9627870" y="3543300"/>
            <a:ext cx="449580" cy="0"/>
          </a:xfrm>
          <a:prstGeom prst="line">
            <a:avLst/>
          </a:prstGeom>
          <a:ln w="19050">
            <a:solidFill>
              <a:srgbClr val="0D9488"/>
            </a:solidFill>
            <a:tailEnd type="triangle"/>
          </a:ln>
        </p:spPr>
      </p:cxnSp>
      <p:sp>
        <p:nvSpPr>
          <p:cNvPr id="26" name="Stripe box"/>
          <p:cNvSpPr/>
          <p:nvPr/>
        </p:nvSpPr>
        <p:spPr>
          <a:xfrm>
            <a:off x="10077450" y="3238500"/>
            <a:ext cx="1428750" cy="609600"/>
          </a:xfrm>
          <a:prstGeom prst="roundRect">
            <a:avLst>
              <a:gd name="adj" fmla="val 18750"/>
            </a:avLst>
          </a:prstGeom>
          <a:solidFill>
            <a:srgbClr val="FFFFFF"/>
          </a:solidFill>
          <a:ln w="14287">
            <a:solidFill>
              <a:srgbClr val="DCE3EE"/>
            </a:solidFill>
          </a:ln>
        </p:spPr>
        <p:txBody>
          <a:bodyPr rtlCol="0" anchor="ctr"/>
          <a:lstStyle/>
          <a:p>
            <a:pPr algn="ctr"/>
            <a:endParaRPr/>
          </a:p>
        </p:txBody>
      </p:sp>
      <p:sp>
        <p:nvSpPr>
          <p:cNvPr id="27" name="Stripe label"/>
          <p:cNvSpPr txBox="1"/>
          <p:nvPr/>
        </p:nvSpPr>
        <p:spPr>
          <a:xfrm>
            <a:off x="10153650" y="3333750"/>
            <a:ext cx="1276350" cy="209550"/>
          </a:xfrm>
          <a:prstGeom prst="rect">
            <a:avLst/>
          </a:prstGeom>
          <a:noFill/>
          <a:ln>
            <a:noFill/>
          </a:ln>
        </p:spPr>
        <p:txBody>
          <a:bodyPr wrap="square" lIns="0" tIns="0" rIns="0" bIns="0" anchor="t">
            <a:noAutofit/>
          </a:bodyPr>
          <a:lstStyle/>
          <a:p>
            <a:pPr algn="ctr">
              <a:lnSpc>
                <a:spcPts val="1155"/>
              </a:lnSpc>
              <a:spcBef>
                <a:spcPts val="0"/>
              </a:spcBef>
              <a:spcAft>
                <a:spcPts val="0"/>
              </a:spcAft>
            </a:pPr>
            <a:r>
              <a:rPr sz="1050" b="1" i="0" u="none">
                <a:solidFill>
                  <a:srgbClr val="132238"/>
                </a:solidFill>
                <a:latin typeface="Arial"/>
              </a:rPr>
              <a:t>Stripe</a:t>
            </a:r>
          </a:p>
        </p:txBody>
      </p:sp>
      <p:sp>
        <p:nvSpPr>
          <p:cNvPr id="28" name="Stripe sublabel"/>
          <p:cNvSpPr txBox="1"/>
          <p:nvPr/>
        </p:nvSpPr>
        <p:spPr>
          <a:xfrm>
            <a:off x="10153650" y="3638550"/>
            <a:ext cx="1276350" cy="171450"/>
          </a:xfrm>
          <a:prstGeom prst="rect">
            <a:avLst/>
          </a:prstGeom>
          <a:noFill/>
          <a:ln>
            <a:noFill/>
          </a:ln>
        </p:spPr>
        <p:txBody>
          <a:bodyPr wrap="square" lIns="0" tIns="0" rIns="0" bIns="0" anchor="t">
            <a:noAutofit/>
          </a:bodyPr>
          <a:lstStyle/>
          <a:p>
            <a:pPr algn="ctr">
              <a:lnSpc>
                <a:spcPts val="956"/>
              </a:lnSpc>
              <a:spcBef>
                <a:spcPts val="0"/>
              </a:spcBef>
              <a:spcAft>
                <a:spcPts val="0"/>
              </a:spcAft>
            </a:pPr>
            <a:r>
              <a:rPr sz="825" b="0" i="0" u="none">
                <a:solidFill>
                  <a:srgbClr val="5B6B84"/>
                </a:solidFill>
                <a:latin typeface="Arial"/>
              </a:rPr>
              <a:t>Payments</a:t>
            </a:r>
          </a:p>
        </p:txBody>
      </p:sp>
      <p:cxnSp>
        <p:nvCxnSpPr>
          <p:cNvPr id="29" name="Connector"/>
          <p:cNvCxnSpPr/>
          <p:nvPr/>
        </p:nvCxnSpPr>
        <p:spPr>
          <a:xfrm>
            <a:off x="6096000" y="2914650"/>
            <a:ext cx="0" cy="285750"/>
          </a:xfrm>
          <a:prstGeom prst="line">
            <a:avLst/>
          </a:prstGeom>
          <a:ln w="19050">
            <a:solidFill>
              <a:srgbClr val="0D9488"/>
            </a:solidFill>
            <a:tailEnd type="triangle"/>
          </a:ln>
        </p:spPr>
      </p:cxnSp>
      <p:sp>
        <p:nvSpPr>
          <p:cNvPr id="30" name="JWT badge"/>
          <p:cNvSpPr/>
          <p:nvPr/>
        </p:nvSpPr>
        <p:spPr>
          <a:xfrm>
            <a:off x="5219700" y="2571750"/>
            <a:ext cx="1752600" cy="342900"/>
          </a:xfrm>
          <a:prstGeom prst="roundRect">
            <a:avLst>
              <a:gd name="adj" fmla="val 50000"/>
            </a:avLst>
          </a:prstGeom>
          <a:solidFill>
            <a:srgbClr val="E3F7F5"/>
          </a:solidFill>
          <a:ln w="14287">
            <a:solidFill>
              <a:srgbClr val="0D9488"/>
            </a:solidFill>
          </a:ln>
        </p:spPr>
        <p:txBody>
          <a:bodyPr rtlCol="0" anchor="ctr"/>
          <a:lstStyle/>
          <a:p>
            <a:pPr algn="ctr"/>
            <a:endParaRPr/>
          </a:p>
        </p:txBody>
      </p:sp>
      <p:sp>
        <p:nvSpPr>
          <p:cNvPr id="31" name="JWT badge label"/>
          <p:cNvSpPr txBox="1"/>
          <p:nvPr/>
        </p:nvSpPr>
        <p:spPr>
          <a:xfrm>
            <a:off x="5219700" y="2657475"/>
            <a:ext cx="1752600" cy="190500"/>
          </a:xfrm>
          <a:prstGeom prst="rect">
            <a:avLst/>
          </a:prstGeom>
          <a:noFill/>
          <a:ln>
            <a:noFill/>
          </a:ln>
        </p:spPr>
        <p:txBody>
          <a:bodyPr wrap="square" lIns="0" tIns="0" rIns="0" bIns="0" anchor="t">
            <a:noAutofit/>
          </a:bodyPr>
          <a:lstStyle/>
          <a:p>
            <a:pPr algn="ctr">
              <a:lnSpc>
                <a:spcPts val="1130"/>
              </a:lnSpc>
              <a:spcBef>
                <a:spcPts val="0"/>
              </a:spcBef>
              <a:spcAft>
                <a:spcPts val="0"/>
              </a:spcAft>
            </a:pPr>
            <a:r>
              <a:rPr sz="975" b="1" i="0" u="none">
                <a:solidFill>
                  <a:srgbClr val="0D9488"/>
                </a:solidFill>
                <a:latin typeface="Arial"/>
              </a:rPr>
              <a:t>🔐 JWT Authentication</a:t>
            </a:r>
          </a:p>
        </p:txBody>
      </p:sp>
      <p:sp>
        <p:nvSpPr>
          <p:cNvPr id="32" name="Frontend label"/>
          <p:cNvSpPr txBox="1"/>
          <p:nvPr/>
        </p:nvSpPr>
        <p:spPr>
          <a:xfrm>
            <a:off x="685800" y="4267200"/>
            <a:ext cx="4381500" cy="228600"/>
          </a:xfrm>
          <a:prstGeom prst="rect">
            <a:avLst/>
          </a:prstGeom>
          <a:noFill/>
          <a:ln>
            <a:noFill/>
          </a:ln>
        </p:spPr>
        <p:txBody>
          <a:bodyPr wrap="square" lIns="0" tIns="0" rIns="0" bIns="0" anchor="t">
            <a:noAutofit/>
          </a:bodyPr>
          <a:lstStyle/>
          <a:p>
            <a:pPr algn="l">
              <a:lnSpc>
                <a:spcPts val="1130"/>
              </a:lnSpc>
              <a:spcBef>
                <a:spcPts val="0"/>
              </a:spcBef>
              <a:spcAft>
                <a:spcPts val="0"/>
              </a:spcAft>
            </a:pPr>
            <a:r>
              <a:rPr sz="975" b="1" i="0" u="none">
                <a:solidFill>
                  <a:srgbClr val="5B6B84"/>
                </a:solidFill>
                <a:latin typeface="Arial"/>
              </a:rPr>
              <a:t>Frontend (React + Vite · Context API · Axios)</a:t>
            </a:r>
          </a:p>
        </p:txBody>
      </p:sp>
      <p:sp>
        <p:nvSpPr>
          <p:cNvPr id="33" name="Backend label"/>
          <p:cNvSpPr txBox="1"/>
          <p:nvPr/>
        </p:nvSpPr>
        <p:spPr>
          <a:xfrm>
            <a:off x="6320789" y="4267200"/>
            <a:ext cx="4381500" cy="228600"/>
          </a:xfrm>
          <a:prstGeom prst="rect">
            <a:avLst/>
          </a:prstGeom>
          <a:noFill/>
          <a:ln>
            <a:noFill/>
          </a:ln>
        </p:spPr>
        <p:txBody>
          <a:bodyPr wrap="square" lIns="0" tIns="0" rIns="0" bIns="0" anchor="t">
            <a:noAutofit/>
          </a:bodyPr>
          <a:lstStyle/>
          <a:p>
            <a:pPr algn="l">
              <a:lnSpc>
                <a:spcPts val="1130"/>
              </a:lnSpc>
              <a:spcBef>
                <a:spcPts val="0"/>
              </a:spcBef>
              <a:spcAft>
                <a:spcPts val="0"/>
              </a:spcAft>
            </a:pPr>
            <a:r>
              <a:rPr sz="975" b="1" i="0" u="none">
                <a:solidFill>
                  <a:srgbClr val="5B6B84"/>
                </a:solidFill>
                <a:latin typeface="Arial"/>
              </a:rPr>
              <a:t>Backend (Express.js · SQL Server · Stripe)</a:t>
            </a:r>
          </a:p>
        </p:txBody>
      </p:sp>
      <p:sp>
        <p:nvSpPr>
          <p:cNvPr id="34" name="Page number"/>
          <p:cNvSpPr txBox="1"/>
          <p:nvPr/>
        </p:nvSpPr>
        <p:spPr>
          <a:xfrm>
            <a:off x="10934700" y="6477000"/>
            <a:ext cx="571500" cy="190500"/>
          </a:xfrm>
          <a:prstGeom prst="rect">
            <a:avLst/>
          </a:prstGeom>
          <a:noFill/>
          <a:ln>
            <a:noFill/>
          </a:ln>
        </p:spPr>
        <p:txBody>
          <a:bodyPr wrap="square" lIns="0" tIns="0" rIns="0" bIns="0" anchor="t">
            <a:noAutofit/>
          </a:bodyPr>
          <a:lstStyle/>
          <a:p>
            <a:pPr algn="r">
              <a:spcBef>
                <a:spcPts val="0"/>
              </a:spcBef>
              <a:spcAft>
                <a:spcPts val="0"/>
              </a:spcAft>
            </a:pPr>
            <a:r>
              <a:rPr sz="825" b="0" i="0" u="none">
                <a:solidFill>
                  <a:srgbClr val="5B6B84"/>
                </a:solidFill>
                <a:latin typeface="Arial"/>
              </a:rPr>
              <a:t>10 / 29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AFC"/>
        </a:solidFill>
        <a:effectLst/>
      </p:bgPr>
    </p:bg>
    <p:spTree>
      <p:nvGrpSpPr>
        <p:cNvPr id="1" name=""/>
        <p:cNvGrpSpPr/>
        <p:nvPr/>
      </p:nvGrpSpPr>
      <p:grpSpPr>
        <a:xfrm>
          <a:off x="0" y="0"/>
          <a:ext cx="0" cy="0"/>
          <a:chOff x="0" y="0"/>
          <a:chExt cx="0" cy="0"/>
        </a:xfrm>
      </p:grpSpPr>
      <p:sp>
        <p:nvSpPr>
          <p:cNvPr id="2" name="Section label"/>
          <p:cNvSpPr txBox="1"/>
          <p:nvPr/>
        </p:nvSpPr>
        <p:spPr>
          <a:xfrm>
            <a:off x="685800" y="685800"/>
            <a:ext cx="9525000" cy="247649"/>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1" i="0" u="none">
                <a:solidFill>
                  <a:srgbClr val="5B6B84"/>
                </a:solidFill>
                <a:latin typeface="Arial"/>
              </a:rPr>
              <a:t>SQL SERVER SCHEMA — KEY ENTITIES &amp; RELATIONSHIPS</a:t>
            </a:r>
          </a:p>
        </p:txBody>
      </p:sp>
      <p:sp>
        <p:nvSpPr>
          <p:cNvPr id="3" name="Title accent"/>
          <p:cNvSpPr/>
          <p:nvPr/>
        </p:nvSpPr>
        <p:spPr>
          <a:xfrm>
            <a:off x="685800" y="1009650"/>
            <a:ext cx="419100" cy="38100"/>
          </a:xfrm>
          <a:prstGeom prst="rect">
            <a:avLst/>
          </a:prstGeom>
          <a:solidFill>
            <a:srgbClr val="0D9488"/>
          </a:solidFill>
          <a:ln>
            <a:noFill/>
          </a:ln>
        </p:spPr>
        <p:txBody>
          <a:bodyPr rtlCol="0" anchor="ctr"/>
          <a:lstStyle/>
          <a:p>
            <a:pPr algn="ctr"/>
            <a:endParaRPr/>
          </a:p>
        </p:txBody>
      </p:sp>
      <p:sp>
        <p:nvSpPr>
          <p:cNvPr id="4" name="Slide title"/>
          <p:cNvSpPr txBox="1"/>
          <p:nvPr/>
        </p:nvSpPr>
        <p:spPr>
          <a:xfrm>
            <a:off x="685800" y="1181100"/>
            <a:ext cx="10820400" cy="876300"/>
          </a:xfrm>
          <a:prstGeom prst="rect">
            <a:avLst/>
          </a:prstGeom>
          <a:noFill/>
          <a:ln>
            <a:noFill/>
          </a:ln>
        </p:spPr>
        <p:txBody>
          <a:bodyPr wrap="square" lIns="0" tIns="0" rIns="0" bIns="0" anchor="t">
            <a:noAutofit/>
          </a:bodyPr>
          <a:lstStyle/>
          <a:p>
            <a:pPr algn="l">
              <a:lnSpc>
                <a:spcPts val="3120"/>
              </a:lnSpc>
              <a:spcBef>
                <a:spcPts val="0"/>
              </a:spcBef>
              <a:spcAft>
                <a:spcPts val="0"/>
              </a:spcAft>
            </a:pPr>
            <a:r>
              <a:rPr sz="3000" b="1" i="0" u="none">
                <a:solidFill>
                  <a:srgbClr val="132238"/>
                </a:solidFill>
                <a:latin typeface="Arial"/>
              </a:rPr>
              <a:t>Database Design</a:t>
            </a:r>
          </a:p>
        </p:txBody>
      </p:sp>
      <p:cxnSp>
        <p:nvCxnSpPr>
          <p:cNvPr id="5" name="Connector"/>
          <p:cNvCxnSpPr/>
          <p:nvPr/>
        </p:nvCxnSpPr>
        <p:spPr>
          <a:xfrm>
            <a:off x="2495550" y="2324100"/>
            <a:ext cx="533400" cy="0"/>
          </a:xfrm>
          <a:prstGeom prst="line">
            <a:avLst/>
          </a:prstGeom>
          <a:ln w="19050">
            <a:solidFill>
              <a:srgbClr val="DCE3EE"/>
            </a:solidFill>
          </a:ln>
        </p:spPr>
      </p:cxnSp>
      <p:cxnSp>
        <p:nvCxnSpPr>
          <p:cNvPr id="6" name="Connector"/>
          <p:cNvCxnSpPr/>
          <p:nvPr/>
        </p:nvCxnSpPr>
        <p:spPr>
          <a:xfrm>
            <a:off x="4838700" y="2324100"/>
            <a:ext cx="533400" cy="0"/>
          </a:xfrm>
          <a:prstGeom prst="line">
            <a:avLst/>
          </a:prstGeom>
          <a:ln w="19050">
            <a:solidFill>
              <a:srgbClr val="DCE3EE"/>
            </a:solidFill>
          </a:ln>
        </p:spPr>
      </p:cxnSp>
      <p:cxnSp>
        <p:nvCxnSpPr>
          <p:cNvPr id="7" name="Connector"/>
          <p:cNvCxnSpPr/>
          <p:nvPr/>
        </p:nvCxnSpPr>
        <p:spPr>
          <a:xfrm>
            <a:off x="7181850" y="2324100"/>
            <a:ext cx="533400" cy="0"/>
          </a:xfrm>
          <a:prstGeom prst="line">
            <a:avLst/>
          </a:prstGeom>
          <a:ln w="19050">
            <a:solidFill>
              <a:srgbClr val="DCE3EE"/>
            </a:solidFill>
          </a:ln>
        </p:spPr>
      </p:cxnSp>
      <p:cxnSp>
        <p:nvCxnSpPr>
          <p:cNvPr id="8" name="Connector"/>
          <p:cNvCxnSpPr/>
          <p:nvPr/>
        </p:nvCxnSpPr>
        <p:spPr>
          <a:xfrm>
            <a:off x="9525000" y="2324100"/>
            <a:ext cx="533400" cy="0"/>
          </a:xfrm>
          <a:prstGeom prst="line">
            <a:avLst/>
          </a:prstGeom>
          <a:ln w="19050">
            <a:solidFill>
              <a:srgbClr val="DCE3EE"/>
            </a:solidFill>
          </a:ln>
        </p:spPr>
      </p:cxnSp>
      <p:cxnSp>
        <p:nvCxnSpPr>
          <p:cNvPr id="9" name="Connector"/>
          <p:cNvCxnSpPr/>
          <p:nvPr/>
        </p:nvCxnSpPr>
        <p:spPr>
          <a:xfrm>
            <a:off x="1590675" y="2590800"/>
            <a:ext cx="0" cy="266700"/>
          </a:xfrm>
          <a:prstGeom prst="line">
            <a:avLst/>
          </a:prstGeom>
          <a:ln w="19050">
            <a:solidFill>
              <a:srgbClr val="0D9488"/>
            </a:solidFill>
          </a:ln>
        </p:spPr>
      </p:cxnSp>
      <p:cxnSp>
        <p:nvCxnSpPr>
          <p:cNvPr id="10" name="Connector"/>
          <p:cNvCxnSpPr/>
          <p:nvPr/>
        </p:nvCxnSpPr>
        <p:spPr>
          <a:xfrm>
            <a:off x="1590675" y="2857500"/>
            <a:ext cx="4686300" cy="0"/>
          </a:xfrm>
          <a:prstGeom prst="line">
            <a:avLst/>
          </a:prstGeom>
          <a:ln w="19050">
            <a:solidFill>
              <a:srgbClr val="0D9488"/>
            </a:solidFill>
          </a:ln>
        </p:spPr>
      </p:cxnSp>
      <p:cxnSp>
        <p:nvCxnSpPr>
          <p:cNvPr id="11" name="Connector"/>
          <p:cNvCxnSpPr/>
          <p:nvPr/>
        </p:nvCxnSpPr>
        <p:spPr>
          <a:xfrm flipV="1">
            <a:off x="6276975" y="2590800"/>
            <a:ext cx="0" cy="266700"/>
          </a:xfrm>
          <a:prstGeom prst="line">
            <a:avLst/>
          </a:prstGeom>
          <a:ln w="19050">
            <a:solidFill>
              <a:srgbClr val="0D9488"/>
            </a:solidFill>
            <a:tailEnd type="triangle"/>
          </a:ln>
        </p:spPr>
      </p:cxnSp>
      <p:cxnSp>
        <p:nvCxnSpPr>
          <p:cNvPr id="12" name="Connector"/>
          <p:cNvCxnSpPr/>
          <p:nvPr/>
        </p:nvCxnSpPr>
        <p:spPr>
          <a:xfrm>
            <a:off x="3933824" y="2590800"/>
            <a:ext cx="28575" cy="1028700"/>
          </a:xfrm>
          <a:prstGeom prst="line">
            <a:avLst/>
          </a:prstGeom>
          <a:ln w="19050">
            <a:solidFill>
              <a:srgbClr val="DCE3EE"/>
            </a:solidFill>
            <a:tailEnd type="triangle"/>
          </a:ln>
        </p:spPr>
      </p:cxnSp>
      <p:cxnSp>
        <p:nvCxnSpPr>
          <p:cNvPr id="13" name="Connector"/>
          <p:cNvCxnSpPr/>
          <p:nvPr/>
        </p:nvCxnSpPr>
        <p:spPr>
          <a:xfrm flipH="1">
            <a:off x="2381250" y="2590800"/>
            <a:ext cx="647700" cy="1028700"/>
          </a:xfrm>
          <a:prstGeom prst="line">
            <a:avLst/>
          </a:prstGeom>
          <a:ln w="19050">
            <a:solidFill>
              <a:srgbClr val="DCE3EE"/>
            </a:solidFill>
            <a:tailEnd type="triangle"/>
          </a:ln>
        </p:spPr>
      </p:cxnSp>
      <p:cxnSp>
        <p:nvCxnSpPr>
          <p:cNvPr id="14" name="Connector"/>
          <p:cNvCxnSpPr/>
          <p:nvPr/>
        </p:nvCxnSpPr>
        <p:spPr>
          <a:xfrm>
            <a:off x="1400175" y="2590800"/>
            <a:ext cx="314325" cy="1028700"/>
          </a:xfrm>
          <a:prstGeom prst="line">
            <a:avLst/>
          </a:prstGeom>
          <a:ln w="19050">
            <a:solidFill>
              <a:srgbClr val="DCE3EE"/>
            </a:solidFill>
            <a:tailEnd type="triangle"/>
          </a:ln>
        </p:spPr>
      </p:cxnSp>
      <p:sp>
        <p:nvSpPr>
          <p:cNvPr id="15" name="Users box"/>
          <p:cNvSpPr/>
          <p:nvPr/>
        </p:nvSpPr>
        <p:spPr>
          <a:xfrm>
            <a:off x="685800" y="2057400"/>
            <a:ext cx="1809750" cy="533400"/>
          </a:xfrm>
          <a:prstGeom prst="roundRect">
            <a:avLst>
              <a:gd name="adj" fmla="val 21428"/>
            </a:avLst>
          </a:prstGeom>
          <a:solidFill>
            <a:srgbClr val="FFFFFF"/>
          </a:solidFill>
          <a:ln w="14287">
            <a:solidFill>
              <a:srgbClr val="DCE3EE"/>
            </a:solidFill>
          </a:ln>
        </p:spPr>
        <p:txBody>
          <a:bodyPr rtlCol="0" anchor="ctr"/>
          <a:lstStyle/>
          <a:p>
            <a:pPr algn="ctr"/>
            <a:endParaRPr/>
          </a:p>
        </p:txBody>
      </p:sp>
      <p:sp>
        <p:nvSpPr>
          <p:cNvPr id="16" name="Users label"/>
          <p:cNvSpPr txBox="1"/>
          <p:nvPr/>
        </p:nvSpPr>
        <p:spPr>
          <a:xfrm>
            <a:off x="762000" y="2152650"/>
            <a:ext cx="1657350" cy="209550"/>
          </a:xfrm>
          <a:prstGeom prst="rect">
            <a:avLst/>
          </a:prstGeom>
          <a:noFill/>
          <a:ln>
            <a:noFill/>
          </a:ln>
        </p:spPr>
        <p:txBody>
          <a:bodyPr wrap="square" lIns="0" tIns="0" rIns="0" bIns="0" anchor="t">
            <a:noAutofit/>
          </a:bodyPr>
          <a:lstStyle/>
          <a:p>
            <a:pPr algn="ctr">
              <a:lnSpc>
                <a:spcPts val="1237"/>
              </a:lnSpc>
              <a:spcBef>
                <a:spcPts val="0"/>
              </a:spcBef>
              <a:spcAft>
                <a:spcPts val="0"/>
              </a:spcAft>
            </a:pPr>
            <a:r>
              <a:rPr sz="1125" b="1" i="0" u="none">
                <a:solidFill>
                  <a:srgbClr val="132238"/>
                </a:solidFill>
                <a:latin typeface="Arial"/>
              </a:rPr>
              <a:t>Users</a:t>
            </a:r>
          </a:p>
        </p:txBody>
      </p:sp>
      <p:sp>
        <p:nvSpPr>
          <p:cNvPr id="17" name="Users sublabel"/>
          <p:cNvSpPr txBox="1"/>
          <p:nvPr/>
        </p:nvSpPr>
        <p:spPr>
          <a:xfrm>
            <a:off x="762000" y="2381250"/>
            <a:ext cx="1657350" cy="171450"/>
          </a:xfrm>
          <a:prstGeom prst="rect">
            <a:avLst/>
          </a:prstGeom>
          <a:noFill/>
          <a:ln>
            <a:noFill/>
          </a:ln>
        </p:spPr>
        <p:txBody>
          <a:bodyPr wrap="square" lIns="0" tIns="0" rIns="0" bIns="0" anchor="t">
            <a:noAutofit/>
          </a:bodyPr>
          <a:lstStyle/>
          <a:p>
            <a:pPr algn="ctr">
              <a:lnSpc>
                <a:spcPts val="956"/>
              </a:lnSpc>
              <a:spcBef>
                <a:spcPts val="0"/>
              </a:spcBef>
              <a:spcAft>
                <a:spcPts val="0"/>
              </a:spcAft>
            </a:pPr>
            <a:r>
              <a:rPr sz="825" b="0" i="0" u="none">
                <a:solidFill>
                  <a:srgbClr val="5B6B84"/>
                </a:solidFill>
                <a:latin typeface="Arial"/>
              </a:rPr>
              <a:t>Patient &amp; Doctor roles</a:t>
            </a:r>
          </a:p>
        </p:txBody>
      </p:sp>
      <p:sp>
        <p:nvSpPr>
          <p:cNvPr id="18" name="Doctors box"/>
          <p:cNvSpPr/>
          <p:nvPr/>
        </p:nvSpPr>
        <p:spPr>
          <a:xfrm>
            <a:off x="3028950" y="2057400"/>
            <a:ext cx="1809750" cy="533400"/>
          </a:xfrm>
          <a:prstGeom prst="roundRect">
            <a:avLst>
              <a:gd name="adj" fmla="val 21428"/>
            </a:avLst>
          </a:prstGeom>
          <a:solidFill>
            <a:srgbClr val="FFFFFF"/>
          </a:solidFill>
          <a:ln w="14287">
            <a:solidFill>
              <a:srgbClr val="DCE3EE"/>
            </a:solidFill>
          </a:ln>
        </p:spPr>
        <p:txBody>
          <a:bodyPr rtlCol="0" anchor="ctr"/>
          <a:lstStyle/>
          <a:p>
            <a:pPr algn="ctr"/>
            <a:endParaRPr/>
          </a:p>
        </p:txBody>
      </p:sp>
      <p:sp>
        <p:nvSpPr>
          <p:cNvPr id="19" name="Doctors label"/>
          <p:cNvSpPr txBox="1"/>
          <p:nvPr/>
        </p:nvSpPr>
        <p:spPr>
          <a:xfrm>
            <a:off x="3105150" y="2152650"/>
            <a:ext cx="1657350" cy="209550"/>
          </a:xfrm>
          <a:prstGeom prst="rect">
            <a:avLst/>
          </a:prstGeom>
          <a:noFill/>
          <a:ln>
            <a:noFill/>
          </a:ln>
        </p:spPr>
        <p:txBody>
          <a:bodyPr wrap="square" lIns="0" tIns="0" rIns="0" bIns="0" anchor="t">
            <a:noAutofit/>
          </a:bodyPr>
          <a:lstStyle/>
          <a:p>
            <a:pPr algn="ctr">
              <a:lnSpc>
                <a:spcPts val="1237"/>
              </a:lnSpc>
              <a:spcBef>
                <a:spcPts val="0"/>
              </a:spcBef>
              <a:spcAft>
                <a:spcPts val="0"/>
              </a:spcAft>
            </a:pPr>
            <a:r>
              <a:rPr sz="1125" b="1" i="0" u="none">
                <a:solidFill>
                  <a:srgbClr val="132238"/>
                </a:solidFill>
                <a:latin typeface="Arial"/>
              </a:rPr>
              <a:t>Doctors</a:t>
            </a:r>
          </a:p>
        </p:txBody>
      </p:sp>
      <p:sp>
        <p:nvSpPr>
          <p:cNvPr id="20" name="Doctors sublabel"/>
          <p:cNvSpPr txBox="1"/>
          <p:nvPr/>
        </p:nvSpPr>
        <p:spPr>
          <a:xfrm>
            <a:off x="3105150" y="2381250"/>
            <a:ext cx="1657350" cy="171450"/>
          </a:xfrm>
          <a:prstGeom prst="rect">
            <a:avLst/>
          </a:prstGeom>
          <a:noFill/>
          <a:ln>
            <a:noFill/>
          </a:ln>
        </p:spPr>
        <p:txBody>
          <a:bodyPr wrap="square" lIns="0" tIns="0" rIns="0" bIns="0" anchor="t">
            <a:noAutofit/>
          </a:bodyPr>
          <a:lstStyle/>
          <a:p>
            <a:pPr algn="ctr">
              <a:lnSpc>
                <a:spcPts val="956"/>
              </a:lnSpc>
              <a:spcBef>
                <a:spcPts val="0"/>
              </a:spcBef>
              <a:spcAft>
                <a:spcPts val="0"/>
              </a:spcAft>
            </a:pPr>
            <a:r>
              <a:rPr sz="825" b="0" i="0" u="none">
                <a:solidFill>
                  <a:srgbClr val="5B6B84"/>
                </a:solidFill>
                <a:latin typeface="Arial"/>
              </a:rPr>
              <a:t>Doctor profile</a:t>
            </a:r>
          </a:p>
        </p:txBody>
      </p:sp>
      <p:sp>
        <p:nvSpPr>
          <p:cNvPr id="21" name="Appointments box"/>
          <p:cNvSpPr/>
          <p:nvPr/>
        </p:nvSpPr>
        <p:spPr>
          <a:xfrm>
            <a:off x="5372100" y="2057400"/>
            <a:ext cx="1809750" cy="533400"/>
          </a:xfrm>
          <a:prstGeom prst="roundRect">
            <a:avLst>
              <a:gd name="adj" fmla="val 21428"/>
            </a:avLst>
          </a:prstGeom>
          <a:solidFill>
            <a:srgbClr val="FFFFFF"/>
          </a:solidFill>
          <a:ln w="14287">
            <a:solidFill>
              <a:srgbClr val="DCE3EE"/>
            </a:solidFill>
          </a:ln>
        </p:spPr>
        <p:txBody>
          <a:bodyPr rtlCol="0" anchor="ctr"/>
          <a:lstStyle/>
          <a:p>
            <a:pPr algn="ctr"/>
            <a:endParaRPr/>
          </a:p>
        </p:txBody>
      </p:sp>
      <p:sp>
        <p:nvSpPr>
          <p:cNvPr id="22" name="Appointments label"/>
          <p:cNvSpPr txBox="1"/>
          <p:nvPr/>
        </p:nvSpPr>
        <p:spPr>
          <a:xfrm>
            <a:off x="5448300" y="2152650"/>
            <a:ext cx="1657350" cy="209550"/>
          </a:xfrm>
          <a:prstGeom prst="rect">
            <a:avLst/>
          </a:prstGeom>
          <a:noFill/>
          <a:ln>
            <a:noFill/>
          </a:ln>
        </p:spPr>
        <p:txBody>
          <a:bodyPr wrap="square" lIns="0" tIns="0" rIns="0" bIns="0" anchor="t">
            <a:noAutofit/>
          </a:bodyPr>
          <a:lstStyle/>
          <a:p>
            <a:pPr algn="ctr">
              <a:lnSpc>
                <a:spcPts val="1237"/>
              </a:lnSpc>
              <a:spcBef>
                <a:spcPts val="0"/>
              </a:spcBef>
              <a:spcAft>
                <a:spcPts val="0"/>
              </a:spcAft>
            </a:pPr>
            <a:r>
              <a:rPr sz="1125" b="1" i="0" u="none">
                <a:solidFill>
                  <a:srgbClr val="132238"/>
                </a:solidFill>
                <a:latin typeface="Arial"/>
              </a:rPr>
              <a:t>Appointments</a:t>
            </a:r>
          </a:p>
        </p:txBody>
      </p:sp>
      <p:sp>
        <p:nvSpPr>
          <p:cNvPr id="23" name="Appointments sublabel"/>
          <p:cNvSpPr txBox="1"/>
          <p:nvPr/>
        </p:nvSpPr>
        <p:spPr>
          <a:xfrm>
            <a:off x="5448300" y="2381250"/>
            <a:ext cx="1657350" cy="171450"/>
          </a:xfrm>
          <a:prstGeom prst="rect">
            <a:avLst/>
          </a:prstGeom>
          <a:noFill/>
          <a:ln>
            <a:noFill/>
          </a:ln>
        </p:spPr>
        <p:txBody>
          <a:bodyPr wrap="square" lIns="0" tIns="0" rIns="0" bIns="0" anchor="t">
            <a:noAutofit/>
          </a:bodyPr>
          <a:lstStyle/>
          <a:p>
            <a:pPr algn="ctr">
              <a:lnSpc>
                <a:spcPts val="956"/>
              </a:lnSpc>
              <a:spcBef>
                <a:spcPts val="0"/>
              </a:spcBef>
              <a:spcAft>
                <a:spcPts val="0"/>
              </a:spcAft>
            </a:pPr>
            <a:r>
              <a:rPr sz="825" b="0" i="0" u="none">
                <a:solidFill>
                  <a:srgbClr val="5B6B84"/>
                </a:solidFill>
                <a:latin typeface="Arial"/>
              </a:rPr>
              <a:t>Bookings</a:t>
            </a:r>
          </a:p>
        </p:txBody>
      </p:sp>
      <p:sp>
        <p:nvSpPr>
          <p:cNvPr id="24" name="Payments box"/>
          <p:cNvSpPr/>
          <p:nvPr/>
        </p:nvSpPr>
        <p:spPr>
          <a:xfrm>
            <a:off x="7715250" y="2057400"/>
            <a:ext cx="1809750" cy="533400"/>
          </a:xfrm>
          <a:prstGeom prst="roundRect">
            <a:avLst>
              <a:gd name="adj" fmla="val 21428"/>
            </a:avLst>
          </a:prstGeom>
          <a:solidFill>
            <a:srgbClr val="FFFFFF"/>
          </a:solidFill>
          <a:ln w="14287">
            <a:solidFill>
              <a:srgbClr val="DCE3EE"/>
            </a:solidFill>
          </a:ln>
        </p:spPr>
        <p:txBody>
          <a:bodyPr rtlCol="0" anchor="ctr"/>
          <a:lstStyle/>
          <a:p>
            <a:pPr algn="ctr"/>
            <a:endParaRPr/>
          </a:p>
        </p:txBody>
      </p:sp>
      <p:sp>
        <p:nvSpPr>
          <p:cNvPr id="25" name="Payments label"/>
          <p:cNvSpPr txBox="1"/>
          <p:nvPr/>
        </p:nvSpPr>
        <p:spPr>
          <a:xfrm>
            <a:off x="7791450" y="2152650"/>
            <a:ext cx="1657350" cy="209550"/>
          </a:xfrm>
          <a:prstGeom prst="rect">
            <a:avLst/>
          </a:prstGeom>
          <a:noFill/>
          <a:ln>
            <a:noFill/>
          </a:ln>
        </p:spPr>
        <p:txBody>
          <a:bodyPr wrap="square" lIns="0" tIns="0" rIns="0" bIns="0" anchor="t">
            <a:noAutofit/>
          </a:bodyPr>
          <a:lstStyle/>
          <a:p>
            <a:pPr algn="ctr">
              <a:lnSpc>
                <a:spcPts val="1237"/>
              </a:lnSpc>
              <a:spcBef>
                <a:spcPts val="0"/>
              </a:spcBef>
              <a:spcAft>
                <a:spcPts val="0"/>
              </a:spcAft>
            </a:pPr>
            <a:r>
              <a:rPr sz="1125" b="1" i="0" u="none">
                <a:solidFill>
                  <a:srgbClr val="132238"/>
                </a:solidFill>
                <a:latin typeface="Arial"/>
              </a:rPr>
              <a:t>Payments</a:t>
            </a:r>
          </a:p>
        </p:txBody>
      </p:sp>
      <p:sp>
        <p:nvSpPr>
          <p:cNvPr id="26" name="Payments sublabel"/>
          <p:cNvSpPr txBox="1"/>
          <p:nvPr/>
        </p:nvSpPr>
        <p:spPr>
          <a:xfrm>
            <a:off x="7791450" y="2381250"/>
            <a:ext cx="1657350" cy="171450"/>
          </a:xfrm>
          <a:prstGeom prst="rect">
            <a:avLst/>
          </a:prstGeom>
          <a:noFill/>
          <a:ln>
            <a:noFill/>
          </a:ln>
        </p:spPr>
        <p:txBody>
          <a:bodyPr wrap="square" lIns="0" tIns="0" rIns="0" bIns="0" anchor="t">
            <a:noAutofit/>
          </a:bodyPr>
          <a:lstStyle/>
          <a:p>
            <a:pPr algn="ctr">
              <a:lnSpc>
                <a:spcPts val="956"/>
              </a:lnSpc>
              <a:spcBef>
                <a:spcPts val="0"/>
              </a:spcBef>
              <a:spcAft>
                <a:spcPts val="0"/>
              </a:spcAft>
            </a:pPr>
            <a:r>
              <a:rPr sz="825" b="0" i="0" u="none">
                <a:solidFill>
                  <a:srgbClr val="5B6B84"/>
                </a:solidFill>
                <a:latin typeface="Arial"/>
              </a:rPr>
              <a:t>Stripe records</a:t>
            </a:r>
          </a:p>
        </p:txBody>
      </p:sp>
      <p:sp>
        <p:nvSpPr>
          <p:cNvPr id="27" name="Refunds box"/>
          <p:cNvSpPr/>
          <p:nvPr/>
        </p:nvSpPr>
        <p:spPr>
          <a:xfrm>
            <a:off x="10058400" y="2057400"/>
            <a:ext cx="1447800" cy="533400"/>
          </a:xfrm>
          <a:prstGeom prst="roundRect">
            <a:avLst>
              <a:gd name="adj" fmla="val 21428"/>
            </a:avLst>
          </a:prstGeom>
          <a:solidFill>
            <a:srgbClr val="FFFFFF"/>
          </a:solidFill>
          <a:ln w="14287">
            <a:solidFill>
              <a:srgbClr val="DCE3EE"/>
            </a:solidFill>
          </a:ln>
        </p:spPr>
        <p:txBody>
          <a:bodyPr rtlCol="0" anchor="ctr"/>
          <a:lstStyle/>
          <a:p>
            <a:pPr algn="ctr"/>
            <a:endParaRPr/>
          </a:p>
        </p:txBody>
      </p:sp>
      <p:sp>
        <p:nvSpPr>
          <p:cNvPr id="28" name="Refunds label"/>
          <p:cNvSpPr txBox="1"/>
          <p:nvPr/>
        </p:nvSpPr>
        <p:spPr>
          <a:xfrm>
            <a:off x="10134600" y="2152650"/>
            <a:ext cx="1295400" cy="209550"/>
          </a:xfrm>
          <a:prstGeom prst="rect">
            <a:avLst/>
          </a:prstGeom>
          <a:noFill/>
          <a:ln>
            <a:noFill/>
          </a:ln>
        </p:spPr>
        <p:txBody>
          <a:bodyPr wrap="square" lIns="0" tIns="0" rIns="0" bIns="0" anchor="t">
            <a:noAutofit/>
          </a:bodyPr>
          <a:lstStyle/>
          <a:p>
            <a:pPr algn="ctr">
              <a:lnSpc>
                <a:spcPts val="1237"/>
              </a:lnSpc>
              <a:spcBef>
                <a:spcPts val="0"/>
              </a:spcBef>
              <a:spcAft>
                <a:spcPts val="0"/>
              </a:spcAft>
            </a:pPr>
            <a:r>
              <a:rPr sz="1125" b="1" i="0" u="none">
                <a:solidFill>
                  <a:srgbClr val="132238"/>
                </a:solidFill>
                <a:latin typeface="Arial"/>
              </a:rPr>
              <a:t>Refunds</a:t>
            </a:r>
          </a:p>
        </p:txBody>
      </p:sp>
      <p:sp>
        <p:nvSpPr>
          <p:cNvPr id="29" name="Refunds sublabel"/>
          <p:cNvSpPr txBox="1"/>
          <p:nvPr/>
        </p:nvSpPr>
        <p:spPr>
          <a:xfrm>
            <a:off x="10134600" y="2381250"/>
            <a:ext cx="1295400" cy="171450"/>
          </a:xfrm>
          <a:prstGeom prst="rect">
            <a:avLst/>
          </a:prstGeom>
          <a:noFill/>
          <a:ln>
            <a:noFill/>
          </a:ln>
        </p:spPr>
        <p:txBody>
          <a:bodyPr wrap="square" lIns="0" tIns="0" rIns="0" bIns="0" anchor="t">
            <a:noAutofit/>
          </a:bodyPr>
          <a:lstStyle/>
          <a:p>
            <a:pPr algn="ctr">
              <a:lnSpc>
                <a:spcPts val="956"/>
              </a:lnSpc>
              <a:spcBef>
                <a:spcPts val="0"/>
              </a:spcBef>
              <a:spcAft>
                <a:spcPts val="0"/>
              </a:spcAft>
            </a:pPr>
            <a:r>
              <a:rPr sz="825" b="0" i="0" u="none">
                <a:solidFill>
                  <a:srgbClr val="5B6B84"/>
                </a:solidFill>
                <a:latin typeface="Arial"/>
              </a:rPr>
              <a:t>Cancellations</a:t>
            </a:r>
          </a:p>
        </p:txBody>
      </p:sp>
      <p:sp>
        <p:nvSpPr>
          <p:cNvPr id="30" name="Reviews box"/>
          <p:cNvSpPr/>
          <p:nvPr/>
        </p:nvSpPr>
        <p:spPr>
          <a:xfrm>
            <a:off x="857250" y="3619500"/>
            <a:ext cx="1714500" cy="533400"/>
          </a:xfrm>
          <a:prstGeom prst="roundRect">
            <a:avLst>
              <a:gd name="adj" fmla="val 21428"/>
            </a:avLst>
          </a:prstGeom>
          <a:solidFill>
            <a:srgbClr val="FFFFFF"/>
          </a:solidFill>
          <a:ln w="14287">
            <a:solidFill>
              <a:srgbClr val="DCE3EE"/>
            </a:solidFill>
          </a:ln>
        </p:spPr>
        <p:txBody>
          <a:bodyPr rtlCol="0" anchor="ctr"/>
          <a:lstStyle/>
          <a:p>
            <a:pPr algn="ctr"/>
            <a:endParaRPr/>
          </a:p>
        </p:txBody>
      </p:sp>
      <p:sp>
        <p:nvSpPr>
          <p:cNvPr id="31" name="Reviews label"/>
          <p:cNvSpPr txBox="1"/>
          <p:nvPr/>
        </p:nvSpPr>
        <p:spPr>
          <a:xfrm>
            <a:off x="933449" y="3714750"/>
            <a:ext cx="1562100" cy="209550"/>
          </a:xfrm>
          <a:prstGeom prst="rect">
            <a:avLst/>
          </a:prstGeom>
          <a:noFill/>
          <a:ln>
            <a:noFill/>
          </a:ln>
        </p:spPr>
        <p:txBody>
          <a:bodyPr wrap="square" lIns="0" tIns="0" rIns="0" bIns="0" anchor="t">
            <a:noAutofit/>
          </a:bodyPr>
          <a:lstStyle/>
          <a:p>
            <a:pPr algn="ctr">
              <a:lnSpc>
                <a:spcPts val="1237"/>
              </a:lnSpc>
              <a:spcBef>
                <a:spcPts val="0"/>
              </a:spcBef>
              <a:spcAft>
                <a:spcPts val="0"/>
              </a:spcAft>
            </a:pPr>
            <a:r>
              <a:rPr sz="1125" b="1" i="0" u="none">
                <a:solidFill>
                  <a:srgbClr val="132238"/>
                </a:solidFill>
                <a:latin typeface="Arial"/>
              </a:rPr>
              <a:t>Reviews</a:t>
            </a:r>
          </a:p>
        </p:txBody>
      </p:sp>
      <p:sp>
        <p:nvSpPr>
          <p:cNvPr id="32" name="Reviews sublabel"/>
          <p:cNvSpPr txBox="1"/>
          <p:nvPr/>
        </p:nvSpPr>
        <p:spPr>
          <a:xfrm>
            <a:off x="933449" y="3943350"/>
            <a:ext cx="1562100" cy="171450"/>
          </a:xfrm>
          <a:prstGeom prst="rect">
            <a:avLst/>
          </a:prstGeom>
          <a:noFill/>
          <a:ln>
            <a:noFill/>
          </a:ln>
        </p:spPr>
        <p:txBody>
          <a:bodyPr wrap="square" lIns="0" tIns="0" rIns="0" bIns="0" anchor="t">
            <a:noAutofit/>
          </a:bodyPr>
          <a:lstStyle/>
          <a:p>
            <a:pPr algn="ctr">
              <a:lnSpc>
                <a:spcPts val="956"/>
              </a:lnSpc>
              <a:spcBef>
                <a:spcPts val="0"/>
              </a:spcBef>
              <a:spcAft>
                <a:spcPts val="0"/>
              </a:spcAft>
            </a:pPr>
            <a:r>
              <a:rPr sz="825" b="0" i="0" u="none">
                <a:solidFill>
                  <a:srgbClr val="5B6B84"/>
                </a:solidFill>
                <a:latin typeface="Arial"/>
              </a:rPr>
              <a:t>Ratings</a:t>
            </a:r>
          </a:p>
        </p:txBody>
      </p:sp>
      <p:sp>
        <p:nvSpPr>
          <p:cNvPr id="33" name="DoctorAvailability box"/>
          <p:cNvSpPr/>
          <p:nvPr/>
        </p:nvSpPr>
        <p:spPr>
          <a:xfrm>
            <a:off x="3009900" y="3619500"/>
            <a:ext cx="1905000" cy="533400"/>
          </a:xfrm>
          <a:prstGeom prst="roundRect">
            <a:avLst>
              <a:gd name="adj" fmla="val 21428"/>
            </a:avLst>
          </a:prstGeom>
          <a:solidFill>
            <a:srgbClr val="FFFFFF"/>
          </a:solidFill>
          <a:ln w="14287">
            <a:solidFill>
              <a:srgbClr val="DCE3EE"/>
            </a:solidFill>
          </a:ln>
        </p:spPr>
        <p:txBody>
          <a:bodyPr rtlCol="0" anchor="ctr"/>
          <a:lstStyle/>
          <a:p>
            <a:pPr algn="ctr"/>
            <a:endParaRPr/>
          </a:p>
        </p:txBody>
      </p:sp>
      <p:sp>
        <p:nvSpPr>
          <p:cNvPr id="34" name="DoctorAvailability label"/>
          <p:cNvSpPr txBox="1"/>
          <p:nvPr/>
        </p:nvSpPr>
        <p:spPr>
          <a:xfrm>
            <a:off x="3086100" y="3714750"/>
            <a:ext cx="1752600" cy="209550"/>
          </a:xfrm>
          <a:prstGeom prst="rect">
            <a:avLst/>
          </a:prstGeom>
          <a:noFill/>
          <a:ln>
            <a:noFill/>
          </a:ln>
        </p:spPr>
        <p:txBody>
          <a:bodyPr wrap="square" lIns="0" tIns="0" rIns="0" bIns="0" anchor="t">
            <a:noAutofit/>
          </a:bodyPr>
          <a:lstStyle/>
          <a:p>
            <a:pPr algn="ctr">
              <a:lnSpc>
                <a:spcPts val="1072"/>
              </a:lnSpc>
              <a:spcBef>
                <a:spcPts val="0"/>
              </a:spcBef>
              <a:spcAft>
                <a:spcPts val="0"/>
              </a:spcAft>
            </a:pPr>
            <a:r>
              <a:rPr sz="975" b="1" i="0" u="none">
                <a:solidFill>
                  <a:srgbClr val="132238"/>
                </a:solidFill>
                <a:latin typeface="Arial"/>
              </a:rPr>
              <a:t>DoctorAvailability</a:t>
            </a:r>
          </a:p>
        </p:txBody>
      </p:sp>
      <p:sp>
        <p:nvSpPr>
          <p:cNvPr id="35" name="DoctorAvailability sublabel"/>
          <p:cNvSpPr txBox="1"/>
          <p:nvPr/>
        </p:nvSpPr>
        <p:spPr>
          <a:xfrm>
            <a:off x="3086100" y="3943350"/>
            <a:ext cx="1752600" cy="171450"/>
          </a:xfrm>
          <a:prstGeom prst="rect">
            <a:avLst/>
          </a:prstGeom>
          <a:noFill/>
          <a:ln>
            <a:noFill/>
          </a:ln>
        </p:spPr>
        <p:txBody>
          <a:bodyPr wrap="square" lIns="0" tIns="0" rIns="0" bIns="0" anchor="t">
            <a:noAutofit/>
          </a:bodyPr>
          <a:lstStyle/>
          <a:p>
            <a:pPr algn="ctr">
              <a:lnSpc>
                <a:spcPts val="956"/>
              </a:lnSpc>
              <a:spcBef>
                <a:spcPts val="0"/>
              </a:spcBef>
              <a:spcAft>
                <a:spcPts val="0"/>
              </a:spcAft>
            </a:pPr>
            <a:r>
              <a:rPr sz="825" b="0" i="0" u="none">
                <a:solidFill>
                  <a:srgbClr val="5B6B84"/>
                </a:solidFill>
                <a:latin typeface="Arial"/>
              </a:rPr>
              <a:t>Weekly slots</a:t>
            </a:r>
          </a:p>
        </p:txBody>
      </p:sp>
      <p:sp>
        <p:nvSpPr>
          <p:cNvPr id="36" name="ER footnote"/>
          <p:cNvSpPr txBox="1"/>
          <p:nvPr/>
        </p:nvSpPr>
        <p:spPr>
          <a:xfrm>
            <a:off x="685800" y="5334000"/>
            <a:ext cx="10820400" cy="247649"/>
          </a:xfrm>
          <a:prstGeom prst="rect">
            <a:avLst/>
          </a:prstGeom>
          <a:noFill/>
          <a:ln>
            <a:noFill/>
          </a:ln>
        </p:spPr>
        <p:txBody>
          <a:bodyPr wrap="square" lIns="0" tIns="0" rIns="0" bIns="0" anchor="t">
            <a:noAutofit/>
          </a:bodyPr>
          <a:lstStyle/>
          <a:p>
            <a:pPr algn="ctr">
              <a:lnSpc>
                <a:spcPts val="1218"/>
              </a:lnSpc>
              <a:spcBef>
                <a:spcPts val="0"/>
              </a:spcBef>
              <a:spcAft>
                <a:spcPts val="0"/>
              </a:spcAft>
            </a:pPr>
            <a:r>
              <a:rPr sz="1050" b="0" i="0" u="none">
                <a:solidFill>
                  <a:srgbClr val="5B6B84"/>
                </a:solidFill>
                <a:latin typeface="Arial"/>
              </a:rPr>
              <a:t>Patients and Doctors are both Users, distinguished by role. 7 tables · 6 views · 13 stored procedures · 2 triggers.</a:t>
            </a:r>
          </a:p>
        </p:txBody>
      </p:sp>
      <p:sp>
        <p:nvSpPr>
          <p:cNvPr id="37" name="Page number"/>
          <p:cNvSpPr txBox="1"/>
          <p:nvPr/>
        </p:nvSpPr>
        <p:spPr>
          <a:xfrm>
            <a:off x="10934700" y="6477000"/>
            <a:ext cx="571500" cy="190500"/>
          </a:xfrm>
          <a:prstGeom prst="rect">
            <a:avLst/>
          </a:prstGeom>
          <a:noFill/>
          <a:ln>
            <a:noFill/>
          </a:ln>
        </p:spPr>
        <p:txBody>
          <a:bodyPr wrap="square" lIns="0" tIns="0" rIns="0" bIns="0" anchor="t">
            <a:noAutofit/>
          </a:bodyPr>
          <a:lstStyle/>
          <a:p>
            <a:pPr algn="r">
              <a:spcBef>
                <a:spcPts val="0"/>
              </a:spcBef>
              <a:spcAft>
                <a:spcPts val="0"/>
              </a:spcAft>
            </a:pPr>
            <a:r>
              <a:rPr sz="825" b="0" i="0" u="none">
                <a:solidFill>
                  <a:srgbClr val="5B6B84"/>
                </a:solidFill>
                <a:latin typeface="Arial"/>
              </a:rPr>
              <a:t>11 / 29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AFC"/>
        </a:solidFill>
        <a:effectLst/>
      </p:bgPr>
    </p:bg>
    <p:spTree>
      <p:nvGrpSpPr>
        <p:cNvPr id="1" name=""/>
        <p:cNvGrpSpPr/>
        <p:nvPr/>
      </p:nvGrpSpPr>
      <p:grpSpPr>
        <a:xfrm>
          <a:off x="0" y="0"/>
          <a:ext cx="0" cy="0"/>
          <a:chOff x="0" y="0"/>
          <a:chExt cx="0" cy="0"/>
        </a:xfrm>
      </p:grpSpPr>
      <p:sp>
        <p:nvSpPr>
          <p:cNvPr id="2" name="Section label"/>
          <p:cNvSpPr txBox="1"/>
          <p:nvPr/>
        </p:nvSpPr>
        <p:spPr>
          <a:xfrm>
            <a:off x="685800" y="685800"/>
            <a:ext cx="9525000" cy="247649"/>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1" i="0" u="none">
                <a:solidFill>
                  <a:srgbClr val="5B6B84"/>
                </a:solidFill>
                <a:latin typeface="Arial"/>
              </a:rPr>
              <a:t>41 ENDPOINTS ACROSS 8 MODULES — 34 UNIQUE ROUTES</a:t>
            </a:r>
          </a:p>
        </p:txBody>
      </p:sp>
      <p:sp>
        <p:nvSpPr>
          <p:cNvPr id="3" name="Title accent"/>
          <p:cNvSpPr/>
          <p:nvPr/>
        </p:nvSpPr>
        <p:spPr>
          <a:xfrm>
            <a:off x="685800" y="1009650"/>
            <a:ext cx="419100" cy="38100"/>
          </a:xfrm>
          <a:prstGeom prst="rect">
            <a:avLst/>
          </a:prstGeom>
          <a:solidFill>
            <a:srgbClr val="0D9488"/>
          </a:solidFill>
          <a:ln>
            <a:noFill/>
          </a:ln>
        </p:spPr>
        <p:txBody>
          <a:bodyPr rtlCol="0" anchor="ctr"/>
          <a:lstStyle/>
          <a:p>
            <a:pPr algn="ctr"/>
            <a:endParaRPr/>
          </a:p>
        </p:txBody>
      </p:sp>
      <p:sp>
        <p:nvSpPr>
          <p:cNvPr id="4" name="Slide title"/>
          <p:cNvSpPr txBox="1"/>
          <p:nvPr/>
        </p:nvSpPr>
        <p:spPr>
          <a:xfrm>
            <a:off x="685800" y="1181100"/>
            <a:ext cx="10820400" cy="876300"/>
          </a:xfrm>
          <a:prstGeom prst="rect">
            <a:avLst/>
          </a:prstGeom>
          <a:noFill/>
          <a:ln>
            <a:noFill/>
          </a:ln>
        </p:spPr>
        <p:txBody>
          <a:bodyPr wrap="square" lIns="0" tIns="0" rIns="0" bIns="0" anchor="t">
            <a:noAutofit/>
          </a:bodyPr>
          <a:lstStyle/>
          <a:p>
            <a:pPr algn="l">
              <a:lnSpc>
                <a:spcPts val="3120"/>
              </a:lnSpc>
              <a:spcBef>
                <a:spcPts val="0"/>
              </a:spcBef>
              <a:spcAft>
                <a:spcPts val="0"/>
              </a:spcAft>
            </a:pPr>
            <a:r>
              <a:rPr sz="3000" b="1" i="0" u="none">
                <a:solidFill>
                  <a:srgbClr val="132238"/>
                </a:solidFill>
                <a:latin typeface="Arial"/>
              </a:rPr>
              <a:t>API Architecture</a:t>
            </a:r>
          </a:p>
        </p:txBody>
      </p:sp>
      <p:sp>
        <p:nvSpPr>
          <p:cNvPr id="5" name="Authentication card"/>
          <p:cNvSpPr/>
          <p:nvPr/>
        </p:nvSpPr>
        <p:spPr>
          <a:xfrm>
            <a:off x="685800" y="2171700"/>
            <a:ext cx="2562225" cy="1638300"/>
          </a:xfrm>
          <a:prstGeom prst="roundRect">
            <a:avLst>
              <a:gd name="adj" fmla="val 6976"/>
            </a:avLst>
          </a:prstGeom>
          <a:solidFill>
            <a:srgbClr val="FFFFFF"/>
          </a:solidFill>
          <a:ln w="9525">
            <a:solidFill>
              <a:srgbClr val="DCE3EE"/>
            </a:solidFill>
          </a:ln>
        </p:spPr>
        <p:txBody>
          <a:bodyPr rtlCol="0" anchor="ctr"/>
          <a:lstStyle/>
          <a:p>
            <a:pPr algn="ctr"/>
            <a:endParaRPr/>
          </a:p>
        </p:txBody>
      </p:sp>
      <p:sp>
        <p:nvSpPr>
          <p:cNvPr id="6" name="Authentication accent"/>
          <p:cNvSpPr/>
          <p:nvPr/>
        </p:nvSpPr>
        <p:spPr>
          <a:xfrm>
            <a:off x="685800" y="2171700"/>
            <a:ext cx="2562225" cy="47625"/>
          </a:xfrm>
          <a:prstGeom prst="rect">
            <a:avLst/>
          </a:prstGeom>
          <a:solidFill>
            <a:srgbClr val="0D9488"/>
          </a:solidFill>
          <a:ln>
            <a:noFill/>
          </a:ln>
        </p:spPr>
        <p:txBody>
          <a:bodyPr rtlCol="0" anchor="ctr"/>
          <a:lstStyle/>
          <a:p>
            <a:pPr algn="ctr"/>
            <a:endParaRPr/>
          </a:p>
        </p:txBody>
      </p:sp>
      <p:sp>
        <p:nvSpPr>
          <p:cNvPr id="7" name="Authentication count"/>
          <p:cNvSpPr txBox="1"/>
          <p:nvPr/>
        </p:nvSpPr>
        <p:spPr>
          <a:xfrm>
            <a:off x="876300" y="2362200"/>
            <a:ext cx="2181225" cy="381000"/>
          </a:xfrm>
          <a:prstGeom prst="rect">
            <a:avLst/>
          </a:prstGeom>
          <a:noFill/>
          <a:ln>
            <a:noFill/>
          </a:ln>
        </p:spPr>
        <p:txBody>
          <a:bodyPr wrap="square" lIns="0" tIns="0" rIns="0" bIns="0" anchor="t">
            <a:noAutofit/>
          </a:bodyPr>
          <a:lstStyle/>
          <a:p>
            <a:pPr algn="l">
              <a:lnSpc>
                <a:spcPts val="2610"/>
              </a:lnSpc>
              <a:spcBef>
                <a:spcPts val="0"/>
              </a:spcBef>
              <a:spcAft>
                <a:spcPts val="0"/>
              </a:spcAft>
            </a:pPr>
            <a:r>
              <a:rPr sz="2250" b="1" i="0" u="none">
                <a:solidFill>
                  <a:srgbClr val="0D9488"/>
                </a:solidFill>
                <a:latin typeface="Arial"/>
              </a:rPr>
              <a:t>4</a:t>
            </a:r>
          </a:p>
        </p:txBody>
      </p:sp>
      <p:sp>
        <p:nvSpPr>
          <p:cNvPr id="8" name="Authentication title"/>
          <p:cNvSpPr txBox="1"/>
          <p:nvPr/>
        </p:nvSpPr>
        <p:spPr>
          <a:xfrm>
            <a:off x="876300" y="2762250"/>
            <a:ext cx="2181225" cy="247649"/>
          </a:xfrm>
          <a:prstGeom prst="rect">
            <a:avLst/>
          </a:prstGeom>
          <a:noFill/>
          <a:ln>
            <a:noFill/>
          </a:ln>
        </p:spPr>
        <p:txBody>
          <a:bodyPr wrap="square" lIns="0" tIns="0" rIns="0" bIns="0" anchor="t">
            <a:noAutofit/>
          </a:bodyPr>
          <a:lstStyle/>
          <a:p>
            <a:pPr algn="l">
              <a:lnSpc>
                <a:spcPts val="1479"/>
              </a:lnSpc>
              <a:spcBef>
                <a:spcPts val="0"/>
              </a:spcBef>
              <a:spcAft>
                <a:spcPts val="0"/>
              </a:spcAft>
            </a:pPr>
            <a:r>
              <a:rPr sz="1275" b="1" i="0" u="none">
                <a:solidFill>
                  <a:srgbClr val="132238"/>
                </a:solidFill>
                <a:latin typeface="Arial"/>
              </a:rPr>
              <a:t>Authentication</a:t>
            </a:r>
          </a:p>
        </p:txBody>
      </p:sp>
      <p:sp>
        <p:nvSpPr>
          <p:cNvPr id="9" name="Authentication body"/>
          <p:cNvSpPr txBox="1"/>
          <p:nvPr/>
        </p:nvSpPr>
        <p:spPr>
          <a:xfrm>
            <a:off x="876300" y="3048000"/>
            <a:ext cx="2181225" cy="666750"/>
          </a:xfrm>
          <a:prstGeom prst="rect">
            <a:avLst/>
          </a:prstGeom>
          <a:noFill/>
          <a:ln>
            <a:noFill/>
          </a:ln>
        </p:spPr>
        <p:txBody>
          <a:bodyPr wrap="square" lIns="0" tIns="0" rIns="0" bIns="0" anchor="t">
            <a:noAutofit/>
          </a:bodyPr>
          <a:lstStyle/>
          <a:p>
            <a:pPr algn="l">
              <a:lnSpc>
                <a:spcPts val="1267"/>
              </a:lnSpc>
              <a:spcBef>
                <a:spcPts val="0"/>
              </a:spcBef>
              <a:spcAft>
                <a:spcPts val="0"/>
              </a:spcAft>
            </a:pPr>
            <a:r>
              <a:rPr sz="975" b="0" i="0" u="none">
                <a:solidFill>
                  <a:srgbClr val="5B6B84"/>
                </a:solidFill>
                <a:latin typeface="Arial"/>
              </a:rPr>
              <a:t>Register, login, get &amp; update profile</a:t>
            </a:r>
          </a:p>
        </p:txBody>
      </p:sp>
      <p:sp>
        <p:nvSpPr>
          <p:cNvPr id="10" name="Doctor card"/>
          <p:cNvSpPr/>
          <p:nvPr/>
        </p:nvSpPr>
        <p:spPr>
          <a:xfrm>
            <a:off x="3438525" y="2171700"/>
            <a:ext cx="2562225" cy="1638300"/>
          </a:xfrm>
          <a:prstGeom prst="roundRect">
            <a:avLst>
              <a:gd name="adj" fmla="val 6976"/>
            </a:avLst>
          </a:prstGeom>
          <a:solidFill>
            <a:srgbClr val="FFFFFF"/>
          </a:solidFill>
          <a:ln w="9525">
            <a:solidFill>
              <a:srgbClr val="DCE3EE"/>
            </a:solidFill>
          </a:ln>
        </p:spPr>
        <p:txBody>
          <a:bodyPr rtlCol="0" anchor="ctr"/>
          <a:lstStyle/>
          <a:p>
            <a:pPr algn="ctr"/>
            <a:endParaRPr/>
          </a:p>
        </p:txBody>
      </p:sp>
      <p:sp>
        <p:nvSpPr>
          <p:cNvPr id="11" name="Doctor accent"/>
          <p:cNvSpPr/>
          <p:nvPr/>
        </p:nvSpPr>
        <p:spPr>
          <a:xfrm>
            <a:off x="3438525" y="2171700"/>
            <a:ext cx="2562225" cy="47625"/>
          </a:xfrm>
          <a:prstGeom prst="rect">
            <a:avLst/>
          </a:prstGeom>
          <a:solidFill>
            <a:srgbClr val="0D9488"/>
          </a:solidFill>
          <a:ln>
            <a:noFill/>
          </a:ln>
        </p:spPr>
        <p:txBody>
          <a:bodyPr rtlCol="0" anchor="ctr"/>
          <a:lstStyle/>
          <a:p>
            <a:pPr algn="ctr"/>
            <a:endParaRPr/>
          </a:p>
        </p:txBody>
      </p:sp>
      <p:sp>
        <p:nvSpPr>
          <p:cNvPr id="12" name="Doctor count"/>
          <p:cNvSpPr txBox="1"/>
          <p:nvPr/>
        </p:nvSpPr>
        <p:spPr>
          <a:xfrm>
            <a:off x="3629025" y="2362200"/>
            <a:ext cx="2181225" cy="381000"/>
          </a:xfrm>
          <a:prstGeom prst="rect">
            <a:avLst/>
          </a:prstGeom>
          <a:noFill/>
          <a:ln>
            <a:noFill/>
          </a:ln>
        </p:spPr>
        <p:txBody>
          <a:bodyPr wrap="square" lIns="0" tIns="0" rIns="0" bIns="0" anchor="t">
            <a:noAutofit/>
          </a:bodyPr>
          <a:lstStyle/>
          <a:p>
            <a:pPr algn="l">
              <a:lnSpc>
                <a:spcPts val="2610"/>
              </a:lnSpc>
              <a:spcBef>
                <a:spcPts val="0"/>
              </a:spcBef>
              <a:spcAft>
                <a:spcPts val="0"/>
              </a:spcAft>
            </a:pPr>
            <a:r>
              <a:rPr sz="2250" b="1" i="0" u="none">
                <a:solidFill>
                  <a:srgbClr val="0D9488"/>
                </a:solidFill>
                <a:latin typeface="Arial"/>
              </a:rPr>
              <a:t>6</a:t>
            </a:r>
          </a:p>
        </p:txBody>
      </p:sp>
      <p:sp>
        <p:nvSpPr>
          <p:cNvPr id="13" name="Doctor title"/>
          <p:cNvSpPr txBox="1"/>
          <p:nvPr/>
        </p:nvSpPr>
        <p:spPr>
          <a:xfrm>
            <a:off x="3629025" y="2762250"/>
            <a:ext cx="2181225" cy="247649"/>
          </a:xfrm>
          <a:prstGeom prst="rect">
            <a:avLst/>
          </a:prstGeom>
          <a:noFill/>
          <a:ln>
            <a:noFill/>
          </a:ln>
        </p:spPr>
        <p:txBody>
          <a:bodyPr wrap="square" lIns="0" tIns="0" rIns="0" bIns="0" anchor="t">
            <a:noAutofit/>
          </a:bodyPr>
          <a:lstStyle/>
          <a:p>
            <a:pPr algn="l">
              <a:lnSpc>
                <a:spcPts val="1479"/>
              </a:lnSpc>
              <a:spcBef>
                <a:spcPts val="0"/>
              </a:spcBef>
              <a:spcAft>
                <a:spcPts val="0"/>
              </a:spcAft>
            </a:pPr>
            <a:r>
              <a:rPr sz="1275" b="1" i="0" u="none">
                <a:solidFill>
                  <a:srgbClr val="132238"/>
                </a:solidFill>
                <a:latin typeface="Arial"/>
              </a:rPr>
              <a:t>Doctor</a:t>
            </a:r>
          </a:p>
        </p:txBody>
      </p:sp>
      <p:sp>
        <p:nvSpPr>
          <p:cNvPr id="14" name="Doctor body"/>
          <p:cNvSpPr txBox="1"/>
          <p:nvPr/>
        </p:nvSpPr>
        <p:spPr>
          <a:xfrm>
            <a:off x="3629025" y="3048000"/>
            <a:ext cx="2181225" cy="666750"/>
          </a:xfrm>
          <a:prstGeom prst="rect">
            <a:avLst/>
          </a:prstGeom>
          <a:noFill/>
          <a:ln>
            <a:noFill/>
          </a:ln>
        </p:spPr>
        <p:txBody>
          <a:bodyPr wrap="square" lIns="0" tIns="0" rIns="0" bIns="0" anchor="t">
            <a:noAutofit/>
          </a:bodyPr>
          <a:lstStyle/>
          <a:p>
            <a:pPr algn="l">
              <a:lnSpc>
                <a:spcPts val="1267"/>
              </a:lnSpc>
              <a:spcBef>
                <a:spcPts val="0"/>
              </a:spcBef>
              <a:spcAft>
                <a:spcPts val="0"/>
              </a:spcAft>
            </a:pPr>
            <a:r>
              <a:rPr sz="975" b="0" i="0" u="none">
                <a:solidFill>
                  <a:srgbClr val="5B6B84"/>
                </a:solidFill>
                <a:latin typeface="Arial"/>
              </a:rPr>
              <a:t>List, view, update, create, delete</a:t>
            </a:r>
          </a:p>
        </p:txBody>
      </p:sp>
      <p:sp>
        <p:nvSpPr>
          <p:cNvPr id="15" name="Patient / User card"/>
          <p:cNvSpPr/>
          <p:nvPr/>
        </p:nvSpPr>
        <p:spPr>
          <a:xfrm>
            <a:off x="6191250" y="2171700"/>
            <a:ext cx="2562225" cy="1638300"/>
          </a:xfrm>
          <a:prstGeom prst="roundRect">
            <a:avLst>
              <a:gd name="adj" fmla="val 6976"/>
            </a:avLst>
          </a:prstGeom>
          <a:solidFill>
            <a:srgbClr val="FFFFFF"/>
          </a:solidFill>
          <a:ln w="9525">
            <a:solidFill>
              <a:srgbClr val="DCE3EE"/>
            </a:solidFill>
          </a:ln>
        </p:spPr>
        <p:txBody>
          <a:bodyPr rtlCol="0" anchor="ctr"/>
          <a:lstStyle/>
          <a:p>
            <a:pPr algn="ctr"/>
            <a:endParaRPr/>
          </a:p>
        </p:txBody>
      </p:sp>
      <p:sp>
        <p:nvSpPr>
          <p:cNvPr id="16" name="Patient / User accent"/>
          <p:cNvSpPr/>
          <p:nvPr/>
        </p:nvSpPr>
        <p:spPr>
          <a:xfrm>
            <a:off x="6191250" y="2171700"/>
            <a:ext cx="2562225" cy="47625"/>
          </a:xfrm>
          <a:prstGeom prst="rect">
            <a:avLst/>
          </a:prstGeom>
          <a:solidFill>
            <a:srgbClr val="0D9488"/>
          </a:solidFill>
          <a:ln>
            <a:noFill/>
          </a:ln>
        </p:spPr>
        <p:txBody>
          <a:bodyPr rtlCol="0" anchor="ctr"/>
          <a:lstStyle/>
          <a:p>
            <a:pPr algn="ctr"/>
            <a:endParaRPr/>
          </a:p>
        </p:txBody>
      </p:sp>
      <p:sp>
        <p:nvSpPr>
          <p:cNvPr id="17" name="Patient / User count"/>
          <p:cNvSpPr txBox="1"/>
          <p:nvPr/>
        </p:nvSpPr>
        <p:spPr>
          <a:xfrm>
            <a:off x="6381750" y="2362200"/>
            <a:ext cx="2181225" cy="381000"/>
          </a:xfrm>
          <a:prstGeom prst="rect">
            <a:avLst/>
          </a:prstGeom>
          <a:noFill/>
          <a:ln>
            <a:noFill/>
          </a:ln>
        </p:spPr>
        <p:txBody>
          <a:bodyPr wrap="square" lIns="0" tIns="0" rIns="0" bIns="0" anchor="t">
            <a:noAutofit/>
          </a:bodyPr>
          <a:lstStyle/>
          <a:p>
            <a:pPr algn="l">
              <a:lnSpc>
                <a:spcPts val="2610"/>
              </a:lnSpc>
              <a:spcBef>
                <a:spcPts val="0"/>
              </a:spcBef>
              <a:spcAft>
                <a:spcPts val="0"/>
              </a:spcAft>
            </a:pPr>
            <a:r>
              <a:rPr sz="2250" b="1" i="0" u="none">
                <a:solidFill>
                  <a:srgbClr val="0D9488"/>
                </a:solidFill>
                <a:latin typeface="Arial"/>
              </a:rPr>
              <a:t>3</a:t>
            </a:r>
          </a:p>
        </p:txBody>
      </p:sp>
      <p:sp>
        <p:nvSpPr>
          <p:cNvPr id="18" name="Patient / User title"/>
          <p:cNvSpPr txBox="1"/>
          <p:nvPr/>
        </p:nvSpPr>
        <p:spPr>
          <a:xfrm>
            <a:off x="6381750" y="2762250"/>
            <a:ext cx="2181225" cy="247649"/>
          </a:xfrm>
          <a:prstGeom prst="rect">
            <a:avLst/>
          </a:prstGeom>
          <a:noFill/>
          <a:ln>
            <a:noFill/>
          </a:ln>
        </p:spPr>
        <p:txBody>
          <a:bodyPr wrap="square" lIns="0" tIns="0" rIns="0" bIns="0" anchor="t">
            <a:noAutofit/>
          </a:bodyPr>
          <a:lstStyle/>
          <a:p>
            <a:pPr algn="l">
              <a:lnSpc>
                <a:spcPts val="1479"/>
              </a:lnSpc>
              <a:spcBef>
                <a:spcPts val="0"/>
              </a:spcBef>
              <a:spcAft>
                <a:spcPts val="0"/>
              </a:spcAft>
            </a:pPr>
            <a:r>
              <a:rPr sz="1275" b="1" i="0" u="none">
                <a:solidFill>
                  <a:srgbClr val="132238"/>
                </a:solidFill>
                <a:latin typeface="Arial"/>
              </a:rPr>
              <a:t>Patient / User</a:t>
            </a:r>
          </a:p>
        </p:txBody>
      </p:sp>
      <p:sp>
        <p:nvSpPr>
          <p:cNvPr id="19" name="Patient / User body"/>
          <p:cNvSpPr txBox="1"/>
          <p:nvPr/>
        </p:nvSpPr>
        <p:spPr>
          <a:xfrm>
            <a:off x="6381750" y="3048000"/>
            <a:ext cx="2181225" cy="666750"/>
          </a:xfrm>
          <a:prstGeom prst="rect">
            <a:avLst/>
          </a:prstGeom>
          <a:noFill/>
          <a:ln>
            <a:noFill/>
          </a:ln>
        </p:spPr>
        <p:txBody>
          <a:bodyPr wrap="square" lIns="0" tIns="0" rIns="0" bIns="0" anchor="t">
            <a:noAutofit/>
          </a:bodyPr>
          <a:lstStyle/>
          <a:p>
            <a:pPr algn="l">
              <a:lnSpc>
                <a:spcPts val="1267"/>
              </a:lnSpc>
              <a:spcBef>
                <a:spcPts val="0"/>
              </a:spcBef>
              <a:spcAft>
                <a:spcPts val="0"/>
              </a:spcAft>
            </a:pPr>
            <a:r>
              <a:rPr sz="975" b="0" i="0" u="none">
                <a:solidFill>
                  <a:srgbClr val="5B6B84"/>
                </a:solidFill>
                <a:latin typeface="Arial"/>
              </a:rPr>
              <a:t>Profile &amp; user statistics</a:t>
            </a:r>
          </a:p>
        </p:txBody>
      </p:sp>
      <p:sp>
        <p:nvSpPr>
          <p:cNvPr id="20" name="Appointments card"/>
          <p:cNvSpPr/>
          <p:nvPr/>
        </p:nvSpPr>
        <p:spPr>
          <a:xfrm>
            <a:off x="8943975" y="2171700"/>
            <a:ext cx="2562225" cy="1638300"/>
          </a:xfrm>
          <a:prstGeom prst="roundRect">
            <a:avLst>
              <a:gd name="adj" fmla="val 6976"/>
            </a:avLst>
          </a:prstGeom>
          <a:solidFill>
            <a:srgbClr val="FFFFFF"/>
          </a:solidFill>
          <a:ln w="9525">
            <a:solidFill>
              <a:srgbClr val="DCE3EE"/>
            </a:solidFill>
          </a:ln>
        </p:spPr>
        <p:txBody>
          <a:bodyPr rtlCol="0" anchor="ctr"/>
          <a:lstStyle/>
          <a:p>
            <a:pPr algn="ctr"/>
            <a:endParaRPr/>
          </a:p>
        </p:txBody>
      </p:sp>
      <p:sp>
        <p:nvSpPr>
          <p:cNvPr id="21" name="Appointments accent"/>
          <p:cNvSpPr/>
          <p:nvPr/>
        </p:nvSpPr>
        <p:spPr>
          <a:xfrm>
            <a:off x="8943975" y="2171700"/>
            <a:ext cx="2562225" cy="47625"/>
          </a:xfrm>
          <a:prstGeom prst="rect">
            <a:avLst/>
          </a:prstGeom>
          <a:solidFill>
            <a:srgbClr val="0D9488"/>
          </a:solidFill>
          <a:ln>
            <a:noFill/>
          </a:ln>
        </p:spPr>
        <p:txBody>
          <a:bodyPr rtlCol="0" anchor="ctr"/>
          <a:lstStyle/>
          <a:p>
            <a:pPr algn="ctr"/>
            <a:endParaRPr/>
          </a:p>
        </p:txBody>
      </p:sp>
      <p:sp>
        <p:nvSpPr>
          <p:cNvPr id="22" name="Appointments count"/>
          <p:cNvSpPr txBox="1"/>
          <p:nvPr/>
        </p:nvSpPr>
        <p:spPr>
          <a:xfrm>
            <a:off x="9134475" y="2362200"/>
            <a:ext cx="2181225" cy="381000"/>
          </a:xfrm>
          <a:prstGeom prst="rect">
            <a:avLst/>
          </a:prstGeom>
          <a:noFill/>
          <a:ln>
            <a:noFill/>
          </a:ln>
        </p:spPr>
        <p:txBody>
          <a:bodyPr wrap="square" lIns="0" tIns="0" rIns="0" bIns="0" anchor="t">
            <a:noAutofit/>
          </a:bodyPr>
          <a:lstStyle/>
          <a:p>
            <a:pPr algn="l">
              <a:lnSpc>
                <a:spcPts val="2610"/>
              </a:lnSpc>
              <a:spcBef>
                <a:spcPts val="0"/>
              </a:spcBef>
              <a:spcAft>
                <a:spcPts val="0"/>
              </a:spcAft>
            </a:pPr>
            <a:r>
              <a:rPr sz="2250" b="1" i="0" u="none">
                <a:solidFill>
                  <a:srgbClr val="0D9488"/>
                </a:solidFill>
                <a:latin typeface="Arial"/>
              </a:rPr>
              <a:t>6</a:t>
            </a:r>
          </a:p>
        </p:txBody>
      </p:sp>
      <p:sp>
        <p:nvSpPr>
          <p:cNvPr id="23" name="Appointments title"/>
          <p:cNvSpPr txBox="1"/>
          <p:nvPr/>
        </p:nvSpPr>
        <p:spPr>
          <a:xfrm>
            <a:off x="9134475" y="2762250"/>
            <a:ext cx="2181225" cy="247649"/>
          </a:xfrm>
          <a:prstGeom prst="rect">
            <a:avLst/>
          </a:prstGeom>
          <a:noFill/>
          <a:ln>
            <a:noFill/>
          </a:ln>
        </p:spPr>
        <p:txBody>
          <a:bodyPr wrap="square" lIns="0" tIns="0" rIns="0" bIns="0" anchor="t">
            <a:noAutofit/>
          </a:bodyPr>
          <a:lstStyle/>
          <a:p>
            <a:pPr algn="l">
              <a:lnSpc>
                <a:spcPts val="1479"/>
              </a:lnSpc>
              <a:spcBef>
                <a:spcPts val="0"/>
              </a:spcBef>
              <a:spcAft>
                <a:spcPts val="0"/>
              </a:spcAft>
            </a:pPr>
            <a:r>
              <a:rPr sz="1275" b="1" i="0" u="none">
                <a:solidFill>
                  <a:srgbClr val="132238"/>
                </a:solidFill>
                <a:latin typeface="Arial"/>
              </a:rPr>
              <a:t>Appointments</a:t>
            </a:r>
          </a:p>
        </p:txBody>
      </p:sp>
      <p:sp>
        <p:nvSpPr>
          <p:cNvPr id="24" name="Appointments body"/>
          <p:cNvSpPr txBox="1"/>
          <p:nvPr/>
        </p:nvSpPr>
        <p:spPr>
          <a:xfrm>
            <a:off x="9134475" y="3048000"/>
            <a:ext cx="2181225" cy="666750"/>
          </a:xfrm>
          <a:prstGeom prst="rect">
            <a:avLst/>
          </a:prstGeom>
          <a:noFill/>
          <a:ln>
            <a:noFill/>
          </a:ln>
        </p:spPr>
        <p:txBody>
          <a:bodyPr wrap="square" lIns="0" tIns="0" rIns="0" bIns="0" anchor="t">
            <a:noAutofit/>
          </a:bodyPr>
          <a:lstStyle/>
          <a:p>
            <a:pPr algn="l">
              <a:lnSpc>
                <a:spcPts val="1267"/>
              </a:lnSpc>
              <a:spcBef>
                <a:spcPts val="0"/>
              </a:spcBef>
              <a:spcAft>
                <a:spcPts val="0"/>
              </a:spcAft>
            </a:pPr>
            <a:r>
              <a:rPr sz="975" b="0" i="0" u="none">
                <a:solidFill>
                  <a:srgbClr val="5B6B84"/>
                </a:solidFill>
                <a:latin typeface="Arial"/>
              </a:rPr>
              <a:t>Book, list, update, cancel, delete</a:t>
            </a:r>
          </a:p>
        </p:txBody>
      </p:sp>
      <p:sp>
        <p:nvSpPr>
          <p:cNvPr id="25" name="Availability card"/>
          <p:cNvSpPr/>
          <p:nvPr/>
        </p:nvSpPr>
        <p:spPr>
          <a:xfrm>
            <a:off x="685800" y="4000500"/>
            <a:ext cx="2562225" cy="1638300"/>
          </a:xfrm>
          <a:prstGeom prst="roundRect">
            <a:avLst>
              <a:gd name="adj" fmla="val 6976"/>
            </a:avLst>
          </a:prstGeom>
          <a:solidFill>
            <a:srgbClr val="FFFFFF"/>
          </a:solidFill>
          <a:ln w="9525">
            <a:solidFill>
              <a:srgbClr val="DCE3EE"/>
            </a:solidFill>
          </a:ln>
        </p:spPr>
        <p:txBody>
          <a:bodyPr rtlCol="0" anchor="ctr"/>
          <a:lstStyle/>
          <a:p>
            <a:pPr algn="ctr"/>
            <a:endParaRPr/>
          </a:p>
        </p:txBody>
      </p:sp>
      <p:sp>
        <p:nvSpPr>
          <p:cNvPr id="26" name="Availability accent"/>
          <p:cNvSpPr/>
          <p:nvPr/>
        </p:nvSpPr>
        <p:spPr>
          <a:xfrm>
            <a:off x="685800" y="4000500"/>
            <a:ext cx="2562225" cy="47625"/>
          </a:xfrm>
          <a:prstGeom prst="rect">
            <a:avLst/>
          </a:prstGeom>
          <a:solidFill>
            <a:srgbClr val="0D9488"/>
          </a:solidFill>
          <a:ln>
            <a:noFill/>
          </a:ln>
        </p:spPr>
        <p:txBody>
          <a:bodyPr rtlCol="0" anchor="ctr"/>
          <a:lstStyle/>
          <a:p>
            <a:pPr algn="ctr"/>
            <a:endParaRPr/>
          </a:p>
        </p:txBody>
      </p:sp>
      <p:sp>
        <p:nvSpPr>
          <p:cNvPr id="27" name="Availability count"/>
          <p:cNvSpPr txBox="1"/>
          <p:nvPr/>
        </p:nvSpPr>
        <p:spPr>
          <a:xfrm>
            <a:off x="876300" y="4190999"/>
            <a:ext cx="2181225" cy="381000"/>
          </a:xfrm>
          <a:prstGeom prst="rect">
            <a:avLst/>
          </a:prstGeom>
          <a:noFill/>
          <a:ln>
            <a:noFill/>
          </a:ln>
        </p:spPr>
        <p:txBody>
          <a:bodyPr wrap="square" lIns="0" tIns="0" rIns="0" bIns="0" anchor="t">
            <a:noAutofit/>
          </a:bodyPr>
          <a:lstStyle/>
          <a:p>
            <a:pPr algn="l">
              <a:lnSpc>
                <a:spcPts val="2610"/>
              </a:lnSpc>
              <a:spcBef>
                <a:spcPts val="0"/>
              </a:spcBef>
              <a:spcAft>
                <a:spcPts val="0"/>
              </a:spcAft>
            </a:pPr>
            <a:r>
              <a:rPr sz="2250" b="1" i="0" u="none">
                <a:solidFill>
                  <a:srgbClr val="0D9488"/>
                </a:solidFill>
                <a:latin typeface="Arial"/>
              </a:rPr>
              <a:t>4</a:t>
            </a:r>
          </a:p>
        </p:txBody>
      </p:sp>
      <p:sp>
        <p:nvSpPr>
          <p:cNvPr id="28" name="Availability title"/>
          <p:cNvSpPr txBox="1"/>
          <p:nvPr/>
        </p:nvSpPr>
        <p:spPr>
          <a:xfrm>
            <a:off x="876300" y="4591050"/>
            <a:ext cx="2181225" cy="247649"/>
          </a:xfrm>
          <a:prstGeom prst="rect">
            <a:avLst/>
          </a:prstGeom>
          <a:noFill/>
          <a:ln>
            <a:noFill/>
          </a:ln>
        </p:spPr>
        <p:txBody>
          <a:bodyPr wrap="square" lIns="0" tIns="0" rIns="0" bIns="0" anchor="t">
            <a:noAutofit/>
          </a:bodyPr>
          <a:lstStyle/>
          <a:p>
            <a:pPr algn="l">
              <a:lnSpc>
                <a:spcPts val="1479"/>
              </a:lnSpc>
              <a:spcBef>
                <a:spcPts val="0"/>
              </a:spcBef>
              <a:spcAft>
                <a:spcPts val="0"/>
              </a:spcAft>
            </a:pPr>
            <a:r>
              <a:rPr sz="1275" b="1" i="0" u="none">
                <a:solidFill>
                  <a:srgbClr val="132238"/>
                </a:solidFill>
                <a:latin typeface="Arial"/>
              </a:rPr>
              <a:t>Availability</a:t>
            </a:r>
          </a:p>
        </p:txBody>
      </p:sp>
      <p:sp>
        <p:nvSpPr>
          <p:cNvPr id="29" name="Availability body"/>
          <p:cNvSpPr txBox="1"/>
          <p:nvPr/>
        </p:nvSpPr>
        <p:spPr>
          <a:xfrm>
            <a:off x="876300" y="4876800"/>
            <a:ext cx="2181225" cy="666750"/>
          </a:xfrm>
          <a:prstGeom prst="rect">
            <a:avLst/>
          </a:prstGeom>
          <a:noFill/>
          <a:ln>
            <a:noFill/>
          </a:ln>
        </p:spPr>
        <p:txBody>
          <a:bodyPr wrap="square" lIns="0" tIns="0" rIns="0" bIns="0" anchor="t">
            <a:noAutofit/>
          </a:bodyPr>
          <a:lstStyle/>
          <a:p>
            <a:pPr algn="l">
              <a:lnSpc>
                <a:spcPts val="1267"/>
              </a:lnSpc>
              <a:spcBef>
                <a:spcPts val="0"/>
              </a:spcBef>
              <a:spcAft>
                <a:spcPts val="0"/>
              </a:spcAft>
            </a:pPr>
            <a:r>
              <a:rPr sz="975" b="0" i="0" u="none">
                <a:solidFill>
                  <a:srgbClr val="5B6B84"/>
                </a:solidFill>
                <a:latin typeface="Arial"/>
              </a:rPr>
              <a:t>Slots, weekly schedule, updates</a:t>
            </a:r>
          </a:p>
        </p:txBody>
      </p:sp>
      <p:sp>
        <p:nvSpPr>
          <p:cNvPr id="30" name="Payments card"/>
          <p:cNvSpPr/>
          <p:nvPr/>
        </p:nvSpPr>
        <p:spPr>
          <a:xfrm>
            <a:off x="3438525" y="4000500"/>
            <a:ext cx="2562225" cy="1638300"/>
          </a:xfrm>
          <a:prstGeom prst="roundRect">
            <a:avLst>
              <a:gd name="adj" fmla="val 6976"/>
            </a:avLst>
          </a:prstGeom>
          <a:solidFill>
            <a:srgbClr val="FFFFFF"/>
          </a:solidFill>
          <a:ln w="9525">
            <a:solidFill>
              <a:srgbClr val="DCE3EE"/>
            </a:solidFill>
          </a:ln>
        </p:spPr>
        <p:txBody>
          <a:bodyPr rtlCol="0" anchor="ctr"/>
          <a:lstStyle/>
          <a:p>
            <a:pPr algn="ctr"/>
            <a:endParaRPr/>
          </a:p>
        </p:txBody>
      </p:sp>
      <p:sp>
        <p:nvSpPr>
          <p:cNvPr id="31" name="Payments accent"/>
          <p:cNvSpPr/>
          <p:nvPr/>
        </p:nvSpPr>
        <p:spPr>
          <a:xfrm>
            <a:off x="3438525" y="4000500"/>
            <a:ext cx="2562225" cy="47625"/>
          </a:xfrm>
          <a:prstGeom prst="rect">
            <a:avLst/>
          </a:prstGeom>
          <a:solidFill>
            <a:srgbClr val="0D9488"/>
          </a:solidFill>
          <a:ln>
            <a:noFill/>
          </a:ln>
        </p:spPr>
        <p:txBody>
          <a:bodyPr rtlCol="0" anchor="ctr"/>
          <a:lstStyle/>
          <a:p>
            <a:pPr algn="ctr"/>
            <a:endParaRPr/>
          </a:p>
        </p:txBody>
      </p:sp>
      <p:sp>
        <p:nvSpPr>
          <p:cNvPr id="32" name="Payments count"/>
          <p:cNvSpPr txBox="1"/>
          <p:nvPr/>
        </p:nvSpPr>
        <p:spPr>
          <a:xfrm>
            <a:off x="3629025" y="4190999"/>
            <a:ext cx="2181225" cy="381000"/>
          </a:xfrm>
          <a:prstGeom prst="rect">
            <a:avLst/>
          </a:prstGeom>
          <a:noFill/>
          <a:ln>
            <a:noFill/>
          </a:ln>
        </p:spPr>
        <p:txBody>
          <a:bodyPr wrap="square" lIns="0" tIns="0" rIns="0" bIns="0" anchor="t">
            <a:noAutofit/>
          </a:bodyPr>
          <a:lstStyle/>
          <a:p>
            <a:pPr algn="l">
              <a:lnSpc>
                <a:spcPts val="2610"/>
              </a:lnSpc>
              <a:spcBef>
                <a:spcPts val="0"/>
              </a:spcBef>
              <a:spcAft>
                <a:spcPts val="0"/>
              </a:spcAft>
            </a:pPr>
            <a:r>
              <a:rPr sz="2250" b="1" i="0" u="none">
                <a:solidFill>
                  <a:srgbClr val="0D9488"/>
                </a:solidFill>
                <a:latin typeface="Arial"/>
              </a:rPr>
              <a:t>5</a:t>
            </a:r>
          </a:p>
        </p:txBody>
      </p:sp>
      <p:sp>
        <p:nvSpPr>
          <p:cNvPr id="33" name="Payments title"/>
          <p:cNvSpPr txBox="1"/>
          <p:nvPr/>
        </p:nvSpPr>
        <p:spPr>
          <a:xfrm>
            <a:off x="3629025" y="4591050"/>
            <a:ext cx="2181225" cy="247649"/>
          </a:xfrm>
          <a:prstGeom prst="rect">
            <a:avLst/>
          </a:prstGeom>
          <a:noFill/>
          <a:ln>
            <a:noFill/>
          </a:ln>
        </p:spPr>
        <p:txBody>
          <a:bodyPr wrap="square" lIns="0" tIns="0" rIns="0" bIns="0" anchor="t">
            <a:noAutofit/>
          </a:bodyPr>
          <a:lstStyle/>
          <a:p>
            <a:pPr algn="l">
              <a:lnSpc>
                <a:spcPts val="1479"/>
              </a:lnSpc>
              <a:spcBef>
                <a:spcPts val="0"/>
              </a:spcBef>
              <a:spcAft>
                <a:spcPts val="0"/>
              </a:spcAft>
            </a:pPr>
            <a:r>
              <a:rPr sz="1275" b="1" i="0" u="none">
                <a:solidFill>
                  <a:srgbClr val="132238"/>
                </a:solidFill>
                <a:latin typeface="Arial"/>
              </a:rPr>
              <a:t>Payments</a:t>
            </a:r>
          </a:p>
        </p:txBody>
      </p:sp>
      <p:sp>
        <p:nvSpPr>
          <p:cNvPr id="34" name="Payments body"/>
          <p:cNvSpPr txBox="1"/>
          <p:nvPr/>
        </p:nvSpPr>
        <p:spPr>
          <a:xfrm>
            <a:off x="3629025" y="4876800"/>
            <a:ext cx="2181225" cy="666750"/>
          </a:xfrm>
          <a:prstGeom prst="rect">
            <a:avLst/>
          </a:prstGeom>
          <a:noFill/>
          <a:ln>
            <a:noFill/>
          </a:ln>
        </p:spPr>
        <p:txBody>
          <a:bodyPr wrap="square" lIns="0" tIns="0" rIns="0" bIns="0" anchor="t">
            <a:noAutofit/>
          </a:bodyPr>
          <a:lstStyle/>
          <a:p>
            <a:pPr algn="l">
              <a:lnSpc>
                <a:spcPts val="1267"/>
              </a:lnSpc>
              <a:spcBef>
                <a:spcPts val="0"/>
              </a:spcBef>
              <a:spcAft>
                <a:spcPts val="0"/>
              </a:spcAft>
            </a:pPr>
            <a:r>
              <a:rPr sz="975" b="0" i="0" u="none">
                <a:solidFill>
                  <a:srgbClr val="5B6B84"/>
                </a:solidFill>
                <a:latin typeface="Arial"/>
              </a:rPr>
              <a:t>Stripe checkout, verify, refund, history</a:t>
            </a:r>
          </a:p>
        </p:txBody>
      </p:sp>
      <p:sp>
        <p:nvSpPr>
          <p:cNvPr id="35" name="Reviews card"/>
          <p:cNvSpPr/>
          <p:nvPr/>
        </p:nvSpPr>
        <p:spPr>
          <a:xfrm>
            <a:off x="6191250" y="4000500"/>
            <a:ext cx="2562225" cy="1638300"/>
          </a:xfrm>
          <a:prstGeom prst="roundRect">
            <a:avLst>
              <a:gd name="adj" fmla="val 6976"/>
            </a:avLst>
          </a:prstGeom>
          <a:solidFill>
            <a:srgbClr val="FFFFFF"/>
          </a:solidFill>
          <a:ln w="9525">
            <a:solidFill>
              <a:srgbClr val="DCE3EE"/>
            </a:solidFill>
          </a:ln>
        </p:spPr>
        <p:txBody>
          <a:bodyPr rtlCol="0" anchor="ctr"/>
          <a:lstStyle/>
          <a:p>
            <a:pPr algn="ctr"/>
            <a:endParaRPr/>
          </a:p>
        </p:txBody>
      </p:sp>
      <p:sp>
        <p:nvSpPr>
          <p:cNvPr id="36" name="Reviews accent"/>
          <p:cNvSpPr/>
          <p:nvPr/>
        </p:nvSpPr>
        <p:spPr>
          <a:xfrm>
            <a:off x="6191250" y="4000500"/>
            <a:ext cx="2562225" cy="47625"/>
          </a:xfrm>
          <a:prstGeom prst="rect">
            <a:avLst/>
          </a:prstGeom>
          <a:solidFill>
            <a:srgbClr val="0D9488"/>
          </a:solidFill>
          <a:ln>
            <a:noFill/>
          </a:ln>
        </p:spPr>
        <p:txBody>
          <a:bodyPr rtlCol="0" anchor="ctr"/>
          <a:lstStyle/>
          <a:p>
            <a:pPr algn="ctr"/>
            <a:endParaRPr/>
          </a:p>
        </p:txBody>
      </p:sp>
      <p:sp>
        <p:nvSpPr>
          <p:cNvPr id="37" name="Reviews count"/>
          <p:cNvSpPr txBox="1"/>
          <p:nvPr/>
        </p:nvSpPr>
        <p:spPr>
          <a:xfrm>
            <a:off x="6381750" y="4190999"/>
            <a:ext cx="2181225" cy="381000"/>
          </a:xfrm>
          <a:prstGeom prst="rect">
            <a:avLst/>
          </a:prstGeom>
          <a:noFill/>
          <a:ln>
            <a:noFill/>
          </a:ln>
        </p:spPr>
        <p:txBody>
          <a:bodyPr wrap="square" lIns="0" tIns="0" rIns="0" bIns="0" anchor="t">
            <a:noAutofit/>
          </a:bodyPr>
          <a:lstStyle/>
          <a:p>
            <a:pPr algn="l">
              <a:lnSpc>
                <a:spcPts val="2610"/>
              </a:lnSpc>
              <a:spcBef>
                <a:spcPts val="0"/>
              </a:spcBef>
              <a:spcAft>
                <a:spcPts val="0"/>
              </a:spcAft>
            </a:pPr>
            <a:r>
              <a:rPr sz="2250" b="1" i="0" u="none">
                <a:solidFill>
                  <a:srgbClr val="0D9488"/>
                </a:solidFill>
                <a:latin typeface="Arial"/>
              </a:rPr>
              <a:t>4</a:t>
            </a:r>
          </a:p>
        </p:txBody>
      </p:sp>
      <p:sp>
        <p:nvSpPr>
          <p:cNvPr id="38" name="Reviews title"/>
          <p:cNvSpPr txBox="1"/>
          <p:nvPr/>
        </p:nvSpPr>
        <p:spPr>
          <a:xfrm>
            <a:off x="6381750" y="4591050"/>
            <a:ext cx="2181225" cy="247649"/>
          </a:xfrm>
          <a:prstGeom prst="rect">
            <a:avLst/>
          </a:prstGeom>
          <a:noFill/>
          <a:ln>
            <a:noFill/>
          </a:ln>
        </p:spPr>
        <p:txBody>
          <a:bodyPr wrap="square" lIns="0" tIns="0" rIns="0" bIns="0" anchor="t">
            <a:noAutofit/>
          </a:bodyPr>
          <a:lstStyle/>
          <a:p>
            <a:pPr algn="l">
              <a:lnSpc>
                <a:spcPts val="1479"/>
              </a:lnSpc>
              <a:spcBef>
                <a:spcPts val="0"/>
              </a:spcBef>
              <a:spcAft>
                <a:spcPts val="0"/>
              </a:spcAft>
            </a:pPr>
            <a:r>
              <a:rPr sz="1275" b="1" i="0" u="none">
                <a:solidFill>
                  <a:srgbClr val="132238"/>
                </a:solidFill>
                <a:latin typeface="Arial"/>
              </a:rPr>
              <a:t>Reviews</a:t>
            </a:r>
          </a:p>
        </p:txBody>
      </p:sp>
      <p:sp>
        <p:nvSpPr>
          <p:cNvPr id="39" name="Reviews body"/>
          <p:cNvSpPr txBox="1"/>
          <p:nvPr/>
        </p:nvSpPr>
        <p:spPr>
          <a:xfrm>
            <a:off x="6381750" y="4876800"/>
            <a:ext cx="2181225" cy="666750"/>
          </a:xfrm>
          <a:prstGeom prst="rect">
            <a:avLst/>
          </a:prstGeom>
          <a:noFill/>
          <a:ln>
            <a:noFill/>
          </a:ln>
        </p:spPr>
        <p:txBody>
          <a:bodyPr wrap="square" lIns="0" tIns="0" rIns="0" bIns="0" anchor="t">
            <a:noAutofit/>
          </a:bodyPr>
          <a:lstStyle/>
          <a:p>
            <a:pPr algn="l">
              <a:lnSpc>
                <a:spcPts val="1267"/>
              </a:lnSpc>
              <a:spcBef>
                <a:spcPts val="0"/>
              </a:spcBef>
              <a:spcAft>
                <a:spcPts val="0"/>
              </a:spcAft>
            </a:pPr>
            <a:r>
              <a:rPr sz="975" b="0" i="0" u="none">
                <a:solidFill>
                  <a:srgbClr val="5B6B84"/>
                </a:solidFill>
                <a:latin typeface="Arial"/>
              </a:rPr>
              <a:t>Add, list, check, delete</a:t>
            </a:r>
          </a:p>
        </p:txBody>
      </p:sp>
      <p:sp>
        <p:nvSpPr>
          <p:cNvPr id="40" name="Admin card"/>
          <p:cNvSpPr/>
          <p:nvPr/>
        </p:nvSpPr>
        <p:spPr>
          <a:xfrm>
            <a:off x="8943975" y="4000500"/>
            <a:ext cx="2562225" cy="1638300"/>
          </a:xfrm>
          <a:prstGeom prst="roundRect">
            <a:avLst>
              <a:gd name="adj" fmla="val 6976"/>
            </a:avLst>
          </a:prstGeom>
          <a:solidFill>
            <a:srgbClr val="FFFFFF"/>
          </a:solidFill>
          <a:ln w="9525">
            <a:solidFill>
              <a:srgbClr val="DCE3EE"/>
            </a:solidFill>
          </a:ln>
        </p:spPr>
        <p:txBody>
          <a:bodyPr rtlCol="0" anchor="ctr"/>
          <a:lstStyle/>
          <a:p>
            <a:pPr algn="ctr"/>
            <a:endParaRPr/>
          </a:p>
        </p:txBody>
      </p:sp>
      <p:sp>
        <p:nvSpPr>
          <p:cNvPr id="41" name="Admin accent"/>
          <p:cNvSpPr/>
          <p:nvPr/>
        </p:nvSpPr>
        <p:spPr>
          <a:xfrm>
            <a:off x="8943975" y="4000500"/>
            <a:ext cx="2562225" cy="47625"/>
          </a:xfrm>
          <a:prstGeom prst="rect">
            <a:avLst/>
          </a:prstGeom>
          <a:solidFill>
            <a:srgbClr val="0D9488"/>
          </a:solidFill>
          <a:ln>
            <a:noFill/>
          </a:ln>
        </p:spPr>
        <p:txBody>
          <a:bodyPr rtlCol="0" anchor="ctr"/>
          <a:lstStyle/>
          <a:p>
            <a:pPr algn="ctr"/>
            <a:endParaRPr/>
          </a:p>
        </p:txBody>
      </p:sp>
      <p:sp>
        <p:nvSpPr>
          <p:cNvPr id="42" name="Admin count"/>
          <p:cNvSpPr txBox="1"/>
          <p:nvPr/>
        </p:nvSpPr>
        <p:spPr>
          <a:xfrm>
            <a:off x="9134475" y="4190999"/>
            <a:ext cx="2181225" cy="381000"/>
          </a:xfrm>
          <a:prstGeom prst="rect">
            <a:avLst/>
          </a:prstGeom>
          <a:noFill/>
          <a:ln>
            <a:noFill/>
          </a:ln>
        </p:spPr>
        <p:txBody>
          <a:bodyPr wrap="square" lIns="0" tIns="0" rIns="0" bIns="0" anchor="t">
            <a:noAutofit/>
          </a:bodyPr>
          <a:lstStyle/>
          <a:p>
            <a:pPr algn="l">
              <a:lnSpc>
                <a:spcPts val="2610"/>
              </a:lnSpc>
              <a:spcBef>
                <a:spcPts val="0"/>
              </a:spcBef>
              <a:spcAft>
                <a:spcPts val="0"/>
              </a:spcAft>
            </a:pPr>
            <a:r>
              <a:rPr sz="2250" b="1" i="0" u="none">
                <a:solidFill>
                  <a:srgbClr val="0D9488"/>
                </a:solidFill>
                <a:latin typeface="Arial"/>
              </a:rPr>
              <a:t>9</a:t>
            </a:r>
          </a:p>
        </p:txBody>
      </p:sp>
      <p:sp>
        <p:nvSpPr>
          <p:cNvPr id="43" name="Admin title"/>
          <p:cNvSpPr txBox="1"/>
          <p:nvPr/>
        </p:nvSpPr>
        <p:spPr>
          <a:xfrm>
            <a:off x="9134475" y="4591050"/>
            <a:ext cx="2181225" cy="247649"/>
          </a:xfrm>
          <a:prstGeom prst="rect">
            <a:avLst/>
          </a:prstGeom>
          <a:noFill/>
          <a:ln>
            <a:noFill/>
          </a:ln>
        </p:spPr>
        <p:txBody>
          <a:bodyPr wrap="square" lIns="0" tIns="0" rIns="0" bIns="0" anchor="t">
            <a:noAutofit/>
          </a:bodyPr>
          <a:lstStyle/>
          <a:p>
            <a:pPr algn="l">
              <a:lnSpc>
                <a:spcPts val="1479"/>
              </a:lnSpc>
              <a:spcBef>
                <a:spcPts val="0"/>
              </a:spcBef>
              <a:spcAft>
                <a:spcPts val="0"/>
              </a:spcAft>
            </a:pPr>
            <a:r>
              <a:rPr sz="1275" b="1" i="0" u="none">
                <a:solidFill>
                  <a:srgbClr val="132238"/>
                </a:solidFill>
                <a:latin typeface="Arial"/>
              </a:rPr>
              <a:t>Admin</a:t>
            </a:r>
          </a:p>
        </p:txBody>
      </p:sp>
      <p:sp>
        <p:nvSpPr>
          <p:cNvPr id="44" name="Admin body"/>
          <p:cNvSpPr txBox="1"/>
          <p:nvPr/>
        </p:nvSpPr>
        <p:spPr>
          <a:xfrm>
            <a:off x="9134475" y="4876800"/>
            <a:ext cx="2181225" cy="666750"/>
          </a:xfrm>
          <a:prstGeom prst="rect">
            <a:avLst/>
          </a:prstGeom>
          <a:noFill/>
          <a:ln>
            <a:noFill/>
          </a:ln>
        </p:spPr>
        <p:txBody>
          <a:bodyPr wrap="square" lIns="0" tIns="0" rIns="0" bIns="0" anchor="t">
            <a:noAutofit/>
          </a:bodyPr>
          <a:lstStyle/>
          <a:p>
            <a:pPr algn="l">
              <a:lnSpc>
                <a:spcPts val="1267"/>
              </a:lnSpc>
              <a:spcBef>
                <a:spcPts val="0"/>
              </a:spcBef>
              <a:spcAft>
                <a:spcPts val="0"/>
              </a:spcAft>
            </a:pPr>
            <a:r>
              <a:rPr sz="975" b="0" i="0" u="none">
                <a:solidFill>
                  <a:srgbClr val="5B6B84"/>
                </a:solidFill>
                <a:latin typeface="Arial"/>
              </a:rPr>
              <a:t>Stats, revenue, approvals, management</a:t>
            </a:r>
          </a:p>
        </p:txBody>
      </p:sp>
      <p:sp>
        <p:nvSpPr>
          <p:cNvPr id="45" name="Page number"/>
          <p:cNvSpPr txBox="1"/>
          <p:nvPr/>
        </p:nvSpPr>
        <p:spPr>
          <a:xfrm>
            <a:off x="10934700" y="6477000"/>
            <a:ext cx="571500" cy="190500"/>
          </a:xfrm>
          <a:prstGeom prst="rect">
            <a:avLst/>
          </a:prstGeom>
          <a:noFill/>
          <a:ln>
            <a:noFill/>
          </a:ln>
        </p:spPr>
        <p:txBody>
          <a:bodyPr wrap="square" lIns="0" tIns="0" rIns="0" bIns="0" anchor="t">
            <a:noAutofit/>
          </a:bodyPr>
          <a:lstStyle/>
          <a:p>
            <a:pPr algn="r">
              <a:spcBef>
                <a:spcPts val="0"/>
              </a:spcBef>
              <a:spcAft>
                <a:spcPts val="0"/>
              </a:spcAft>
            </a:pPr>
            <a:r>
              <a:rPr sz="825" b="0" i="0" u="none">
                <a:solidFill>
                  <a:srgbClr val="5B6B84"/>
                </a:solidFill>
                <a:latin typeface="Arial"/>
              </a:rPr>
              <a:t>12 / 29</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Section label"/>
          <p:cNvSpPr txBox="1"/>
          <p:nvPr/>
        </p:nvSpPr>
        <p:spPr>
          <a:xfrm>
            <a:off x="685800" y="685800"/>
            <a:ext cx="5905500" cy="247649"/>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1" i="0" u="none">
                <a:solidFill>
                  <a:srgbClr val="93A3B8"/>
                </a:solidFill>
                <a:latin typeface="Arial"/>
              </a:rPr>
              <a:t>ENTERPRISE-GRADE SECURITY FROM DAY ONE</a:t>
            </a:r>
          </a:p>
        </p:txBody>
      </p:sp>
      <p:sp>
        <p:nvSpPr>
          <p:cNvPr id="3" name="Title accent"/>
          <p:cNvSpPr/>
          <p:nvPr/>
        </p:nvSpPr>
        <p:spPr>
          <a:xfrm>
            <a:off x="685800" y="1009650"/>
            <a:ext cx="419100" cy="38100"/>
          </a:xfrm>
          <a:prstGeom prst="rect">
            <a:avLst/>
          </a:prstGeom>
          <a:solidFill>
            <a:srgbClr val="2DD4BF"/>
          </a:solidFill>
          <a:ln>
            <a:noFill/>
          </a:ln>
        </p:spPr>
        <p:txBody>
          <a:bodyPr rtlCol="0" anchor="ctr"/>
          <a:lstStyle/>
          <a:p>
            <a:pPr algn="ctr"/>
            <a:endParaRPr/>
          </a:p>
        </p:txBody>
      </p:sp>
      <p:sp>
        <p:nvSpPr>
          <p:cNvPr id="4" name="Slide title"/>
          <p:cNvSpPr txBox="1"/>
          <p:nvPr/>
        </p:nvSpPr>
        <p:spPr>
          <a:xfrm>
            <a:off x="685800" y="1181100"/>
            <a:ext cx="10820400" cy="876300"/>
          </a:xfrm>
          <a:prstGeom prst="rect">
            <a:avLst/>
          </a:prstGeom>
          <a:noFill/>
          <a:ln>
            <a:noFill/>
          </a:ln>
        </p:spPr>
        <p:txBody>
          <a:bodyPr wrap="square" lIns="0" tIns="0" rIns="0" bIns="0" anchor="t">
            <a:noAutofit/>
          </a:bodyPr>
          <a:lstStyle/>
          <a:p>
            <a:pPr algn="l">
              <a:lnSpc>
                <a:spcPts val="3120"/>
              </a:lnSpc>
              <a:spcBef>
                <a:spcPts val="0"/>
              </a:spcBef>
              <a:spcAft>
                <a:spcPts val="0"/>
              </a:spcAft>
            </a:pPr>
            <a:r>
              <a:rPr sz="3000" b="1" i="0" u="none">
                <a:solidFill>
                  <a:srgbClr val="F3F6FA"/>
                </a:solidFill>
                <a:latin typeface="Arial"/>
              </a:rPr>
              <a:t>Security</a:t>
            </a:r>
          </a:p>
        </p:txBody>
      </p:sp>
      <p:sp>
        <p:nvSpPr>
          <p:cNvPr id="5" name="TextBox 4"/>
          <p:cNvSpPr txBox="1"/>
          <p:nvPr/>
        </p:nvSpPr>
        <p:spPr>
          <a:xfrm>
            <a:off x="685800" y="2381250"/>
            <a:ext cx="4953000" cy="1809750"/>
          </a:xfrm>
          <a:prstGeom prst="rect">
            <a:avLst/>
          </a:prstGeom>
          <a:noFill/>
          <a:ln>
            <a:noFill/>
          </a:ln>
        </p:spPr>
        <p:txBody>
          <a:bodyPr wrap="square" lIns="0" tIns="0" rIns="0" bIns="0" anchor="t">
            <a:noAutofit/>
          </a:bodyPr>
          <a:lstStyle/>
          <a:p>
            <a:pPr algn="l">
              <a:lnSpc>
                <a:spcPts val="4131"/>
              </a:lnSpc>
              <a:spcBef>
                <a:spcPts val="0"/>
              </a:spcBef>
              <a:spcAft>
                <a:spcPts val="0"/>
              </a:spcAft>
            </a:pPr>
            <a:r>
              <a:rPr sz="4050" b="1" i="0" u="none">
                <a:solidFill>
                  <a:srgbClr val="F3F6FA"/>
                </a:solidFill>
                <a:latin typeface="Arial"/>
              </a:rPr>
              <a:t>Security built in, not bolted on.</a:t>
            </a:r>
          </a:p>
        </p:txBody>
      </p:sp>
      <p:sp>
        <p:nvSpPr>
          <p:cNvPr id="6" name="TextBox 5"/>
          <p:cNvSpPr txBox="1"/>
          <p:nvPr/>
        </p:nvSpPr>
        <p:spPr>
          <a:xfrm>
            <a:off x="685800" y="4305300"/>
            <a:ext cx="4762500" cy="609600"/>
          </a:xfrm>
          <a:prstGeom prst="rect">
            <a:avLst/>
          </a:prstGeom>
          <a:noFill/>
          <a:ln>
            <a:noFill/>
          </a:ln>
        </p:spPr>
        <p:txBody>
          <a:bodyPr wrap="square" lIns="0" tIns="0" rIns="0" bIns="0" anchor="t">
            <a:noAutofit/>
          </a:bodyPr>
          <a:lstStyle/>
          <a:p>
            <a:pPr algn="l">
              <a:lnSpc>
                <a:spcPts val="2025"/>
              </a:lnSpc>
              <a:spcBef>
                <a:spcPts val="0"/>
              </a:spcBef>
              <a:spcAft>
                <a:spcPts val="0"/>
              </a:spcAft>
            </a:pPr>
            <a:r>
              <a:rPr sz="1500" b="0" i="0" u="none">
                <a:solidFill>
                  <a:srgbClr val="93A3B8"/>
                </a:solidFill>
                <a:latin typeface="Arial"/>
              </a:rPr>
              <a:t>Every layer of MediCare Pro enforces authentication and data protection.</a:t>
            </a:r>
          </a:p>
        </p:txBody>
      </p:sp>
      <p:sp>
        <p:nvSpPr>
          <p:cNvPr id="7" name="Section label"/>
          <p:cNvSpPr txBox="1"/>
          <p:nvPr/>
        </p:nvSpPr>
        <p:spPr>
          <a:xfrm>
            <a:off x="6191250" y="2381250"/>
            <a:ext cx="2857500" cy="171450"/>
          </a:xfrm>
          <a:prstGeom prst="rect">
            <a:avLst/>
          </a:prstGeom>
          <a:noFill/>
          <a:ln>
            <a:noFill/>
          </a:ln>
        </p:spPr>
        <p:txBody>
          <a:bodyPr wrap="square" lIns="0" tIns="0" rIns="0" bIns="0" anchor="t">
            <a:noAutofit/>
          </a:bodyPr>
          <a:lstStyle/>
          <a:p>
            <a:pPr algn="l">
              <a:lnSpc>
                <a:spcPts val="1130"/>
              </a:lnSpc>
              <a:spcBef>
                <a:spcPts val="0"/>
              </a:spcBef>
              <a:spcAft>
                <a:spcPts val="0"/>
              </a:spcAft>
            </a:pPr>
            <a:r>
              <a:rPr sz="975" b="1" i="0" u="none">
                <a:solidFill>
                  <a:srgbClr val="2DD4BF"/>
                </a:solidFill>
                <a:latin typeface="Arial"/>
              </a:rPr>
              <a:t>JWT AUTHENTICATION</a:t>
            </a:r>
          </a:p>
        </p:txBody>
      </p:sp>
      <p:sp>
        <p:nvSpPr>
          <p:cNvPr id="8" name="TextBox 7"/>
          <p:cNvSpPr txBox="1"/>
          <p:nvPr/>
        </p:nvSpPr>
        <p:spPr>
          <a:xfrm>
            <a:off x="6191250" y="2628900"/>
            <a:ext cx="5314950" cy="571500"/>
          </a:xfrm>
          <a:prstGeom prst="rect">
            <a:avLst/>
          </a:prstGeom>
          <a:noFill/>
          <a:ln>
            <a:noFill/>
          </a:ln>
        </p:spPr>
        <p:txBody>
          <a:bodyPr wrap="square" lIns="0" tIns="0" rIns="0" bIns="0" anchor="t">
            <a:noAutofit/>
          </a:bodyPr>
          <a:lstStyle/>
          <a:p>
            <a:pPr algn="l">
              <a:lnSpc>
                <a:spcPts val="2047"/>
              </a:lnSpc>
              <a:spcBef>
                <a:spcPts val="0"/>
              </a:spcBef>
              <a:spcAft>
                <a:spcPts val="0"/>
              </a:spcAft>
            </a:pPr>
            <a:r>
              <a:rPr sz="1575" b="1" i="0" u="none">
                <a:solidFill>
                  <a:srgbClr val="F3F6FA"/>
                </a:solidFill>
                <a:latin typeface="Arial"/>
              </a:rPr>
              <a:t>Stateless, signed tokens with role claims secure every session.</a:t>
            </a:r>
          </a:p>
        </p:txBody>
      </p:sp>
      <p:cxnSp>
        <p:nvCxnSpPr>
          <p:cNvPr id="9" name="Connector 8"/>
          <p:cNvCxnSpPr/>
          <p:nvPr/>
        </p:nvCxnSpPr>
        <p:spPr>
          <a:xfrm>
            <a:off x="6191250" y="3238500"/>
            <a:ext cx="5314950" cy="0"/>
          </a:xfrm>
          <a:prstGeom prst="line">
            <a:avLst/>
          </a:prstGeom>
          <a:ln w="9525">
            <a:solidFill>
              <a:srgbClr val="28334A"/>
            </a:solidFill>
          </a:ln>
        </p:spPr>
      </p:cxnSp>
      <p:sp>
        <p:nvSpPr>
          <p:cNvPr id="10" name="Section label"/>
          <p:cNvSpPr txBox="1"/>
          <p:nvPr/>
        </p:nvSpPr>
        <p:spPr>
          <a:xfrm>
            <a:off x="6191250" y="3371850"/>
            <a:ext cx="2857500" cy="171450"/>
          </a:xfrm>
          <a:prstGeom prst="rect">
            <a:avLst/>
          </a:prstGeom>
          <a:noFill/>
          <a:ln>
            <a:noFill/>
          </a:ln>
        </p:spPr>
        <p:txBody>
          <a:bodyPr wrap="square" lIns="0" tIns="0" rIns="0" bIns="0" anchor="t">
            <a:noAutofit/>
          </a:bodyPr>
          <a:lstStyle/>
          <a:p>
            <a:pPr algn="l">
              <a:lnSpc>
                <a:spcPts val="1130"/>
              </a:lnSpc>
              <a:spcBef>
                <a:spcPts val="0"/>
              </a:spcBef>
              <a:spcAft>
                <a:spcPts val="0"/>
              </a:spcAft>
            </a:pPr>
            <a:r>
              <a:rPr sz="975" b="1" i="0" u="none">
                <a:solidFill>
                  <a:srgbClr val="2DD4BF"/>
                </a:solidFill>
                <a:latin typeface="Arial"/>
              </a:rPr>
              <a:t>PASSWORD HASHING</a:t>
            </a:r>
          </a:p>
        </p:txBody>
      </p:sp>
      <p:sp>
        <p:nvSpPr>
          <p:cNvPr id="11" name="TextBox 10"/>
          <p:cNvSpPr txBox="1"/>
          <p:nvPr/>
        </p:nvSpPr>
        <p:spPr>
          <a:xfrm>
            <a:off x="6191250" y="3619500"/>
            <a:ext cx="5314950" cy="571500"/>
          </a:xfrm>
          <a:prstGeom prst="rect">
            <a:avLst/>
          </a:prstGeom>
          <a:noFill/>
          <a:ln>
            <a:noFill/>
          </a:ln>
        </p:spPr>
        <p:txBody>
          <a:bodyPr wrap="square" lIns="0" tIns="0" rIns="0" bIns="0" anchor="t">
            <a:noAutofit/>
          </a:bodyPr>
          <a:lstStyle/>
          <a:p>
            <a:pPr algn="l">
              <a:lnSpc>
                <a:spcPts val="2047"/>
              </a:lnSpc>
              <a:spcBef>
                <a:spcPts val="0"/>
              </a:spcBef>
              <a:spcAft>
                <a:spcPts val="0"/>
              </a:spcAft>
            </a:pPr>
            <a:r>
              <a:rPr sz="1575" b="1" i="0" u="none">
                <a:solidFill>
                  <a:srgbClr val="F3F6FA"/>
                </a:solidFill>
                <a:latin typeface="Arial"/>
              </a:rPr>
              <a:t>bcrypt with salt rounds — passwords are never stored in plain text.</a:t>
            </a:r>
          </a:p>
        </p:txBody>
      </p:sp>
      <p:cxnSp>
        <p:nvCxnSpPr>
          <p:cNvPr id="12" name="Connector 11"/>
          <p:cNvCxnSpPr/>
          <p:nvPr/>
        </p:nvCxnSpPr>
        <p:spPr>
          <a:xfrm>
            <a:off x="6191250" y="4229100"/>
            <a:ext cx="5314950" cy="0"/>
          </a:xfrm>
          <a:prstGeom prst="line">
            <a:avLst/>
          </a:prstGeom>
          <a:ln w="9525">
            <a:solidFill>
              <a:srgbClr val="28334A"/>
            </a:solidFill>
          </a:ln>
        </p:spPr>
      </p:cxnSp>
      <p:sp>
        <p:nvSpPr>
          <p:cNvPr id="13" name="Section label"/>
          <p:cNvSpPr txBox="1"/>
          <p:nvPr/>
        </p:nvSpPr>
        <p:spPr>
          <a:xfrm>
            <a:off x="6191250" y="4362450"/>
            <a:ext cx="2857500" cy="171450"/>
          </a:xfrm>
          <a:prstGeom prst="rect">
            <a:avLst/>
          </a:prstGeom>
          <a:noFill/>
          <a:ln>
            <a:noFill/>
          </a:ln>
        </p:spPr>
        <p:txBody>
          <a:bodyPr wrap="square" lIns="0" tIns="0" rIns="0" bIns="0" anchor="t">
            <a:noAutofit/>
          </a:bodyPr>
          <a:lstStyle/>
          <a:p>
            <a:pPr algn="l">
              <a:lnSpc>
                <a:spcPts val="1130"/>
              </a:lnSpc>
              <a:spcBef>
                <a:spcPts val="0"/>
              </a:spcBef>
              <a:spcAft>
                <a:spcPts val="0"/>
              </a:spcAft>
            </a:pPr>
            <a:r>
              <a:rPr sz="975" b="1" i="0" u="none">
                <a:solidFill>
                  <a:srgbClr val="2DD4BF"/>
                </a:solidFill>
                <a:latin typeface="Arial"/>
              </a:rPr>
              <a:t>PROTECTED ROUTES &amp; RBAC</a:t>
            </a:r>
          </a:p>
        </p:txBody>
      </p:sp>
      <p:sp>
        <p:nvSpPr>
          <p:cNvPr id="14" name="TextBox 13"/>
          <p:cNvSpPr txBox="1"/>
          <p:nvPr/>
        </p:nvSpPr>
        <p:spPr>
          <a:xfrm>
            <a:off x="6191250" y="4610100"/>
            <a:ext cx="5314950" cy="571500"/>
          </a:xfrm>
          <a:prstGeom prst="rect">
            <a:avLst/>
          </a:prstGeom>
          <a:noFill/>
          <a:ln>
            <a:noFill/>
          </a:ln>
        </p:spPr>
        <p:txBody>
          <a:bodyPr wrap="square" lIns="0" tIns="0" rIns="0" bIns="0" anchor="t">
            <a:noAutofit/>
          </a:bodyPr>
          <a:lstStyle/>
          <a:p>
            <a:pPr algn="l">
              <a:lnSpc>
                <a:spcPts val="2047"/>
              </a:lnSpc>
              <a:spcBef>
                <a:spcPts val="0"/>
              </a:spcBef>
              <a:spcAft>
                <a:spcPts val="0"/>
              </a:spcAft>
            </a:pPr>
            <a:r>
              <a:rPr sz="1575" b="1" i="0" u="none">
                <a:solidFill>
                  <a:srgbClr val="F3F6FA"/>
                </a:solidFill>
                <a:latin typeface="Arial"/>
              </a:rPr>
              <a:t>Frontend route guards and backend middleware isolate Patient, Doctor, and Admin access.</a:t>
            </a:r>
          </a:p>
        </p:txBody>
      </p:sp>
      <p:cxnSp>
        <p:nvCxnSpPr>
          <p:cNvPr id="15" name="Connector 14"/>
          <p:cNvCxnSpPr/>
          <p:nvPr/>
        </p:nvCxnSpPr>
        <p:spPr>
          <a:xfrm>
            <a:off x="6191250" y="5219700"/>
            <a:ext cx="5314950" cy="0"/>
          </a:xfrm>
          <a:prstGeom prst="line">
            <a:avLst/>
          </a:prstGeom>
          <a:ln w="9525">
            <a:solidFill>
              <a:srgbClr val="28334A"/>
            </a:solidFill>
          </a:ln>
        </p:spPr>
      </p:cxnSp>
      <p:sp>
        <p:nvSpPr>
          <p:cNvPr id="16" name="Section label"/>
          <p:cNvSpPr txBox="1"/>
          <p:nvPr/>
        </p:nvSpPr>
        <p:spPr>
          <a:xfrm>
            <a:off x="6191250" y="5353050"/>
            <a:ext cx="2857500" cy="171450"/>
          </a:xfrm>
          <a:prstGeom prst="rect">
            <a:avLst/>
          </a:prstGeom>
          <a:noFill/>
          <a:ln>
            <a:noFill/>
          </a:ln>
        </p:spPr>
        <p:txBody>
          <a:bodyPr wrap="square" lIns="0" tIns="0" rIns="0" bIns="0" anchor="t">
            <a:noAutofit/>
          </a:bodyPr>
          <a:lstStyle/>
          <a:p>
            <a:pPr algn="l">
              <a:lnSpc>
                <a:spcPts val="1130"/>
              </a:lnSpc>
              <a:spcBef>
                <a:spcPts val="0"/>
              </a:spcBef>
              <a:spcAft>
                <a:spcPts val="0"/>
              </a:spcAft>
            </a:pPr>
            <a:r>
              <a:rPr sz="975" b="1" i="0" u="none">
                <a:solidFill>
                  <a:srgbClr val="2DD4BF"/>
                </a:solidFill>
                <a:latin typeface="Arial"/>
              </a:rPr>
              <a:t>SECURE STRIPE PAYMENTS</a:t>
            </a:r>
          </a:p>
        </p:txBody>
      </p:sp>
      <p:sp>
        <p:nvSpPr>
          <p:cNvPr id="17" name="TextBox 16"/>
          <p:cNvSpPr txBox="1"/>
          <p:nvPr/>
        </p:nvSpPr>
        <p:spPr>
          <a:xfrm>
            <a:off x="6191250" y="5600700"/>
            <a:ext cx="5314950" cy="571500"/>
          </a:xfrm>
          <a:prstGeom prst="rect">
            <a:avLst/>
          </a:prstGeom>
          <a:noFill/>
          <a:ln>
            <a:noFill/>
          </a:ln>
        </p:spPr>
        <p:txBody>
          <a:bodyPr wrap="square" lIns="0" tIns="0" rIns="0" bIns="0" anchor="t">
            <a:noAutofit/>
          </a:bodyPr>
          <a:lstStyle/>
          <a:p>
            <a:pPr algn="l">
              <a:lnSpc>
                <a:spcPts val="2047"/>
              </a:lnSpc>
              <a:spcBef>
                <a:spcPts val="0"/>
              </a:spcBef>
              <a:spcAft>
                <a:spcPts val="0"/>
              </a:spcAft>
            </a:pPr>
            <a:r>
              <a:rPr sz="1575" b="1" i="0" u="none">
                <a:solidFill>
                  <a:srgbClr val="F3F6FA"/>
                </a:solidFill>
                <a:latin typeface="Arial"/>
              </a:rPr>
              <a:t>Checkout sessions and idempotent verification keep every transaction safe.</a:t>
            </a:r>
          </a:p>
        </p:txBody>
      </p:sp>
      <p:sp>
        <p:nvSpPr>
          <p:cNvPr id="18" name="Page number"/>
          <p:cNvSpPr txBox="1"/>
          <p:nvPr/>
        </p:nvSpPr>
        <p:spPr>
          <a:xfrm>
            <a:off x="10934700" y="6477000"/>
            <a:ext cx="571500" cy="190500"/>
          </a:xfrm>
          <a:prstGeom prst="rect">
            <a:avLst/>
          </a:prstGeom>
          <a:noFill/>
          <a:ln>
            <a:noFill/>
          </a:ln>
        </p:spPr>
        <p:txBody>
          <a:bodyPr wrap="square" lIns="0" tIns="0" rIns="0" bIns="0" anchor="t">
            <a:noAutofit/>
          </a:bodyPr>
          <a:lstStyle/>
          <a:p>
            <a:pPr algn="r">
              <a:spcBef>
                <a:spcPts val="0"/>
              </a:spcBef>
              <a:spcAft>
                <a:spcPts val="0"/>
              </a:spcAft>
            </a:pPr>
            <a:r>
              <a:rPr sz="825" b="0" i="0" u="none">
                <a:solidFill>
                  <a:srgbClr val="93A3B8"/>
                </a:solidFill>
                <a:latin typeface="Arial"/>
              </a:rPr>
              <a:t>13 / 29</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AFC"/>
        </a:solidFill>
        <a:effectLst/>
      </p:bgPr>
    </p:bg>
    <p:spTree>
      <p:nvGrpSpPr>
        <p:cNvPr id="1" name=""/>
        <p:cNvGrpSpPr/>
        <p:nvPr/>
      </p:nvGrpSpPr>
      <p:grpSpPr>
        <a:xfrm>
          <a:off x="0" y="0"/>
          <a:ext cx="0" cy="0"/>
          <a:chOff x="0" y="0"/>
          <a:chExt cx="0" cy="0"/>
        </a:xfrm>
      </p:grpSpPr>
      <p:sp>
        <p:nvSpPr>
          <p:cNvPr id="2" name="Section label"/>
          <p:cNvSpPr txBox="1"/>
          <p:nvPr/>
        </p:nvSpPr>
        <p:spPr>
          <a:xfrm>
            <a:off x="685800" y="685800"/>
            <a:ext cx="5905500" cy="247649"/>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1" i="0" u="none">
                <a:solidFill>
                  <a:srgbClr val="5B6B84"/>
                </a:solidFill>
                <a:latin typeface="Arial"/>
              </a:rPr>
              <a:t>WHAT EACH ROLE CAN DO</a:t>
            </a:r>
          </a:p>
        </p:txBody>
      </p:sp>
      <p:sp>
        <p:nvSpPr>
          <p:cNvPr id="3" name="Title accent"/>
          <p:cNvSpPr/>
          <p:nvPr/>
        </p:nvSpPr>
        <p:spPr>
          <a:xfrm>
            <a:off x="685800" y="1009650"/>
            <a:ext cx="419100" cy="38100"/>
          </a:xfrm>
          <a:prstGeom prst="rect">
            <a:avLst/>
          </a:prstGeom>
          <a:solidFill>
            <a:srgbClr val="0D9488"/>
          </a:solidFill>
          <a:ln>
            <a:noFill/>
          </a:ln>
        </p:spPr>
        <p:txBody>
          <a:bodyPr rtlCol="0" anchor="ctr"/>
          <a:lstStyle/>
          <a:p>
            <a:pPr algn="ctr"/>
            <a:endParaRPr/>
          </a:p>
        </p:txBody>
      </p:sp>
      <p:sp>
        <p:nvSpPr>
          <p:cNvPr id="4" name="Slide title"/>
          <p:cNvSpPr txBox="1"/>
          <p:nvPr/>
        </p:nvSpPr>
        <p:spPr>
          <a:xfrm>
            <a:off x="685800" y="1181100"/>
            <a:ext cx="10820400" cy="876300"/>
          </a:xfrm>
          <a:prstGeom prst="rect">
            <a:avLst/>
          </a:prstGeom>
          <a:noFill/>
          <a:ln>
            <a:noFill/>
          </a:ln>
        </p:spPr>
        <p:txBody>
          <a:bodyPr wrap="square" lIns="0" tIns="0" rIns="0" bIns="0" anchor="t">
            <a:noAutofit/>
          </a:bodyPr>
          <a:lstStyle/>
          <a:p>
            <a:pPr algn="l">
              <a:lnSpc>
                <a:spcPts val="3120"/>
              </a:lnSpc>
              <a:spcBef>
                <a:spcPts val="0"/>
              </a:spcBef>
              <a:spcAft>
                <a:spcPts val="0"/>
              </a:spcAft>
            </a:pPr>
            <a:r>
              <a:rPr sz="3000" b="1" i="0" u="none">
                <a:solidFill>
                  <a:srgbClr val="132238"/>
                </a:solidFill>
                <a:latin typeface="Arial"/>
              </a:rPr>
              <a:t>Features by User Role</a:t>
            </a:r>
          </a:p>
        </p:txBody>
      </p:sp>
      <p:sp>
        <p:nvSpPr>
          <p:cNvPr id="5" name="TextBox 4"/>
          <p:cNvSpPr txBox="1"/>
          <p:nvPr/>
        </p:nvSpPr>
        <p:spPr>
          <a:xfrm>
            <a:off x="685800" y="2133600"/>
            <a:ext cx="9525000" cy="323850"/>
          </a:xfrm>
          <a:prstGeom prst="rect">
            <a:avLst/>
          </a:prstGeom>
          <a:noFill/>
          <a:ln>
            <a:noFill/>
          </a:ln>
        </p:spPr>
        <p:txBody>
          <a:bodyPr wrap="square" lIns="0" tIns="0" rIns="0" bIns="0" anchor="t">
            <a:noAutofit/>
          </a:bodyPr>
          <a:lstStyle/>
          <a:p>
            <a:pPr algn="l">
              <a:lnSpc>
                <a:spcPts val="2145"/>
              </a:lnSpc>
              <a:spcBef>
                <a:spcPts val="0"/>
              </a:spcBef>
              <a:spcAft>
                <a:spcPts val="0"/>
              </a:spcAft>
            </a:pPr>
            <a:r>
              <a:rPr sz="1650" b="1" i="0" u="none">
                <a:solidFill>
                  <a:srgbClr val="132238"/>
                </a:solidFill>
                <a:latin typeface="Arial"/>
              </a:rPr>
              <a:t>One codebase, three purpose-built experiences.</a:t>
            </a:r>
          </a:p>
        </p:txBody>
      </p:sp>
      <p:graphicFrame>
        <p:nvGraphicFramePr>
          <p:cNvPr id="6" name="Evidence table"/>
          <p:cNvGraphicFramePr>
            <a:graphicFrameLocks noGrp="1"/>
          </p:cNvGraphicFramePr>
          <p:nvPr/>
        </p:nvGraphicFramePr>
        <p:xfrm>
          <a:off x="685800" y="2667000"/>
          <a:ext cx="10820400" cy="2667000"/>
        </p:xfrm>
        <a:graphic>
          <a:graphicData uri="http://schemas.openxmlformats.org/drawingml/2006/table">
            <a:tbl>
              <a:tblPr>
                <a:tableStyleId>{5C22544A-7EE6-4342-B048-85BDC9FD1C3A}</a:tableStyleId>
              </a:tblPr>
              <a:tblGrid>
                <a:gridCol w="2705100">
                  <a:extLst>
                    <a:ext uri="{9D8B030D-6E8A-4147-A177-3AD203B41FA5}">
                      <a16:colId xmlns:a16="http://schemas.microsoft.com/office/drawing/2014/main" val="20000"/>
                    </a:ext>
                  </a:extLst>
                </a:gridCol>
                <a:gridCol w="2705100">
                  <a:extLst>
                    <a:ext uri="{9D8B030D-6E8A-4147-A177-3AD203B41FA5}">
                      <a16:colId xmlns:a16="http://schemas.microsoft.com/office/drawing/2014/main" val="20001"/>
                    </a:ext>
                  </a:extLst>
                </a:gridCol>
                <a:gridCol w="2705100">
                  <a:extLst>
                    <a:ext uri="{9D8B030D-6E8A-4147-A177-3AD203B41FA5}">
                      <a16:colId xmlns:a16="http://schemas.microsoft.com/office/drawing/2014/main" val="20002"/>
                    </a:ext>
                  </a:extLst>
                </a:gridCol>
                <a:gridCol w="2705100">
                  <a:extLst>
                    <a:ext uri="{9D8B030D-6E8A-4147-A177-3AD203B41FA5}">
                      <a16:colId xmlns:a16="http://schemas.microsoft.com/office/drawing/2014/main" val="20003"/>
                    </a:ext>
                  </a:extLst>
                </a:gridCol>
              </a:tblGrid>
              <a:tr h="444500">
                <a:tc>
                  <a:txBody>
                    <a:bodyPr/>
                    <a:lstStyle/>
                    <a:p>
                      <a:pPr algn="l"/>
                      <a:r>
                        <a:rPr sz="900" b="1" i="0" u="none">
                          <a:solidFill>
                            <a:srgbClr val="6B6862"/>
                          </a:solidFill>
                          <a:latin typeface="Arial"/>
                        </a:rPr>
                        <a:t>Feature</a:t>
                      </a:r>
                    </a:p>
                  </a:txBody>
                  <a:tcPr marL="57150" marR="57150" marT="95250" marB="95250" anchor="ctr">
                    <a:noFill/>
                  </a:tcPr>
                </a:tc>
                <a:tc>
                  <a:txBody>
                    <a:bodyPr/>
                    <a:lstStyle/>
                    <a:p>
                      <a:pPr algn="l"/>
                      <a:r>
                        <a:rPr sz="900" b="1" i="0" u="none">
                          <a:solidFill>
                            <a:srgbClr val="6B6862"/>
                          </a:solidFill>
                          <a:latin typeface="Arial"/>
                        </a:rPr>
                        <a:t>Patient</a:t>
                      </a:r>
                    </a:p>
                  </a:txBody>
                  <a:tcPr marL="57150" marR="57150" marT="95250" marB="95250" anchor="ctr">
                    <a:noFill/>
                  </a:tcPr>
                </a:tc>
                <a:tc>
                  <a:txBody>
                    <a:bodyPr/>
                    <a:lstStyle/>
                    <a:p>
                      <a:pPr algn="l"/>
                      <a:r>
                        <a:rPr sz="900" b="1" i="0" u="none">
                          <a:solidFill>
                            <a:srgbClr val="6B6862"/>
                          </a:solidFill>
                          <a:latin typeface="Arial"/>
                        </a:rPr>
                        <a:t>Doctor</a:t>
                      </a:r>
                    </a:p>
                  </a:txBody>
                  <a:tcPr marL="57150" marR="57150" marT="95250" marB="95250" anchor="ctr">
                    <a:noFill/>
                  </a:tcPr>
                </a:tc>
                <a:tc>
                  <a:txBody>
                    <a:bodyPr/>
                    <a:lstStyle/>
                    <a:p>
                      <a:pPr algn="l"/>
                      <a:r>
                        <a:rPr sz="900" b="1" i="0" u="none">
                          <a:solidFill>
                            <a:srgbClr val="6B6862"/>
                          </a:solidFill>
                          <a:latin typeface="Arial"/>
                        </a:rPr>
                        <a:t>Admin</a:t>
                      </a:r>
                    </a:p>
                  </a:txBody>
                  <a:tcPr marL="57150" marR="57150" marT="95250" marB="95250" anchor="ctr">
                    <a:noFill/>
                  </a:tcPr>
                </a:tc>
                <a:extLst>
                  <a:ext uri="{0D108BD9-81ED-4DB2-BD59-A6C34878D82A}">
                    <a16:rowId xmlns:a16="http://schemas.microsoft.com/office/drawing/2014/main" val="10000"/>
                  </a:ext>
                </a:extLst>
              </a:tr>
              <a:tr h="444500">
                <a:tc>
                  <a:txBody>
                    <a:bodyPr/>
                    <a:lstStyle/>
                    <a:p>
                      <a:pPr algn="l"/>
                      <a:r>
                        <a:rPr sz="1200" b="1" i="0" u="none">
                          <a:solidFill>
                            <a:srgbClr val="2C2C2B"/>
                          </a:solidFill>
                          <a:latin typeface="Arial"/>
                        </a:rPr>
                        <a:t>Doctor Discovery &amp; Appointments</a:t>
                      </a:r>
                    </a:p>
                  </a:txBody>
                  <a:tcPr marL="57150" marR="57150" marT="95250" marB="95250" anchor="ctr">
                    <a:noFill/>
                  </a:tcPr>
                </a:tc>
                <a:tc>
                  <a:txBody>
                    <a:bodyPr/>
                    <a:lstStyle/>
                    <a:p>
                      <a:pPr algn="l"/>
                      <a:r>
                        <a:rPr sz="1200" b="0" i="0" u="none">
                          <a:solidFill>
                            <a:srgbClr val="2C2C2B"/>
                          </a:solidFill>
                          <a:latin typeface="Arial"/>
                        </a:rPr>
                        <a:t>✓ Search, book &amp; cancel</a:t>
                      </a:r>
                    </a:p>
                  </a:txBody>
                  <a:tcPr marL="57150" marR="57150" marT="95250" marB="95250" anchor="ctr">
                    <a:noFill/>
                  </a:tcPr>
                </a:tc>
                <a:tc>
                  <a:txBody>
                    <a:bodyPr/>
                    <a:lstStyle/>
                    <a:p>
                      <a:pPr algn="l"/>
                      <a:r>
                        <a:rPr sz="1200" b="0" i="0" u="none">
                          <a:solidFill>
                            <a:srgbClr val="2C2C2B"/>
                          </a:solidFill>
                          <a:latin typeface="Arial"/>
                        </a:rPr>
                        <a:t>✓ Accept &amp; complete</a:t>
                      </a:r>
                    </a:p>
                  </a:txBody>
                  <a:tcPr marL="57150" marR="57150" marT="95250" marB="95250" anchor="ctr">
                    <a:noFill/>
                  </a:tcPr>
                </a:tc>
                <a:tc>
                  <a:txBody>
                    <a:bodyPr/>
                    <a:lstStyle/>
                    <a:p>
                      <a:pPr algn="l"/>
                      <a:r>
                        <a:rPr sz="1200" b="0" i="0" u="none">
                          <a:solidFill>
                            <a:srgbClr val="2C2C2B"/>
                          </a:solidFill>
                          <a:latin typeface="Arial"/>
                        </a:rPr>
                        <a:t>✓ Monitor all</a:t>
                      </a:r>
                    </a:p>
                  </a:txBody>
                  <a:tcPr marL="57150" marR="57150" marT="95250" marB="95250" anchor="ctr">
                    <a:noFill/>
                  </a:tcPr>
                </a:tc>
                <a:extLst>
                  <a:ext uri="{0D108BD9-81ED-4DB2-BD59-A6C34878D82A}">
                    <a16:rowId xmlns:a16="http://schemas.microsoft.com/office/drawing/2014/main" val="10001"/>
                  </a:ext>
                </a:extLst>
              </a:tr>
              <a:tr h="444500">
                <a:tc>
                  <a:txBody>
                    <a:bodyPr/>
                    <a:lstStyle/>
                    <a:p>
                      <a:pPr algn="l"/>
                      <a:r>
                        <a:rPr sz="1200" b="1" i="0" u="none">
                          <a:solidFill>
                            <a:srgbClr val="2C2C2B"/>
                          </a:solidFill>
                          <a:latin typeface="Arial"/>
                        </a:rPr>
                        <a:t>Payments &amp; Refunds</a:t>
                      </a:r>
                    </a:p>
                  </a:txBody>
                  <a:tcPr marL="57150" marR="57150" marT="95250" marB="95250" anchor="ctr">
                    <a:noFill/>
                  </a:tcPr>
                </a:tc>
                <a:tc>
                  <a:txBody>
                    <a:bodyPr/>
                    <a:lstStyle/>
                    <a:p>
                      <a:pPr algn="l"/>
                      <a:r>
                        <a:rPr sz="1200" b="0" i="0" u="none">
                          <a:solidFill>
                            <a:srgbClr val="2C2C2B"/>
                          </a:solidFill>
                          <a:latin typeface="Arial"/>
                        </a:rPr>
                        <a:t>✓ Pay &amp; view history</a:t>
                      </a:r>
                    </a:p>
                  </a:txBody>
                  <a:tcPr marL="57150" marR="57150" marT="95250" marB="95250" anchor="ctr">
                    <a:noFill/>
                  </a:tcPr>
                </a:tc>
                <a:tc>
                  <a:txBody>
                    <a:bodyPr/>
                    <a:lstStyle/>
                    <a:p>
                      <a:pPr algn="l"/>
                      <a:r>
                        <a:rPr sz="1200" b="0" i="0" u="none">
                          <a:solidFill>
                            <a:srgbClr val="2C2C2B"/>
                          </a:solidFill>
                          <a:latin typeface="Arial"/>
                        </a:rPr>
                        <a:t>–</a:t>
                      </a:r>
                    </a:p>
                  </a:txBody>
                  <a:tcPr marL="57150" marR="57150" marT="95250" marB="95250" anchor="ctr">
                    <a:noFill/>
                  </a:tcPr>
                </a:tc>
                <a:tc>
                  <a:txBody>
                    <a:bodyPr/>
                    <a:lstStyle/>
                    <a:p>
                      <a:pPr algn="l"/>
                      <a:r>
                        <a:rPr sz="1200" b="0" i="0" u="none">
                          <a:solidFill>
                            <a:srgbClr val="2C2C2B"/>
                          </a:solidFill>
                          <a:latin typeface="Arial"/>
                        </a:rPr>
                        <a:t>✓ Manual refunds</a:t>
                      </a:r>
                    </a:p>
                  </a:txBody>
                  <a:tcPr marL="57150" marR="57150" marT="95250" marB="95250" anchor="ctr">
                    <a:noFill/>
                  </a:tcPr>
                </a:tc>
                <a:extLst>
                  <a:ext uri="{0D108BD9-81ED-4DB2-BD59-A6C34878D82A}">
                    <a16:rowId xmlns:a16="http://schemas.microsoft.com/office/drawing/2014/main" val="10002"/>
                  </a:ext>
                </a:extLst>
              </a:tr>
              <a:tr h="444500">
                <a:tc>
                  <a:txBody>
                    <a:bodyPr/>
                    <a:lstStyle/>
                    <a:p>
                      <a:pPr algn="l"/>
                      <a:r>
                        <a:rPr sz="1200" b="1" i="0" u="none">
                          <a:solidFill>
                            <a:srgbClr val="2C2C2B"/>
                          </a:solidFill>
                          <a:latin typeface="Arial"/>
                        </a:rPr>
                        <a:t>Scheduling &amp; Availability</a:t>
                      </a:r>
                    </a:p>
                  </a:txBody>
                  <a:tcPr marL="57150" marR="57150" marT="95250" marB="95250" anchor="ctr">
                    <a:noFill/>
                  </a:tcPr>
                </a:tc>
                <a:tc>
                  <a:txBody>
                    <a:bodyPr/>
                    <a:lstStyle/>
                    <a:p>
                      <a:pPr algn="l"/>
                      <a:r>
                        <a:rPr sz="1200" b="0" i="0" u="none">
                          <a:solidFill>
                            <a:srgbClr val="2C2C2B"/>
                          </a:solidFill>
                          <a:latin typeface="Arial"/>
                        </a:rPr>
                        <a:t>✓ View open slots</a:t>
                      </a:r>
                    </a:p>
                  </a:txBody>
                  <a:tcPr marL="57150" marR="57150" marT="95250" marB="95250" anchor="ctr">
                    <a:noFill/>
                  </a:tcPr>
                </a:tc>
                <a:tc>
                  <a:txBody>
                    <a:bodyPr/>
                    <a:lstStyle/>
                    <a:p>
                      <a:pPr algn="l"/>
                      <a:r>
                        <a:rPr sz="1200" b="0" i="0" u="none">
                          <a:solidFill>
                            <a:srgbClr val="2C2C2B"/>
                          </a:solidFill>
                          <a:latin typeface="Arial"/>
                        </a:rPr>
                        <a:t>✓ Set weekly hours</a:t>
                      </a:r>
                    </a:p>
                  </a:txBody>
                  <a:tcPr marL="57150" marR="57150" marT="95250" marB="95250" anchor="ctr">
                    <a:noFill/>
                  </a:tcPr>
                </a:tc>
                <a:tc>
                  <a:txBody>
                    <a:bodyPr/>
                    <a:lstStyle/>
                    <a:p>
                      <a:pPr algn="l"/>
                      <a:r>
                        <a:rPr sz="1200" b="0" i="0" u="none">
                          <a:solidFill>
                            <a:srgbClr val="2C2C2B"/>
                          </a:solidFill>
                          <a:latin typeface="Arial"/>
                        </a:rPr>
                        <a:t>–</a:t>
                      </a:r>
                    </a:p>
                  </a:txBody>
                  <a:tcPr marL="57150" marR="57150" marT="95250" marB="95250" anchor="ctr">
                    <a:noFill/>
                  </a:tcPr>
                </a:tc>
                <a:extLst>
                  <a:ext uri="{0D108BD9-81ED-4DB2-BD59-A6C34878D82A}">
                    <a16:rowId xmlns:a16="http://schemas.microsoft.com/office/drawing/2014/main" val="10003"/>
                  </a:ext>
                </a:extLst>
              </a:tr>
              <a:tr h="444500">
                <a:tc>
                  <a:txBody>
                    <a:bodyPr/>
                    <a:lstStyle/>
                    <a:p>
                      <a:pPr algn="l"/>
                      <a:r>
                        <a:rPr sz="1200" b="1" i="0" u="none">
                          <a:solidFill>
                            <a:srgbClr val="2C2C2B"/>
                          </a:solidFill>
                          <a:latin typeface="Arial"/>
                        </a:rPr>
                        <a:t>Reviews &amp; Verification</a:t>
                      </a:r>
                    </a:p>
                  </a:txBody>
                  <a:tcPr marL="57150" marR="57150" marT="95250" marB="95250" anchor="ctr">
                    <a:noFill/>
                  </a:tcPr>
                </a:tc>
                <a:tc>
                  <a:txBody>
                    <a:bodyPr/>
                    <a:lstStyle/>
                    <a:p>
                      <a:pPr algn="l"/>
                      <a:r>
                        <a:rPr sz="1200" b="0" i="0" u="none">
                          <a:solidFill>
                            <a:srgbClr val="2C2C2B"/>
                          </a:solidFill>
                          <a:latin typeface="Arial"/>
                        </a:rPr>
                        <a:t>✓ Leave reviews</a:t>
                      </a:r>
                    </a:p>
                  </a:txBody>
                  <a:tcPr marL="57150" marR="57150" marT="95250" marB="95250" anchor="ctr">
                    <a:noFill/>
                  </a:tcPr>
                </a:tc>
                <a:tc>
                  <a:txBody>
                    <a:bodyPr/>
                    <a:lstStyle/>
                    <a:p>
                      <a:pPr algn="l"/>
                      <a:r>
                        <a:rPr sz="1200" b="0" i="0" u="none">
                          <a:solidFill>
                            <a:srgbClr val="2C2C2B"/>
                          </a:solidFill>
                          <a:latin typeface="Arial"/>
                        </a:rPr>
                        <a:t>✓ Get verified</a:t>
                      </a:r>
                    </a:p>
                  </a:txBody>
                  <a:tcPr marL="57150" marR="57150" marT="95250" marB="95250" anchor="ctr">
                    <a:noFill/>
                  </a:tcPr>
                </a:tc>
                <a:tc>
                  <a:txBody>
                    <a:bodyPr/>
                    <a:lstStyle/>
                    <a:p>
                      <a:pPr algn="l"/>
                      <a:r>
                        <a:rPr sz="1200" b="0" i="0" u="none">
                          <a:solidFill>
                            <a:srgbClr val="2C2C2B"/>
                          </a:solidFill>
                          <a:latin typeface="Arial"/>
                        </a:rPr>
                        <a:t>✓ Approve doctors</a:t>
                      </a:r>
                    </a:p>
                  </a:txBody>
                  <a:tcPr marL="57150" marR="57150" marT="95250" marB="95250" anchor="ctr">
                    <a:noFill/>
                  </a:tcPr>
                </a:tc>
                <a:extLst>
                  <a:ext uri="{0D108BD9-81ED-4DB2-BD59-A6C34878D82A}">
                    <a16:rowId xmlns:a16="http://schemas.microsoft.com/office/drawing/2014/main" val="10004"/>
                  </a:ext>
                </a:extLst>
              </a:tr>
              <a:tr h="444500">
                <a:tc>
                  <a:txBody>
                    <a:bodyPr/>
                    <a:lstStyle/>
                    <a:p>
                      <a:pPr algn="l"/>
                      <a:r>
                        <a:rPr sz="1200" b="1" i="0" u="none">
                          <a:solidFill>
                            <a:srgbClr val="2C2C2B"/>
                          </a:solidFill>
                          <a:latin typeface="Arial"/>
                        </a:rPr>
                        <a:t>Analytics &amp; User Management</a:t>
                      </a:r>
                    </a:p>
                  </a:txBody>
                  <a:tcPr marL="57150" marR="57150" marT="95250" marB="95250" anchor="ctr">
                    <a:noFill/>
                  </a:tcPr>
                </a:tc>
                <a:tc>
                  <a:txBody>
                    <a:bodyPr/>
                    <a:lstStyle/>
                    <a:p>
                      <a:pPr algn="l"/>
                      <a:r>
                        <a:rPr sz="1200" b="0" i="0" u="none">
                          <a:solidFill>
                            <a:srgbClr val="2C2C2B"/>
                          </a:solidFill>
                          <a:latin typeface="Arial"/>
                        </a:rPr>
                        <a:t>–</a:t>
                      </a:r>
                    </a:p>
                  </a:txBody>
                  <a:tcPr marL="57150" marR="57150" marT="95250" marB="95250" anchor="ctr">
                    <a:noFill/>
                  </a:tcPr>
                </a:tc>
                <a:tc>
                  <a:txBody>
                    <a:bodyPr/>
                    <a:lstStyle/>
                    <a:p>
                      <a:pPr algn="l"/>
                      <a:r>
                        <a:rPr sz="1200" b="0" i="0" u="none">
                          <a:solidFill>
                            <a:srgbClr val="2C2C2B"/>
                          </a:solidFill>
                          <a:latin typeface="Arial"/>
                        </a:rPr>
                        <a:t>–</a:t>
                      </a:r>
                    </a:p>
                  </a:txBody>
                  <a:tcPr marL="57150" marR="57150" marT="95250" marB="95250" anchor="ctr">
                    <a:noFill/>
                  </a:tcPr>
                </a:tc>
                <a:tc>
                  <a:txBody>
                    <a:bodyPr/>
                    <a:lstStyle/>
                    <a:p>
                      <a:pPr algn="l"/>
                      <a:r>
                        <a:rPr sz="1200" b="0" i="0" u="none">
                          <a:solidFill>
                            <a:srgbClr val="2C2C2B"/>
                          </a:solidFill>
                          <a:latin typeface="Arial"/>
                        </a:rPr>
                        <a:t>✓ Dashboards &amp; users</a:t>
                      </a:r>
                    </a:p>
                  </a:txBody>
                  <a:tcPr marL="57150" marR="57150" marT="95250" marB="95250" anchor="ctr">
                    <a:noFill/>
                  </a:tcPr>
                </a:tc>
                <a:extLst>
                  <a:ext uri="{0D108BD9-81ED-4DB2-BD59-A6C34878D82A}">
                    <a16:rowId xmlns:a16="http://schemas.microsoft.com/office/drawing/2014/main" val="10005"/>
                  </a:ext>
                </a:extLst>
              </a:tr>
            </a:tbl>
          </a:graphicData>
        </a:graphic>
      </p:graphicFrame>
      <p:sp>
        <p:nvSpPr>
          <p:cNvPr id="7" name="Page number"/>
          <p:cNvSpPr txBox="1"/>
          <p:nvPr/>
        </p:nvSpPr>
        <p:spPr>
          <a:xfrm>
            <a:off x="10934700" y="6477000"/>
            <a:ext cx="571500" cy="190500"/>
          </a:xfrm>
          <a:prstGeom prst="rect">
            <a:avLst/>
          </a:prstGeom>
          <a:noFill/>
          <a:ln>
            <a:noFill/>
          </a:ln>
        </p:spPr>
        <p:txBody>
          <a:bodyPr wrap="square" lIns="0" tIns="0" rIns="0" bIns="0" anchor="t">
            <a:noAutofit/>
          </a:bodyPr>
          <a:lstStyle/>
          <a:p>
            <a:pPr algn="r">
              <a:spcBef>
                <a:spcPts val="0"/>
              </a:spcBef>
              <a:spcAft>
                <a:spcPts val="0"/>
              </a:spcAft>
            </a:pPr>
            <a:r>
              <a:rPr sz="825" b="0" i="0" u="none">
                <a:solidFill>
                  <a:srgbClr val="5B6B84"/>
                </a:solidFill>
                <a:latin typeface="Arial"/>
              </a:rPr>
              <a:t>14 / 29</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Media frame"/>
          <p:cNvSpPr/>
          <p:nvPr/>
        </p:nvSpPr>
        <p:spPr>
          <a:xfrm>
            <a:off x="685800" y="1143000"/>
            <a:ext cx="4457700" cy="3771900"/>
          </a:xfrm>
          <a:prstGeom prst="roundRect">
            <a:avLst>
              <a:gd name="adj" fmla="val 3030"/>
            </a:avLst>
          </a:prstGeom>
          <a:solidFill>
            <a:srgbClr val="141C2E"/>
          </a:solidFill>
          <a:ln w="9525">
            <a:solidFill>
              <a:srgbClr val="28334A"/>
            </a:solidFill>
          </a:ln>
        </p:spPr>
        <p:txBody>
          <a:bodyPr rtlCol="0" anchor="ctr"/>
          <a:lstStyle/>
          <a:p>
            <a:pPr algn="ctr"/>
            <a:endParaRPr/>
          </a:p>
        </p:txBody>
      </p:sp>
      <p:pic>
        <p:nvPicPr>
          <p:cNvPr id="3" name="Story image" descr="logo.png"/>
          <p:cNvPicPr>
            <a:picLocks noChangeAspect="1"/>
          </p:cNvPicPr>
          <p:nvPr/>
        </p:nvPicPr>
        <p:blipFill>
          <a:blip r:embed="rId2"/>
          <a:stretch>
            <a:fillRect/>
          </a:stretch>
        </p:blipFill>
        <p:spPr>
          <a:xfrm>
            <a:off x="685800" y="1143000"/>
            <a:ext cx="4476750" cy="3829050"/>
          </a:xfrm>
          <a:prstGeom prst="roundRect">
            <a:avLst>
              <a:gd name="adj" fmla="val 3030"/>
            </a:avLst>
          </a:prstGeom>
        </p:spPr>
      </p:pic>
      <p:sp>
        <p:nvSpPr>
          <p:cNvPr id="4" name="TextBox 3"/>
          <p:cNvSpPr txBox="1"/>
          <p:nvPr/>
        </p:nvSpPr>
        <p:spPr>
          <a:xfrm>
            <a:off x="685800" y="5048250"/>
            <a:ext cx="4457700" cy="266700"/>
          </a:xfrm>
          <a:prstGeom prst="rect">
            <a:avLst/>
          </a:prstGeom>
          <a:noFill/>
          <a:ln>
            <a:noFill/>
          </a:ln>
        </p:spPr>
        <p:txBody>
          <a:bodyPr wrap="square" lIns="0" tIns="0" rIns="0" bIns="0" anchor="t">
            <a:noAutofit/>
          </a:bodyPr>
          <a:lstStyle/>
          <a:p>
            <a:pPr algn="l">
              <a:lnSpc>
                <a:spcPts val="1130"/>
              </a:lnSpc>
              <a:spcBef>
                <a:spcPts val="0"/>
              </a:spcBef>
              <a:spcAft>
                <a:spcPts val="0"/>
              </a:spcAft>
            </a:pPr>
            <a:r>
              <a:rPr sz="975" b="0" i="0" u="none">
                <a:solidFill>
                  <a:srgbClr val="93A3B8"/>
                </a:solidFill>
                <a:latin typeface="Arial"/>
              </a:rPr>
              <a:t>MediCare Pro logo</a:t>
            </a:r>
          </a:p>
        </p:txBody>
      </p:sp>
      <p:sp>
        <p:nvSpPr>
          <p:cNvPr id="5" name="Section label"/>
          <p:cNvSpPr txBox="1"/>
          <p:nvPr/>
        </p:nvSpPr>
        <p:spPr>
          <a:xfrm>
            <a:off x="6191250" y="1143000"/>
            <a:ext cx="4391025" cy="247649"/>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1" i="0" u="none">
                <a:solidFill>
                  <a:srgbClr val="93A3B8"/>
                </a:solidFill>
                <a:latin typeface="Arial"/>
              </a:rPr>
              <a:t>BRAND IDENTITY</a:t>
            </a:r>
          </a:p>
        </p:txBody>
      </p:sp>
      <p:sp>
        <p:nvSpPr>
          <p:cNvPr id="6" name="Rectangle 5"/>
          <p:cNvSpPr/>
          <p:nvPr/>
        </p:nvSpPr>
        <p:spPr>
          <a:xfrm>
            <a:off x="6191250" y="1447800"/>
            <a:ext cx="419100" cy="38100"/>
          </a:xfrm>
          <a:prstGeom prst="rect">
            <a:avLst/>
          </a:prstGeom>
          <a:solidFill>
            <a:srgbClr val="2DD4BF"/>
          </a:solidFill>
          <a:ln>
            <a:noFill/>
          </a:ln>
        </p:spPr>
        <p:txBody>
          <a:bodyPr rtlCol="0" anchor="ctr"/>
          <a:lstStyle/>
          <a:p>
            <a:pPr algn="ctr"/>
            <a:endParaRPr/>
          </a:p>
        </p:txBody>
      </p:sp>
      <p:sp>
        <p:nvSpPr>
          <p:cNvPr id="7" name="TextBox 6"/>
          <p:cNvSpPr txBox="1"/>
          <p:nvPr/>
        </p:nvSpPr>
        <p:spPr>
          <a:xfrm>
            <a:off x="6191250" y="1619250"/>
            <a:ext cx="4476750" cy="1181100"/>
          </a:xfrm>
          <a:prstGeom prst="rect">
            <a:avLst/>
          </a:prstGeom>
          <a:noFill/>
          <a:ln>
            <a:noFill/>
          </a:ln>
        </p:spPr>
        <p:txBody>
          <a:bodyPr wrap="square" lIns="0" tIns="0" rIns="0" bIns="0" anchor="t">
            <a:noAutofit/>
          </a:bodyPr>
          <a:lstStyle/>
          <a:p>
            <a:pPr algn="l">
              <a:lnSpc>
                <a:spcPts val="3150"/>
              </a:lnSpc>
              <a:spcBef>
                <a:spcPts val="0"/>
              </a:spcBef>
              <a:spcAft>
                <a:spcPts val="0"/>
              </a:spcAft>
            </a:pPr>
            <a:r>
              <a:rPr sz="3000" b="1" i="0" u="none">
                <a:solidFill>
                  <a:srgbClr val="F3F6FA"/>
                </a:solidFill>
                <a:latin typeface="Arial"/>
              </a:rPr>
              <a:t>A Trusted Digital Health Mark</a:t>
            </a:r>
          </a:p>
        </p:txBody>
      </p:sp>
      <p:sp>
        <p:nvSpPr>
          <p:cNvPr id="8" name="TextBox 7"/>
          <p:cNvSpPr txBox="1"/>
          <p:nvPr/>
        </p:nvSpPr>
        <p:spPr>
          <a:xfrm>
            <a:off x="6191250" y="3009900"/>
            <a:ext cx="4476750" cy="2000250"/>
          </a:xfrm>
          <a:prstGeom prst="rect">
            <a:avLst/>
          </a:prstGeom>
          <a:noFill/>
          <a:ln>
            <a:noFill/>
          </a:ln>
        </p:spPr>
        <p:txBody>
          <a:bodyPr wrap="square" lIns="0" tIns="0" rIns="0" bIns="0" anchor="t">
            <a:noAutofit/>
          </a:bodyPr>
          <a:lstStyle/>
          <a:p>
            <a:pPr algn="l">
              <a:lnSpc>
                <a:spcPts val="2204"/>
              </a:lnSpc>
              <a:spcBef>
                <a:spcPts val="0"/>
              </a:spcBef>
              <a:spcAft>
                <a:spcPts val="0"/>
              </a:spcAft>
            </a:pPr>
            <a:r>
              <a:rPr sz="1575" b="0" i="0" u="none">
                <a:solidFill>
                  <a:srgbClr val="93A3B8"/>
                </a:solidFill>
                <a:latin typeface="Arial"/>
              </a:rPr>
              <a:t>The MediCare Pro mark pairs a medical cross with a heartbeat pulse — a simple symbol of care and vitality. A dark, teal-accented interface carries that identity across every patient, doctor, and admin experience.</a:t>
            </a:r>
          </a:p>
        </p:txBody>
      </p:sp>
      <p:sp>
        <p:nvSpPr>
          <p:cNvPr id="9" name="Page number"/>
          <p:cNvSpPr txBox="1"/>
          <p:nvPr/>
        </p:nvSpPr>
        <p:spPr>
          <a:xfrm>
            <a:off x="10934700" y="6477000"/>
            <a:ext cx="571500" cy="190500"/>
          </a:xfrm>
          <a:prstGeom prst="rect">
            <a:avLst/>
          </a:prstGeom>
          <a:noFill/>
          <a:ln>
            <a:noFill/>
          </a:ln>
        </p:spPr>
        <p:txBody>
          <a:bodyPr wrap="square" lIns="0" tIns="0" rIns="0" bIns="0" anchor="t">
            <a:noAutofit/>
          </a:bodyPr>
          <a:lstStyle/>
          <a:p>
            <a:pPr algn="r">
              <a:spcBef>
                <a:spcPts val="0"/>
              </a:spcBef>
              <a:spcAft>
                <a:spcPts val="0"/>
              </a:spcAft>
            </a:pPr>
            <a:r>
              <a:rPr sz="825" b="0" i="0" u="none">
                <a:solidFill>
                  <a:srgbClr val="93A3B8"/>
                </a:solidFill>
                <a:latin typeface="Arial"/>
              </a:rPr>
              <a:t>15 / 29</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Section label"/>
          <p:cNvSpPr txBox="1"/>
          <p:nvPr/>
        </p:nvSpPr>
        <p:spPr>
          <a:xfrm>
            <a:off x="685800" y="685800"/>
            <a:ext cx="5905500" cy="247649"/>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1" i="0" u="none">
                <a:solidFill>
                  <a:srgbClr val="93A3B8"/>
                </a:solidFill>
                <a:latin typeface="Arial"/>
              </a:rPr>
              <a:t>EGYPT'S #1 HEALTHCARE PLATFORM</a:t>
            </a:r>
          </a:p>
        </p:txBody>
      </p:sp>
      <p:sp>
        <p:nvSpPr>
          <p:cNvPr id="3" name="Title accent"/>
          <p:cNvSpPr/>
          <p:nvPr/>
        </p:nvSpPr>
        <p:spPr>
          <a:xfrm>
            <a:off x="685800" y="1009650"/>
            <a:ext cx="419100" cy="38100"/>
          </a:xfrm>
          <a:prstGeom prst="rect">
            <a:avLst/>
          </a:prstGeom>
          <a:solidFill>
            <a:srgbClr val="2DD4BF"/>
          </a:solidFill>
          <a:ln>
            <a:noFill/>
          </a:ln>
        </p:spPr>
        <p:txBody>
          <a:bodyPr rtlCol="0" anchor="ctr"/>
          <a:lstStyle/>
          <a:p>
            <a:pPr algn="ctr"/>
            <a:endParaRPr/>
          </a:p>
        </p:txBody>
      </p:sp>
      <p:sp>
        <p:nvSpPr>
          <p:cNvPr id="4" name="Slide title"/>
          <p:cNvSpPr txBox="1"/>
          <p:nvPr/>
        </p:nvSpPr>
        <p:spPr>
          <a:xfrm>
            <a:off x="685800" y="1181100"/>
            <a:ext cx="10820400" cy="876300"/>
          </a:xfrm>
          <a:prstGeom prst="rect">
            <a:avLst/>
          </a:prstGeom>
          <a:noFill/>
          <a:ln>
            <a:noFill/>
          </a:ln>
        </p:spPr>
        <p:txBody>
          <a:bodyPr wrap="square" lIns="0" tIns="0" rIns="0" bIns="0" anchor="t">
            <a:noAutofit/>
          </a:bodyPr>
          <a:lstStyle/>
          <a:p>
            <a:pPr algn="l">
              <a:lnSpc>
                <a:spcPts val="2964"/>
              </a:lnSpc>
              <a:spcBef>
                <a:spcPts val="0"/>
              </a:spcBef>
              <a:spcAft>
                <a:spcPts val="0"/>
              </a:spcAft>
            </a:pPr>
            <a:r>
              <a:rPr sz="2850" b="1" i="0" u="none">
                <a:solidFill>
                  <a:srgbClr val="F3F6FA"/>
                </a:solidFill>
                <a:latin typeface="Arial"/>
              </a:rPr>
              <a:t>UI Showcase — Landing Page</a:t>
            </a:r>
          </a:p>
        </p:txBody>
      </p:sp>
      <p:sp>
        <p:nvSpPr>
          <p:cNvPr id="5" name="Media frame"/>
          <p:cNvSpPr/>
          <p:nvPr/>
        </p:nvSpPr>
        <p:spPr>
          <a:xfrm>
            <a:off x="685800" y="2247900"/>
            <a:ext cx="5314950" cy="1590675"/>
          </a:xfrm>
          <a:prstGeom prst="roundRect">
            <a:avLst>
              <a:gd name="adj" fmla="val 7185"/>
            </a:avLst>
          </a:prstGeom>
          <a:solidFill>
            <a:srgbClr val="141C2E"/>
          </a:solidFill>
          <a:ln w="9525">
            <a:solidFill>
              <a:srgbClr val="28334A"/>
            </a:solidFill>
          </a:ln>
        </p:spPr>
        <p:txBody>
          <a:bodyPr rtlCol="0" anchor="ctr"/>
          <a:lstStyle/>
          <a:p>
            <a:pPr algn="ctr"/>
            <a:endParaRPr/>
          </a:p>
        </p:txBody>
      </p:sp>
      <p:pic>
        <p:nvPicPr>
          <p:cNvPr id="6" name="Media image" descr="landing_1.png"/>
          <p:cNvPicPr>
            <a:picLocks noChangeAspect="1"/>
          </p:cNvPicPr>
          <p:nvPr/>
        </p:nvPicPr>
        <p:blipFill>
          <a:blip r:embed="rId2"/>
          <a:stretch>
            <a:fillRect/>
          </a:stretch>
        </p:blipFill>
        <p:spPr>
          <a:xfrm>
            <a:off x="1614910" y="2247900"/>
            <a:ext cx="3456728" cy="1590675"/>
          </a:xfrm>
          <a:prstGeom prst="roundRect">
            <a:avLst>
              <a:gd name="adj" fmla="val 7185"/>
            </a:avLst>
          </a:prstGeom>
        </p:spPr>
      </p:pic>
      <p:sp>
        <p:nvSpPr>
          <p:cNvPr id="7" name="TextBox 6"/>
          <p:cNvSpPr txBox="1"/>
          <p:nvPr/>
        </p:nvSpPr>
        <p:spPr>
          <a:xfrm>
            <a:off x="704850" y="3895725"/>
            <a:ext cx="5276850" cy="209550"/>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0" i="0" u="none">
                <a:solidFill>
                  <a:srgbClr val="93A3B8"/>
                </a:solidFill>
                <a:latin typeface="Arial"/>
              </a:rPr>
              <a:t>Hero Section</a:t>
            </a:r>
          </a:p>
        </p:txBody>
      </p:sp>
      <p:sp>
        <p:nvSpPr>
          <p:cNvPr id="8" name="Media frame"/>
          <p:cNvSpPr/>
          <p:nvPr/>
        </p:nvSpPr>
        <p:spPr>
          <a:xfrm>
            <a:off x="6191250" y="2247900"/>
            <a:ext cx="5314950" cy="1590675"/>
          </a:xfrm>
          <a:prstGeom prst="roundRect">
            <a:avLst>
              <a:gd name="adj" fmla="val 7185"/>
            </a:avLst>
          </a:prstGeom>
          <a:solidFill>
            <a:srgbClr val="141C2E"/>
          </a:solidFill>
          <a:ln w="9525">
            <a:solidFill>
              <a:srgbClr val="28334A"/>
            </a:solidFill>
          </a:ln>
        </p:spPr>
        <p:txBody>
          <a:bodyPr rtlCol="0" anchor="ctr"/>
          <a:lstStyle/>
          <a:p>
            <a:pPr algn="ctr"/>
            <a:endParaRPr/>
          </a:p>
        </p:txBody>
      </p:sp>
      <p:pic>
        <p:nvPicPr>
          <p:cNvPr id="9" name="Media image" descr="landing_2.png"/>
          <p:cNvPicPr>
            <a:picLocks noChangeAspect="1"/>
          </p:cNvPicPr>
          <p:nvPr/>
        </p:nvPicPr>
        <p:blipFill>
          <a:blip r:embed="rId3"/>
          <a:stretch>
            <a:fillRect/>
          </a:stretch>
        </p:blipFill>
        <p:spPr>
          <a:xfrm>
            <a:off x="6294288" y="2247900"/>
            <a:ext cx="5108873" cy="1590675"/>
          </a:xfrm>
          <a:prstGeom prst="roundRect">
            <a:avLst>
              <a:gd name="adj" fmla="val 7185"/>
            </a:avLst>
          </a:prstGeom>
        </p:spPr>
      </p:pic>
      <p:sp>
        <p:nvSpPr>
          <p:cNvPr id="10" name="TextBox 9"/>
          <p:cNvSpPr txBox="1"/>
          <p:nvPr/>
        </p:nvSpPr>
        <p:spPr>
          <a:xfrm>
            <a:off x="6210300" y="3895725"/>
            <a:ext cx="5276850" cy="209550"/>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0" i="0" u="none">
                <a:solidFill>
                  <a:srgbClr val="93A3B8"/>
                </a:solidFill>
                <a:latin typeface="Arial"/>
              </a:rPr>
              <a:t>Medical Specialties</a:t>
            </a:r>
          </a:p>
        </p:txBody>
      </p:sp>
      <p:sp>
        <p:nvSpPr>
          <p:cNvPr id="11" name="Media frame"/>
          <p:cNvSpPr/>
          <p:nvPr/>
        </p:nvSpPr>
        <p:spPr>
          <a:xfrm>
            <a:off x="685800" y="4314825"/>
            <a:ext cx="5314950" cy="1590675"/>
          </a:xfrm>
          <a:prstGeom prst="roundRect">
            <a:avLst>
              <a:gd name="adj" fmla="val 7185"/>
            </a:avLst>
          </a:prstGeom>
          <a:solidFill>
            <a:srgbClr val="141C2E"/>
          </a:solidFill>
          <a:ln w="9525">
            <a:solidFill>
              <a:srgbClr val="28334A"/>
            </a:solidFill>
          </a:ln>
        </p:spPr>
        <p:txBody>
          <a:bodyPr rtlCol="0" anchor="ctr"/>
          <a:lstStyle/>
          <a:p>
            <a:pPr algn="ctr"/>
            <a:endParaRPr/>
          </a:p>
        </p:txBody>
      </p:sp>
      <p:pic>
        <p:nvPicPr>
          <p:cNvPr id="12" name="Media image" descr="landing_3.png"/>
          <p:cNvPicPr>
            <a:picLocks noChangeAspect="1"/>
          </p:cNvPicPr>
          <p:nvPr/>
        </p:nvPicPr>
        <p:blipFill>
          <a:blip r:embed="rId4"/>
          <a:stretch>
            <a:fillRect/>
          </a:stretch>
        </p:blipFill>
        <p:spPr>
          <a:xfrm>
            <a:off x="1497473" y="4314825"/>
            <a:ext cx="3691602" cy="1590675"/>
          </a:xfrm>
          <a:prstGeom prst="roundRect">
            <a:avLst>
              <a:gd name="adj" fmla="val 7185"/>
            </a:avLst>
          </a:prstGeom>
        </p:spPr>
      </p:pic>
      <p:sp>
        <p:nvSpPr>
          <p:cNvPr id="13" name="TextBox 12"/>
          <p:cNvSpPr txBox="1"/>
          <p:nvPr/>
        </p:nvSpPr>
        <p:spPr>
          <a:xfrm>
            <a:off x="704850" y="5962650"/>
            <a:ext cx="5276850" cy="209550"/>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0" i="0" u="none">
                <a:solidFill>
                  <a:srgbClr val="93A3B8"/>
                </a:solidFill>
                <a:latin typeface="Arial"/>
              </a:rPr>
              <a:t>How It Works</a:t>
            </a:r>
          </a:p>
        </p:txBody>
      </p:sp>
      <p:sp>
        <p:nvSpPr>
          <p:cNvPr id="14" name="Media frame"/>
          <p:cNvSpPr/>
          <p:nvPr/>
        </p:nvSpPr>
        <p:spPr>
          <a:xfrm>
            <a:off x="6191250" y="4314825"/>
            <a:ext cx="5314950" cy="1590675"/>
          </a:xfrm>
          <a:prstGeom prst="roundRect">
            <a:avLst>
              <a:gd name="adj" fmla="val 7185"/>
            </a:avLst>
          </a:prstGeom>
          <a:solidFill>
            <a:srgbClr val="141C2E"/>
          </a:solidFill>
          <a:ln w="9525">
            <a:solidFill>
              <a:srgbClr val="28334A"/>
            </a:solidFill>
          </a:ln>
        </p:spPr>
        <p:txBody>
          <a:bodyPr rtlCol="0" anchor="ctr"/>
          <a:lstStyle/>
          <a:p>
            <a:pPr algn="ctr"/>
            <a:endParaRPr/>
          </a:p>
        </p:txBody>
      </p:sp>
      <p:pic>
        <p:nvPicPr>
          <p:cNvPr id="15" name="Media image" descr="landing_4.png"/>
          <p:cNvPicPr>
            <a:picLocks noChangeAspect="1"/>
          </p:cNvPicPr>
          <p:nvPr/>
        </p:nvPicPr>
        <p:blipFill>
          <a:blip r:embed="rId5"/>
          <a:stretch>
            <a:fillRect/>
          </a:stretch>
        </p:blipFill>
        <p:spPr>
          <a:xfrm>
            <a:off x="6773459" y="4314825"/>
            <a:ext cx="4150531" cy="1590675"/>
          </a:xfrm>
          <a:prstGeom prst="roundRect">
            <a:avLst>
              <a:gd name="adj" fmla="val 7185"/>
            </a:avLst>
          </a:prstGeom>
        </p:spPr>
      </p:pic>
      <p:sp>
        <p:nvSpPr>
          <p:cNvPr id="16" name="TextBox 15"/>
          <p:cNvSpPr txBox="1"/>
          <p:nvPr/>
        </p:nvSpPr>
        <p:spPr>
          <a:xfrm>
            <a:off x="6210300" y="5962650"/>
            <a:ext cx="5276850" cy="209550"/>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0" i="0" u="none">
                <a:solidFill>
                  <a:srgbClr val="93A3B8"/>
                </a:solidFill>
                <a:latin typeface="Arial"/>
              </a:rPr>
              <a:t>Call to Action &amp; Footer</a:t>
            </a:r>
          </a:p>
        </p:txBody>
      </p:sp>
      <p:sp>
        <p:nvSpPr>
          <p:cNvPr id="17" name="Page number"/>
          <p:cNvSpPr txBox="1"/>
          <p:nvPr/>
        </p:nvSpPr>
        <p:spPr>
          <a:xfrm>
            <a:off x="10934700" y="6477000"/>
            <a:ext cx="571500" cy="190500"/>
          </a:xfrm>
          <a:prstGeom prst="rect">
            <a:avLst/>
          </a:prstGeom>
          <a:noFill/>
          <a:ln>
            <a:noFill/>
          </a:ln>
        </p:spPr>
        <p:txBody>
          <a:bodyPr wrap="square" lIns="0" tIns="0" rIns="0" bIns="0" anchor="t">
            <a:noAutofit/>
          </a:bodyPr>
          <a:lstStyle/>
          <a:p>
            <a:pPr algn="r">
              <a:spcBef>
                <a:spcPts val="0"/>
              </a:spcBef>
              <a:spcAft>
                <a:spcPts val="0"/>
              </a:spcAft>
            </a:pPr>
            <a:r>
              <a:rPr sz="825" b="0" i="0" u="none">
                <a:solidFill>
                  <a:srgbClr val="93A3B8"/>
                </a:solidFill>
                <a:latin typeface="Arial"/>
              </a:rPr>
              <a:t>16 / 29</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Section label"/>
          <p:cNvSpPr txBox="1"/>
          <p:nvPr/>
        </p:nvSpPr>
        <p:spPr>
          <a:xfrm>
            <a:off x="685800" y="685800"/>
            <a:ext cx="5905500" cy="247649"/>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1" i="0" u="none">
                <a:solidFill>
                  <a:srgbClr val="93A3B8"/>
                </a:solidFill>
                <a:latin typeface="Arial"/>
              </a:rPr>
              <a:t>SECURE LOGIN &amp; MULTI-STEP REGISTRATION</a:t>
            </a:r>
          </a:p>
        </p:txBody>
      </p:sp>
      <p:sp>
        <p:nvSpPr>
          <p:cNvPr id="3" name="Title accent"/>
          <p:cNvSpPr/>
          <p:nvPr/>
        </p:nvSpPr>
        <p:spPr>
          <a:xfrm>
            <a:off x="685800" y="1009650"/>
            <a:ext cx="419100" cy="38100"/>
          </a:xfrm>
          <a:prstGeom prst="rect">
            <a:avLst/>
          </a:prstGeom>
          <a:solidFill>
            <a:srgbClr val="2DD4BF"/>
          </a:solidFill>
          <a:ln>
            <a:noFill/>
          </a:ln>
        </p:spPr>
        <p:txBody>
          <a:bodyPr rtlCol="0" anchor="ctr"/>
          <a:lstStyle/>
          <a:p>
            <a:pPr algn="ctr"/>
            <a:endParaRPr/>
          </a:p>
        </p:txBody>
      </p:sp>
      <p:sp>
        <p:nvSpPr>
          <p:cNvPr id="4" name="Slide title"/>
          <p:cNvSpPr txBox="1"/>
          <p:nvPr/>
        </p:nvSpPr>
        <p:spPr>
          <a:xfrm>
            <a:off x="685800" y="1181100"/>
            <a:ext cx="10820400" cy="876300"/>
          </a:xfrm>
          <a:prstGeom prst="rect">
            <a:avLst/>
          </a:prstGeom>
          <a:noFill/>
          <a:ln>
            <a:noFill/>
          </a:ln>
        </p:spPr>
        <p:txBody>
          <a:bodyPr wrap="square" lIns="0" tIns="0" rIns="0" bIns="0" anchor="t">
            <a:noAutofit/>
          </a:bodyPr>
          <a:lstStyle/>
          <a:p>
            <a:pPr algn="l">
              <a:lnSpc>
                <a:spcPts val="2964"/>
              </a:lnSpc>
              <a:spcBef>
                <a:spcPts val="0"/>
              </a:spcBef>
              <a:spcAft>
                <a:spcPts val="0"/>
              </a:spcAft>
            </a:pPr>
            <a:r>
              <a:rPr sz="2850" b="1" i="0" u="none">
                <a:solidFill>
                  <a:srgbClr val="F3F6FA"/>
                </a:solidFill>
                <a:latin typeface="Arial"/>
              </a:rPr>
              <a:t>UI Showcase — Authentication</a:t>
            </a:r>
          </a:p>
        </p:txBody>
      </p:sp>
      <p:sp>
        <p:nvSpPr>
          <p:cNvPr id="5" name="Media frame"/>
          <p:cNvSpPr/>
          <p:nvPr/>
        </p:nvSpPr>
        <p:spPr>
          <a:xfrm>
            <a:off x="685800" y="2247900"/>
            <a:ext cx="3479800" cy="3657600"/>
          </a:xfrm>
          <a:prstGeom prst="roundRect">
            <a:avLst>
              <a:gd name="adj" fmla="val 3284"/>
            </a:avLst>
          </a:prstGeom>
          <a:solidFill>
            <a:srgbClr val="141C2E"/>
          </a:solidFill>
          <a:ln w="9525">
            <a:solidFill>
              <a:srgbClr val="28334A"/>
            </a:solidFill>
          </a:ln>
        </p:spPr>
        <p:txBody>
          <a:bodyPr rtlCol="0" anchor="ctr"/>
          <a:lstStyle/>
          <a:p>
            <a:pPr algn="ctr"/>
            <a:endParaRPr/>
          </a:p>
        </p:txBody>
      </p:sp>
      <p:pic>
        <p:nvPicPr>
          <p:cNvPr id="6" name="Media image" descr="login.png"/>
          <p:cNvPicPr>
            <a:picLocks noChangeAspect="1"/>
          </p:cNvPicPr>
          <p:nvPr/>
        </p:nvPicPr>
        <p:blipFill>
          <a:blip r:embed="rId2"/>
          <a:stretch>
            <a:fillRect/>
          </a:stretch>
        </p:blipFill>
        <p:spPr>
          <a:xfrm>
            <a:off x="685800" y="3235520"/>
            <a:ext cx="3479800" cy="1682359"/>
          </a:xfrm>
          <a:prstGeom prst="roundRect">
            <a:avLst>
              <a:gd name="adj" fmla="val 6794"/>
            </a:avLst>
          </a:prstGeom>
        </p:spPr>
      </p:pic>
      <p:sp>
        <p:nvSpPr>
          <p:cNvPr id="7" name="TextBox 6"/>
          <p:cNvSpPr txBox="1"/>
          <p:nvPr/>
        </p:nvSpPr>
        <p:spPr>
          <a:xfrm>
            <a:off x="704850" y="5962650"/>
            <a:ext cx="3441700" cy="209550"/>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0" i="0" u="none">
                <a:solidFill>
                  <a:srgbClr val="93A3B8"/>
                </a:solidFill>
                <a:latin typeface="Arial"/>
              </a:rPr>
              <a:t>Login</a:t>
            </a:r>
          </a:p>
        </p:txBody>
      </p:sp>
      <p:sp>
        <p:nvSpPr>
          <p:cNvPr id="8" name="Media frame"/>
          <p:cNvSpPr/>
          <p:nvPr/>
        </p:nvSpPr>
        <p:spPr>
          <a:xfrm>
            <a:off x="4356100" y="2247900"/>
            <a:ext cx="3479800" cy="3657600"/>
          </a:xfrm>
          <a:prstGeom prst="roundRect">
            <a:avLst>
              <a:gd name="adj" fmla="val 3284"/>
            </a:avLst>
          </a:prstGeom>
          <a:solidFill>
            <a:srgbClr val="141C2E"/>
          </a:solidFill>
          <a:ln w="9525">
            <a:solidFill>
              <a:srgbClr val="28334A"/>
            </a:solidFill>
          </a:ln>
        </p:spPr>
        <p:txBody>
          <a:bodyPr rtlCol="0" anchor="ctr"/>
          <a:lstStyle/>
          <a:p>
            <a:pPr algn="ctr"/>
            <a:endParaRPr/>
          </a:p>
        </p:txBody>
      </p:sp>
      <p:pic>
        <p:nvPicPr>
          <p:cNvPr id="9" name="Media image" descr="signup_patient.png"/>
          <p:cNvPicPr>
            <a:picLocks noChangeAspect="1"/>
          </p:cNvPicPr>
          <p:nvPr/>
        </p:nvPicPr>
        <p:blipFill>
          <a:blip r:embed="rId3"/>
          <a:stretch>
            <a:fillRect/>
          </a:stretch>
        </p:blipFill>
        <p:spPr>
          <a:xfrm>
            <a:off x="4356100" y="3236842"/>
            <a:ext cx="3479800" cy="1679714"/>
          </a:xfrm>
          <a:prstGeom prst="roundRect">
            <a:avLst>
              <a:gd name="adj" fmla="val 6804"/>
            </a:avLst>
          </a:prstGeom>
        </p:spPr>
      </p:pic>
      <p:sp>
        <p:nvSpPr>
          <p:cNvPr id="10" name="TextBox 9"/>
          <p:cNvSpPr txBox="1"/>
          <p:nvPr/>
        </p:nvSpPr>
        <p:spPr>
          <a:xfrm>
            <a:off x="4375150" y="5962650"/>
            <a:ext cx="3441700" cy="209550"/>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0" i="0" u="none">
                <a:solidFill>
                  <a:srgbClr val="93A3B8"/>
                </a:solidFill>
                <a:latin typeface="Arial"/>
              </a:rPr>
              <a:t>Patient Sign Up</a:t>
            </a:r>
          </a:p>
        </p:txBody>
      </p:sp>
      <p:sp>
        <p:nvSpPr>
          <p:cNvPr id="11" name="Media frame"/>
          <p:cNvSpPr/>
          <p:nvPr/>
        </p:nvSpPr>
        <p:spPr>
          <a:xfrm>
            <a:off x="8026399" y="2247900"/>
            <a:ext cx="3479800" cy="3657600"/>
          </a:xfrm>
          <a:prstGeom prst="roundRect">
            <a:avLst>
              <a:gd name="adj" fmla="val 3284"/>
            </a:avLst>
          </a:prstGeom>
          <a:solidFill>
            <a:srgbClr val="141C2E"/>
          </a:solidFill>
          <a:ln w="9525">
            <a:solidFill>
              <a:srgbClr val="28334A"/>
            </a:solidFill>
          </a:ln>
        </p:spPr>
        <p:txBody>
          <a:bodyPr rtlCol="0" anchor="ctr"/>
          <a:lstStyle/>
          <a:p>
            <a:pPr algn="ctr"/>
            <a:endParaRPr/>
          </a:p>
        </p:txBody>
      </p:sp>
      <p:pic>
        <p:nvPicPr>
          <p:cNvPr id="12" name="Media image" descr="signup_doctor.png"/>
          <p:cNvPicPr>
            <a:picLocks noChangeAspect="1"/>
          </p:cNvPicPr>
          <p:nvPr/>
        </p:nvPicPr>
        <p:blipFill>
          <a:blip r:embed="rId4"/>
          <a:stretch>
            <a:fillRect/>
          </a:stretch>
        </p:blipFill>
        <p:spPr>
          <a:xfrm>
            <a:off x="8026399" y="3240964"/>
            <a:ext cx="3479800" cy="1671471"/>
          </a:xfrm>
          <a:prstGeom prst="roundRect">
            <a:avLst>
              <a:gd name="adj" fmla="val 6838"/>
            </a:avLst>
          </a:prstGeom>
        </p:spPr>
      </p:pic>
      <p:sp>
        <p:nvSpPr>
          <p:cNvPr id="13" name="TextBox 12"/>
          <p:cNvSpPr txBox="1"/>
          <p:nvPr/>
        </p:nvSpPr>
        <p:spPr>
          <a:xfrm>
            <a:off x="8045450" y="5962650"/>
            <a:ext cx="3441700" cy="209550"/>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0" i="0" u="none">
                <a:solidFill>
                  <a:srgbClr val="93A3B8"/>
                </a:solidFill>
                <a:latin typeface="Arial"/>
              </a:rPr>
              <a:t>Doctor Sign Up</a:t>
            </a:r>
          </a:p>
        </p:txBody>
      </p:sp>
      <p:sp>
        <p:nvSpPr>
          <p:cNvPr id="14" name="Page number"/>
          <p:cNvSpPr txBox="1"/>
          <p:nvPr/>
        </p:nvSpPr>
        <p:spPr>
          <a:xfrm>
            <a:off x="10934700" y="6477000"/>
            <a:ext cx="571500" cy="190500"/>
          </a:xfrm>
          <a:prstGeom prst="rect">
            <a:avLst/>
          </a:prstGeom>
          <a:noFill/>
          <a:ln>
            <a:noFill/>
          </a:ln>
        </p:spPr>
        <p:txBody>
          <a:bodyPr wrap="square" lIns="0" tIns="0" rIns="0" bIns="0" anchor="t">
            <a:noAutofit/>
          </a:bodyPr>
          <a:lstStyle/>
          <a:p>
            <a:pPr algn="r">
              <a:spcBef>
                <a:spcPts val="0"/>
              </a:spcBef>
              <a:spcAft>
                <a:spcPts val="0"/>
              </a:spcAft>
            </a:pPr>
            <a:r>
              <a:rPr sz="825" b="0" i="0" u="none">
                <a:solidFill>
                  <a:srgbClr val="93A3B8"/>
                </a:solidFill>
                <a:latin typeface="Arial"/>
              </a:rPr>
              <a:t>17 / 29</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Section label"/>
          <p:cNvSpPr txBox="1"/>
          <p:nvPr/>
        </p:nvSpPr>
        <p:spPr>
          <a:xfrm>
            <a:off x="685800" y="685800"/>
            <a:ext cx="5905500" cy="247649"/>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1" i="0" u="none">
                <a:solidFill>
                  <a:srgbClr val="93A3B8"/>
                </a:solidFill>
                <a:latin typeface="Arial"/>
              </a:rPr>
              <a:t>DASHBOARD, DISCOVERY, BOOKING &amp; PAYMENTS</a:t>
            </a:r>
          </a:p>
        </p:txBody>
      </p:sp>
      <p:sp>
        <p:nvSpPr>
          <p:cNvPr id="3" name="Title accent"/>
          <p:cNvSpPr/>
          <p:nvPr/>
        </p:nvSpPr>
        <p:spPr>
          <a:xfrm>
            <a:off x="685800" y="1009650"/>
            <a:ext cx="419100" cy="38100"/>
          </a:xfrm>
          <a:prstGeom prst="rect">
            <a:avLst/>
          </a:prstGeom>
          <a:solidFill>
            <a:srgbClr val="2DD4BF"/>
          </a:solidFill>
          <a:ln>
            <a:noFill/>
          </a:ln>
        </p:spPr>
        <p:txBody>
          <a:bodyPr rtlCol="0" anchor="ctr"/>
          <a:lstStyle/>
          <a:p>
            <a:pPr algn="ctr"/>
            <a:endParaRPr/>
          </a:p>
        </p:txBody>
      </p:sp>
      <p:sp>
        <p:nvSpPr>
          <p:cNvPr id="4" name="Slide title"/>
          <p:cNvSpPr txBox="1"/>
          <p:nvPr/>
        </p:nvSpPr>
        <p:spPr>
          <a:xfrm>
            <a:off x="685800" y="1181100"/>
            <a:ext cx="10820400" cy="876300"/>
          </a:xfrm>
          <a:prstGeom prst="rect">
            <a:avLst/>
          </a:prstGeom>
          <a:noFill/>
          <a:ln>
            <a:noFill/>
          </a:ln>
        </p:spPr>
        <p:txBody>
          <a:bodyPr wrap="square" lIns="0" tIns="0" rIns="0" bIns="0" anchor="t">
            <a:noAutofit/>
          </a:bodyPr>
          <a:lstStyle/>
          <a:p>
            <a:pPr algn="l">
              <a:lnSpc>
                <a:spcPts val="2964"/>
              </a:lnSpc>
              <a:spcBef>
                <a:spcPts val="0"/>
              </a:spcBef>
              <a:spcAft>
                <a:spcPts val="0"/>
              </a:spcAft>
            </a:pPr>
            <a:r>
              <a:rPr sz="2850" b="1" i="0" u="none">
                <a:solidFill>
                  <a:srgbClr val="F3F6FA"/>
                </a:solidFill>
                <a:latin typeface="Arial"/>
              </a:rPr>
              <a:t>UI Showcase — Patient Module</a:t>
            </a:r>
          </a:p>
        </p:txBody>
      </p:sp>
      <p:sp>
        <p:nvSpPr>
          <p:cNvPr id="5" name="Media frame"/>
          <p:cNvSpPr/>
          <p:nvPr/>
        </p:nvSpPr>
        <p:spPr>
          <a:xfrm>
            <a:off x="685800" y="2247900"/>
            <a:ext cx="3479800" cy="1590675"/>
          </a:xfrm>
          <a:prstGeom prst="roundRect">
            <a:avLst>
              <a:gd name="adj" fmla="val 7185"/>
            </a:avLst>
          </a:prstGeom>
          <a:solidFill>
            <a:srgbClr val="141C2E"/>
          </a:solidFill>
          <a:ln w="9525">
            <a:solidFill>
              <a:srgbClr val="28334A"/>
            </a:solidFill>
          </a:ln>
        </p:spPr>
        <p:txBody>
          <a:bodyPr rtlCol="0" anchor="ctr"/>
          <a:lstStyle/>
          <a:p>
            <a:pPr algn="ctr"/>
            <a:endParaRPr/>
          </a:p>
        </p:txBody>
      </p:sp>
      <p:pic>
        <p:nvPicPr>
          <p:cNvPr id="6" name="Media image" descr="patient_home.png"/>
          <p:cNvPicPr>
            <a:picLocks noChangeAspect="1"/>
          </p:cNvPicPr>
          <p:nvPr/>
        </p:nvPicPr>
        <p:blipFill>
          <a:blip r:embed="rId2"/>
          <a:stretch>
            <a:fillRect/>
          </a:stretch>
        </p:blipFill>
        <p:spPr>
          <a:xfrm>
            <a:off x="780083" y="2247900"/>
            <a:ext cx="3291232" cy="1590675"/>
          </a:xfrm>
          <a:prstGeom prst="roundRect">
            <a:avLst>
              <a:gd name="adj" fmla="val 7185"/>
            </a:avLst>
          </a:prstGeom>
        </p:spPr>
      </p:pic>
      <p:sp>
        <p:nvSpPr>
          <p:cNvPr id="7" name="TextBox 6"/>
          <p:cNvSpPr txBox="1"/>
          <p:nvPr/>
        </p:nvSpPr>
        <p:spPr>
          <a:xfrm>
            <a:off x="704850" y="3895725"/>
            <a:ext cx="3441700" cy="209550"/>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0" i="0" u="none">
                <a:solidFill>
                  <a:srgbClr val="93A3B8"/>
                </a:solidFill>
                <a:latin typeface="Arial"/>
              </a:rPr>
              <a:t>Patient Home</a:t>
            </a:r>
          </a:p>
        </p:txBody>
      </p:sp>
      <p:sp>
        <p:nvSpPr>
          <p:cNvPr id="8" name="Media frame"/>
          <p:cNvSpPr/>
          <p:nvPr/>
        </p:nvSpPr>
        <p:spPr>
          <a:xfrm>
            <a:off x="4356100" y="2247900"/>
            <a:ext cx="3479800" cy="1590675"/>
          </a:xfrm>
          <a:prstGeom prst="roundRect">
            <a:avLst>
              <a:gd name="adj" fmla="val 7185"/>
            </a:avLst>
          </a:prstGeom>
          <a:solidFill>
            <a:srgbClr val="141C2E"/>
          </a:solidFill>
          <a:ln w="9525">
            <a:solidFill>
              <a:srgbClr val="28334A"/>
            </a:solidFill>
          </a:ln>
        </p:spPr>
        <p:txBody>
          <a:bodyPr rtlCol="0" anchor="ctr"/>
          <a:lstStyle/>
          <a:p>
            <a:pPr algn="ctr"/>
            <a:endParaRPr/>
          </a:p>
        </p:txBody>
      </p:sp>
      <p:pic>
        <p:nvPicPr>
          <p:cNvPr id="9" name="Media image" descr="patient_profile.png"/>
          <p:cNvPicPr>
            <a:picLocks noChangeAspect="1"/>
          </p:cNvPicPr>
          <p:nvPr/>
        </p:nvPicPr>
        <p:blipFill>
          <a:blip r:embed="rId3"/>
          <a:stretch>
            <a:fillRect/>
          </a:stretch>
        </p:blipFill>
        <p:spPr>
          <a:xfrm>
            <a:off x="4441142" y="2247900"/>
            <a:ext cx="3309714" cy="1590675"/>
          </a:xfrm>
          <a:prstGeom prst="roundRect">
            <a:avLst>
              <a:gd name="adj" fmla="val 7185"/>
            </a:avLst>
          </a:prstGeom>
        </p:spPr>
      </p:pic>
      <p:sp>
        <p:nvSpPr>
          <p:cNvPr id="10" name="TextBox 9"/>
          <p:cNvSpPr txBox="1"/>
          <p:nvPr/>
        </p:nvSpPr>
        <p:spPr>
          <a:xfrm>
            <a:off x="4375150" y="3895725"/>
            <a:ext cx="3441700" cy="209550"/>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0" i="0" u="none">
                <a:solidFill>
                  <a:srgbClr val="93A3B8"/>
                </a:solidFill>
                <a:latin typeface="Arial"/>
              </a:rPr>
              <a:t>My Profile</a:t>
            </a:r>
          </a:p>
        </p:txBody>
      </p:sp>
      <p:sp>
        <p:nvSpPr>
          <p:cNvPr id="11" name="Media frame"/>
          <p:cNvSpPr/>
          <p:nvPr/>
        </p:nvSpPr>
        <p:spPr>
          <a:xfrm>
            <a:off x="8026399" y="2247900"/>
            <a:ext cx="3479800" cy="1590675"/>
          </a:xfrm>
          <a:prstGeom prst="roundRect">
            <a:avLst>
              <a:gd name="adj" fmla="val 7185"/>
            </a:avLst>
          </a:prstGeom>
          <a:solidFill>
            <a:srgbClr val="141C2E"/>
          </a:solidFill>
          <a:ln w="9525">
            <a:solidFill>
              <a:srgbClr val="28334A"/>
            </a:solidFill>
          </a:ln>
        </p:spPr>
        <p:txBody>
          <a:bodyPr rtlCol="0" anchor="ctr"/>
          <a:lstStyle/>
          <a:p>
            <a:pPr algn="ctr"/>
            <a:endParaRPr/>
          </a:p>
        </p:txBody>
      </p:sp>
      <p:pic>
        <p:nvPicPr>
          <p:cNvPr id="12" name="Media image" descr="patient_find_doctor.png"/>
          <p:cNvPicPr>
            <a:picLocks noChangeAspect="1"/>
          </p:cNvPicPr>
          <p:nvPr/>
        </p:nvPicPr>
        <p:blipFill>
          <a:blip r:embed="rId4"/>
          <a:stretch>
            <a:fillRect/>
          </a:stretch>
        </p:blipFill>
        <p:spPr>
          <a:xfrm>
            <a:off x="8129656" y="2247900"/>
            <a:ext cx="3273286" cy="1590675"/>
          </a:xfrm>
          <a:prstGeom prst="roundRect">
            <a:avLst>
              <a:gd name="adj" fmla="val 7185"/>
            </a:avLst>
          </a:prstGeom>
        </p:spPr>
      </p:pic>
      <p:sp>
        <p:nvSpPr>
          <p:cNvPr id="13" name="TextBox 12"/>
          <p:cNvSpPr txBox="1"/>
          <p:nvPr/>
        </p:nvSpPr>
        <p:spPr>
          <a:xfrm>
            <a:off x="8045450" y="3895725"/>
            <a:ext cx="3441700" cy="209550"/>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0" i="0" u="none">
                <a:solidFill>
                  <a:srgbClr val="93A3B8"/>
                </a:solidFill>
                <a:latin typeface="Arial"/>
              </a:rPr>
              <a:t>Find Doctors</a:t>
            </a:r>
          </a:p>
        </p:txBody>
      </p:sp>
      <p:sp>
        <p:nvSpPr>
          <p:cNvPr id="14" name="Media frame"/>
          <p:cNvSpPr/>
          <p:nvPr/>
        </p:nvSpPr>
        <p:spPr>
          <a:xfrm>
            <a:off x="685800" y="4314825"/>
            <a:ext cx="3479800" cy="1590675"/>
          </a:xfrm>
          <a:prstGeom prst="roundRect">
            <a:avLst>
              <a:gd name="adj" fmla="val 7185"/>
            </a:avLst>
          </a:prstGeom>
          <a:solidFill>
            <a:srgbClr val="141C2E"/>
          </a:solidFill>
          <a:ln w="9525">
            <a:solidFill>
              <a:srgbClr val="28334A"/>
            </a:solidFill>
          </a:ln>
        </p:spPr>
        <p:txBody>
          <a:bodyPr rtlCol="0" anchor="ctr"/>
          <a:lstStyle/>
          <a:p>
            <a:pPr algn="ctr"/>
            <a:endParaRPr/>
          </a:p>
        </p:txBody>
      </p:sp>
      <p:pic>
        <p:nvPicPr>
          <p:cNvPr id="15" name="Media image" descr="patient_book_appointment.png"/>
          <p:cNvPicPr>
            <a:picLocks noChangeAspect="1"/>
          </p:cNvPicPr>
          <p:nvPr/>
        </p:nvPicPr>
        <p:blipFill>
          <a:blip r:embed="rId5"/>
          <a:stretch>
            <a:fillRect/>
          </a:stretch>
        </p:blipFill>
        <p:spPr>
          <a:xfrm>
            <a:off x="1919392" y="4314825"/>
            <a:ext cx="1012615" cy="1590675"/>
          </a:xfrm>
          <a:prstGeom prst="roundRect">
            <a:avLst>
              <a:gd name="adj" fmla="val 11287"/>
            </a:avLst>
          </a:prstGeom>
        </p:spPr>
      </p:pic>
      <p:sp>
        <p:nvSpPr>
          <p:cNvPr id="16" name="TextBox 15"/>
          <p:cNvSpPr txBox="1"/>
          <p:nvPr/>
        </p:nvSpPr>
        <p:spPr>
          <a:xfrm>
            <a:off x="704850" y="5962650"/>
            <a:ext cx="3441700" cy="209550"/>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0" i="0" u="none">
                <a:solidFill>
                  <a:srgbClr val="93A3B8"/>
                </a:solidFill>
                <a:latin typeface="Arial"/>
              </a:rPr>
              <a:t>Book Appointment</a:t>
            </a:r>
          </a:p>
        </p:txBody>
      </p:sp>
      <p:sp>
        <p:nvSpPr>
          <p:cNvPr id="17" name="Media frame"/>
          <p:cNvSpPr/>
          <p:nvPr/>
        </p:nvSpPr>
        <p:spPr>
          <a:xfrm>
            <a:off x="4356100" y="4314825"/>
            <a:ext cx="3479800" cy="1590675"/>
          </a:xfrm>
          <a:prstGeom prst="roundRect">
            <a:avLst>
              <a:gd name="adj" fmla="val 7185"/>
            </a:avLst>
          </a:prstGeom>
          <a:solidFill>
            <a:srgbClr val="141C2E"/>
          </a:solidFill>
          <a:ln w="9525">
            <a:solidFill>
              <a:srgbClr val="28334A"/>
            </a:solidFill>
          </a:ln>
        </p:spPr>
        <p:txBody>
          <a:bodyPr rtlCol="0" anchor="ctr"/>
          <a:lstStyle/>
          <a:p>
            <a:pPr algn="ctr"/>
            <a:endParaRPr/>
          </a:p>
        </p:txBody>
      </p:sp>
      <p:pic>
        <p:nvPicPr>
          <p:cNvPr id="18" name="Media image" descr="patient_payment.png"/>
          <p:cNvPicPr>
            <a:picLocks noChangeAspect="1"/>
          </p:cNvPicPr>
          <p:nvPr/>
        </p:nvPicPr>
        <p:blipFill>
          <a:blip r:embed="rId6"/>
          <a:stretch>
            <a:fillRect/>
          </a:stretch>
        </p:blipFill>
        <p:spPr>
          <a:xfrm>
            <a:off x="4451726" y="4314825"/>
            <a:ext cx="3288547" cy="1590675"/>
          </a:xfrm>
          <a:prstGeom prst="roundRect">
            <a:avLst>
              <a:gd name="adj" fmla="val 7185"/>
            </a:avLst>
          </a:prstGeom>
        </p:spPr>
      </p:pic>
      <p:sp>
        <p:nvSpPr>
          <p:cNvPr id="19" name="TextBox 18"/>
          <p:cNvSpPr txBox="1"/>
          <p:nvPr/>
        </p:nvSpPr>
        <p:spPr>
          <a:xfrm>
            <a:off x="4375150" y="5962650"/>
            <a:ext cx="3441700" cy="209550"/>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0" i="0" u="none">
                <a:solidFill>
                  <a:srgbClr val="93A3B8"/>
                </a:solidFill>
                <a:latin typeface="Arial"/>
              </a:rPr>
              <a:t>My Payments</a:t>
            </a:r>
          </a:p>
        </p:txBody>
      </p:sp>
      <p:sp>
        <p:nvSpPr>
          <p:cNvPr id="20" name="Page number"/>
          <p:cNvSpPr txBox="1"/>
          <p:nvPr/>
        </p:nvSpPr>
        <p:spPr>
          <a:xfrm>
            <a:off x="10934700" y="6477000"/>
            <a:ext cx="571500" cy="190500"/>
          </a:xfrm>
          <a:prstGeom prst="rect">
            <a:avLst/>
          </a:prstGeom>
          <a:noFill/>
          <a:ln>
            <a:noFill/>
          </a:ln>
        </p:spPr>
        <p:txBody>
          <a:bodyPr wrap="square" lIns="0" tIns="0" rIns="0" bIns="0" anchor="t">
            <a:noAutofit/>
          </a:bodyPr>
          <a:lstStyle/>
          <a:p>
            <a:pPr algn="r">
              <a:spcBef>
                <a:spcPts val="0"/>
              </a:spcBef>
              <a:spcAft>
                <a:spcPts val="0"/>
              </a:spcAft>
            </a:pPr>
            <a:r>
              <a:rPr sz="825" b="0" i="0" u="none">
                <a:solidFill>
                  <a:srgbClr val="93A3B8"/>
                </a:solidFill>
                <a:latin typeface="Arial"/>
              </a:rPr>
              <a:t>18 / 29</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Section label"/>
          <p:cNvSpPr txBox="1"/>
          <p:nvPr/>
        </p:nvSpPr>
        <p:spPr>
          <a:xfrm>
            <a:off x="685800" y="685800"/>
            <a:ext cx="5905500" cy="247649"/>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1" i="0" u="none">
                <a:solidFill>
                  <a:srgbClr val="93A3B8"/>
                </a:solidFill>
                <a:latin typeface="Arial"/>
              </a:rPr>
              <a:t>DASHBOARD, PROFILE &amp; SCHEDULE MANAGEMENT</a:t>
            </a:r>
          </a:p>
        </p:txBody>
      </p:sp>
      <p:sp>
        <p:nvSpPr>
          <p:cNvPr id="3" name="Title accent"/>
          <p:cNvSpPr/>
          <p:nvPr/>
        </p:nvSpPr>
        <p:spPr>
          <a:xfrm>
            <a:off x="685800" y="1009650"/>
            <a:ext cx="419100" cy="38100"/>
          </a:xfrm>
          <a:prstGeom prst="rect">
            <a:avLst/>
          </a:prstGeom>
          <a:solidFill>
            <a:srgbClr val="2DD4BF"/>
          </a:solidFill>
          <a:ln>
            <a:noFill/>
          </a:ln>
        </p:spPr>
        <p:txBody>
          <a:bodyPr rtlCol="0" anchor="ctr"/>
          <a:lstStyle/>
          <a:p>
            <a:pPr algn="ctr"/>
            <a:endParaRPr/>
          </a:p>
        </p:txBody>
      </p:sp>
      <p:sp>
        <p:nvSpPr>
          <p:cNvPr id="4" name="Slide title"/>
          <p:cNvSpPr txBox="1"/>
          <p:nvPr/>
        </p:nvSpPr>
        <p:spPr>
          <a:xfrm>
            <a:off x="685800" y="1181100"/>
            <a:ext cx="10820400" cy="876300"/>
          </a:xfrm>
          <a:prstGeom prst="rect">
            <a:avLst/>
          </a:prstGeom>
          <a:noFill/>
          <a:ln>
            <a:noFill/>
          </a:ln>
        </p:spPr>
        <p:txBody>
          <a:bodyPr wrap="square" lIns="0" tIns="0" rIns="0" bIns="0" anchor="t">
            <a:noAutofit/>
          </a:bodyPr>
          <a:lstStyle/>
          <a:p>
            <a:pPr algn="l">
              <a:lnSpc>
                <a:spcPts val="2964"/>
              </a:lnSpc>
              <a:spcBef>
                <a:spcPts val="0"/>
              </a:spcBef>
              <a:spcAft>
                <a:spcPts val="0"/>
              </a:spcAft>
            </a:pPr>
            <a:r>
              <a:rPr sz="2850" b="1" i="0" u="none">
                <a:solidFill>
                  <a:srgbClr val="F3F6FA"/>
                </a:solidFill>
                <a:latin typeface="Arial"/>
              </a:rPr>
              <a:t>UI Showcase — Doctor Module</a:t>
            </a:r>
          </a:p>
        </p:txBody>
      </p:sp>
      <p:sp>
        <p:nvSpPr>
          <p:cNvPr id="5" name="Media frame"/>
          <p:cNvSpPr/>
          <p:nvPr/>
        </p:nvSpPr>
        <p:spPr>
          <a:xfrm>
            <a:off x="685800" y="2247900"/>
            <a:ext cx="5314950" cy="1590675"/>
          </a:xfrm>
          <a:prstGeom prst="roundRect">
            <a:avLst>
              <a:gd name="adj" fmla="val 7185"/>
            </a:avLst>
          </a:prstGeom>
          <a:solidFill>
            <a:srgbClr val="141C2E"/>
          </a:solidFill>
          <a:ln w="9525">
            <a:solidFill>
              <a:srgbClr val="28334A"/>
            </a:solidFill>
          </a:ln>
        </p:spPr>
        <p:txBody>
          <a:bodyPr rtlCol="0" anchor="ctr"/>
          <a:lstStyle/>
          <a:p>
            <a:pPr algn="ctr"/>
            <a:endParaRPr/>
          </a:p>
        </p:txBody>
      </p:sp>
      <p:pic>
        <p:nvPicPr>
          <p:cNvPr id="6" name="Media image" descr="doctor_dashboard_1.png"/>
          <p:cNvPicPr>
            <a:picLocks noChangeAspect="1"/>
          </p:cNvPicPr>
          <p:nvPr/>
        </p:nvPicPr>
        <p:blipFill>
          <a:blip r:embed="rId2"/>
          <a:stretch>
            <a:fillRect/>
          </a:stretch>
        </p:blipFill>
        <p:spPr>
          <a:xfrm>
            <a:off x="1699001" y="2247900"/>
            <a:ext cx="3288547" cy="1590675"/>
          </a:xfrm>
          <a:prstGeom prst="roundRect">
            <a:avLst>
              <a:gd name="adj" fmla="val 7185"/>
            </a:avLst>
          </a:prstGeom>
        </p:spPr>
      </p:pic>
      <p:sp>
        <p:nvSpPr>
          <p:cNvPr id="7" name="TextBox 6"/>
          <p:cNvSpPr txBox="1"/>
          <p:nvPr/>
        </p:nvSpPr>
        <p:spPr>
          <a:xfrm>
            <a:off x="704850" y="3895725"/>
            <a:ext cx="5276850" cy="209550"/>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0" i="0" u="none">
                <a:solidFill>
                  <a:srgbClr val="93A3B8"/>
                </a:solidFill>
                <a:latin typeface="Arial"/>
              </a:rPr>
              <a:t>Dashboard — Requests</a:t>
            </a:r>
          </a:p>
        </p:txBody>
      </p:sp>
      <p:sp>
        <p:nvSpPr>
          <p:cNvPr id="8" name="Media frame"/>
          <p:cNvSpPr/>
          <p:nvPr/>
        </p:nvSpPr>
        <p:spPr>
          <a:xfrm>
            <a:off x="6191250" y="2247900"/>
            <a:ext cx="5314950" cy="1590675"/>
          </a:xfrm>
          <a:prstGeom prst="roundRect">
            <a:avLst>
              <a:gd name="adj" fmla="val 7185"/>
            </a:avLst>
          </a:prstGeom>
          <a:solidFill>
            <a:srgbClr val="141C2E"/>
          </a:solidFill>
          <a:ln w="9525">
            <a:solidFill>
              <a:srgbClr val="28334A"/>
            </a:solidFill>
          </a:ln>
        </p:spPr>
        <p:txBody>
          <a:bodyPr rtlCol="0" anchor="ctr"/>
          <a:lstStyle/>
          <a:p>
            <a:pPr algn="ctr"/>
            <a:endParaRPr/>
          </a:p>
        </p:txBody>
      </p:sp>
      <p:pic>
        <p:nvPicPr>
          <p:cNvPr id="9" name="Media image" descr="doctor_dashboard_2.png"/>
          <p:cNvPicPr>
            <a:picLocks noChangeAspect="1"/>
          </p:cNvPicPr>
          <p:nvPr/>
        </p:nvPicPr>
        <p:blipFill>
          <a:blip r:embed="rId3"/>
          <a:stretch>
            <a:fillRect/>
          </a:stretch>
        </p:blipFill>
        <p:spPr>
          <a:xfrm>
            <a:off x="7032846" y="2247900"/>
            <a:ext cx="3631756" cy="1590675"/>
          </a:xfrm>
          <a:prstGeom prst="roundRect">
            <a:avLst>
              <a:gd name="adj" fmla="val 7185"/>
            </a:avLst>
          </a:prstGeom>
        </p:spPr>
      </p:pic>
      <p:sp>
        <p:nvSpPr>
          <p:cNvPr id="10" name="TextBox 9"/>
          <p:cNvSpPr txBox="1"/>
          <p:nvPr/>
        </p:nvSpPr>
        <p:spPr>
          <a:xfrm>
            <a:off x="6210300" y="3895725"/>
            <a:ext cx="5276850" cy="209550"/>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0" i="0" u="none">
                <a:solidFill>
                  <a:srgbClr val="93A3B8"/>
                </a:solidFill>
                <a:latin typeface="Arial"/>
              </a:rPr>
              <a:t>Schedule &amp; Reviews</a:t>
            </a:r>
          </a:p>
        </p:txBody>
      </p:sp>
      <p:sp>
        <p:nvSpPr>
          <p:cNvPr id="11" name="Media frame"/>
          <p:cNvSpPr/>
          <p:nvPr/>
        </p:nvSpPr>
        <p:spPr>
          <a:xfrm>
            <a:off x="685800" y="4314825"/>
            <a:ext cx="5314950" cy="1590675"/>
          </a:xfrm>
          <a:prstGeom prst="roundRect">
            <a:avLst>
              <a:gd name="adj" fmla="val 7185"/>
            </a:avLst>
          </a:prstGeom>
          <a:solidFill>
            <a:srgbClr val="141C2E"/>
          </a:solidFill>
          <a:ln w="9525">
            <a:solidFill>
              <a:srgbClr val="28334A"/>
            </a:solidFill>
          </a:ln>
        </p:spPr>
        <p:txBody>
          <a:bodyPr rtlCol="0" anchor="ctr"/>
          <a:lstStyle/>
          <a:p>
            <a:pPr algn="ctr"/>
            <a:endParaRPr/>
          </a:p>
        </p:txBody>
      </p:sp>
      <p:pic>
        <p:nvPicPr>
          <p:cNvPr id="12" name="Media image" descr="doctor_profile.png"/>
          <p:cNvPicPr>
            <a:picLocks noChangeAspect="1"/>
          </p:cNvPicPr>
          <p:nvPr/>
        </p:nvPicPr>
        <p:blipFill>
          <a:blip r:embed="rId4"/>
          <a:stretch>
            <a:fillRect/>
          </a:stretch>
        </p:blipFill>
        <p:spPr>
          <a:xfrm>
            <a:off x="1685815" y="4314825"/>
            <a:ext cx="3314918" cy="1590675"/>
          </a:xfrm>
          <a:prstGeom prst="roundRect">
            <a:avLst>
              <a:gd name="adj" fmla="val 7185"/>
            </a:avLst>
          </a:prstGeom>
        </p:spPr>
      </p:pic>
      <p:sp>
        <p:nvSpPr>
          <p:cNvPr id="13" name="TextBox 12"/>
          <p:cNvSpPr txBox="1"/>
          <p:nvPr/>
        </p:nvSpPr>
        <p:spPr>
          <a:xfrm>
            <a:off x="704850" y="5962650"/>
            <a:ext cx="5276850" cy="209550"/>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0" i="0" u="none">
                <a:solidFill>
                  <a:srgbClr val="93A3B8"/>
                </a:solidFill>
                <a:latin typeface="Arial"/>
              </a:rPr>
              <a:t>Professional Profile</a:t>
            </a:r>
          </a:p>
        </p:txBody>
      </p:sp>
      <p:sp>
        <p:nvSpPr>
          <p:cNvPr id="14" name="Media frame"/>
          <p:cNvSpPr/>
          <p:nvPr/>
        </p:nvSpPr>
        <p:spPr>
          <a:xfrm>
            <a:off x="6191250" y="4314825"/>
            <a:ext cx="5314950" cy="1590675"/>
          </a:xfrm>
          <a:prstGeom prst="roundRect">
            <a:avLst>
              <a:gd name="adj" fmla="val 7185"/>
            </a:avLst>
          </a:prstGeom>
          <a:solidFill>
            <a:srgbClr val="141C2E"/>
          </a:solidFill>
          <a:ln w="9525">
            <a:solidFill>
              <a:srgbClr val="28334A"/>
            </a:solidFill>
          </a:ln>
        </p:spPr>
        <p:txBody>
          <a:bodyPr rtlCol="0" anchor="ctr"/>
          <a:lstStyle/>
          <a:p>
            <a:pPr algn="ctr"/>
            <a:endParaRPr/>
          </a:p>
        </p:txBody>
      </p:sp>
      <p:pic>
        <p:nvPicPr>
          <p:cNvPr id="15" name="Media image" descr="doctor_schedule.png"/>
          <p:cNvPicPr>
            <a:picLocks noChangeAspect="1"/>
          </p:cNvPicPr>
          <p:nvPr/>
        </p:nvPicPr>
        <p:blipFill>
          <a:blip r:embed="rId5"/>
          <a:stretch>
            <a:fillRect/>
          </a:stretch>
        </p:blipFill>
        <p:spPr>
          <a:xfrm>
            <a:off x="7207155" y="4314825"/>
            <a:ext cx="3283139" cy="1590675"/>
          </a:xfrm>
          <a:prstGeom prst="roundRect">
            <a:avLst>
              <a:gd name="adj" fmla="val 7185"/>
            </a:avLst>
          </a:prstGeom>
        </p:spPr>
      </p:pic>
      <p:sp>
        <p:nvSpPr>
          <p:cNvPr id="16" name="TextBox 15"/>
          <p:cNvSpPr txBox="1"/>
          <p:nvPr/>
        </p:nvSpPr>
        <p:spPr>
          <a:xfrm>
            <a:off x="6210300" y="5962650"/>
            <a:ext cx="5276850" cy="209550"/>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0" i="0" u="none">
                <a:solidFill>
                  <a:srgbClr val="93A3B8"/>
                </a:solidFill>
                <a:latin typeface="Arial"/>
              </a:rPr>
              <a:t>Weekly Schedule Editor</a:t>
            </a:r>
          </a:p>
        </p:txBody>
      </p:sp>
      <p:sp>
        <p:nvSpPr>
          <p:cNvPr id="17" name="Page number"/>
          <p:cNvSpPr txBox="1"/>
          <p:nvPr/>
        </p:nvSpPr>
        <p:spPr>
          <a:xfrm>
            <a:off x="10934700" y="6477000"/>
            <a:ext cx="571500" cy="190500"/>
          </a:xfrm>
          <a:prstGeom prst="rect">
            <a:avLst/>
          </a:prstGeom>
          <a:noFill/>
          <a:ln>
            <a:noFill/>
          </a:ln>
        </p:spPr>
        <p:txBody>
          <a:bodyPr wrap="square" lIns="0" tIns="0" rIns="0" bIns="0" anchor="t">
            <a:noAutofit/>
          </a:bodyPr>
          <a:lstStyle/>
          <a:p>
            <a:pPr algn="r">
              <a:spcBef>
                <a:spcPts val="0"/>
              </a:spcBef>
              <a:spcAft>
                <a:spcPts val="0"/>
              </a:spcAft>
            </a:pPr>
            <a:r>
              <a:rPr sz="825" b="0" i="0" u="none">
                <a:solidFill>
                  <a:srgbClr val="93A3B8"/>
                </a:solidFill>
                <a:latin typeface="Arial"/>
              </a:rPr>
              <a:t>19 / 29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Section label"/>
          <p:cNvSpPr txBox="1"/>
          <p:nvPr/>
        </p:nvSpPr>
        <p:spPr>
          <a:xfrm>
            <a:off x="685800" y="685800"/>
            <a:ext cx="5905500" cy="247649"/>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1" i="0" u="none">
                <a:solidFill>
                  <a:srgbClr val="93A3B8"/>
                </a:solidFill>
                <a:latin typeface="Arial"/>
              </a:rPr>
              <a:t>COMPLETE PLATFORM OVERSIGHT &amp; REVENUE</a:t>
            </a:r>
          </a:p>
        </p:txBody>
      </p:sp>
      <p:sp>
        <p:nvSpPr>
          <p:cNvPr id="3" name="Title accent"/>
          <p:cNvSpPr/>
          <p:nvPr/>
        </p:nvSpPr>
        <p:spPr>
          <a:xfrm>
            <a:off x="685800" y="1009650"/>
            <a:ext cx="419100" cy="38100"/>
          </a:xfrm>
          <a:prstGeom prst="rect">
            <a:avLst/>
          </a:prstGeom>
          <a:solidFill>
            <a:srgbClr val="2DD4BF"/>
          </a:solidFill>
          <a:ln>
            <a:noFill/>
          </a:ln>
        </p:spPr>
        <p:txBody>
          <a:bodyPr rtlCol="0" anchor="ctr"/>
          <a:lstStyle/>
          <a:p>
            <a:pPr algn="ctr"/>
            <a:endParaRPr/>
          </a:p>
        </p:txBody>
      </p:sp>
      <p:sp>
        <p:nvSpPr>
          <p:cNvPr id="4" name="Slide title"/>
          <p:cNvSpPr txBox="1"/>
          <p:nvPr/>
        </p:nvSpPr>
        <p:spPr>
          <a:xfrm>
            <a:off x="685800" y="1181100"/>
            <a:ext cx="10820400" cy="876300"/>
          </a:xfrm>
          <a:prstGeom prst="rect">
            <a:avLst/>
          </a:prstGeom>
          <a:noFill/>
          <a:ln>
            <a:noFill/>
          </a:ln>
        </p:spPr>
        <p:txBody>
          <a:bodyPr wrap="square" lIns="0" tIns="0" rIns="0" bIns="0" anchor="t">
            <a:noAutofit/>
          </a:bodyPr>
          <a:lstStyle/>
          <a:p>
            <a:pPr algn="l">
              <a:lnSpc>
                <a:spcPts val="2964"/>
              </a:lnSpc>
              <a:spcBef>
                <a:spcPts val="0"/>
              </a:spcBef>
              <a:spcAft>
                <a:spcPts val="0"/>
              </a:spcAft>
            </a:pPr>
            <a:r>
              <a:rPr sz="2850" b="1" i="0" u="none">
                <a:solidFill>
                  <a:srgbClr val="F3F6FA"/>
                </a:solidFill>
                <a:latin typeface="Arial"/>
              </a:rPr>
              <a:t>UI Showcase — Admin Panel</a:t>
            </a:r>
          </a:p>
        </p:txBody>
      </p:sp>
      <p:sp>
        <p:nvSpPr>
          <p:cNvPr id="5" name="Media frame"/>
          <p:cNvSpPr/>
          <p:nvPr/>
        </p:nvSpPr>
        <p:spPr>
          <a:xfrm>
            <a:off x="685800" y="2247900"/>
            <a:ext cx="3479800" cy="1590675"/>
          </a:xfrm>
          <a:prstGeom prst="roundRect">
            <a:avLst>
              <a:gd name="adj" fmla="val 7185"/>
            </a:avLst>
          </a:prstGeom>
          <a:solidFill>
            <a:srgbClr val="141C2E"/>
          </a:solidFill>
          <a:ln w="9525">
            <a:solidFill>
              <a:srgbClr val="28334A"/>
            </a:solidFill>
          </a:ln>
        </p:spPr>
        <p:txBody>
          <a:bodyPr rtlCol="0" anchor="ctr"/>
          <a:lstStyle/>
          <a:p>
            <a:pPr algn="ctr"/>
            <a:endParaRPr/>
          </a:p>
        </p:txBody>
      </p:sp>
      <p:pic>
        <p:nvPicPr>
          <p:cNvPr id="6" name="Media image" descr="admin_dashboard_1.png"/>
          <p:cNvPicPr>
            <a:picLocks noChangeAspect="1"/>
          </p:cNvPicPr>
          <p:nvPr/>
        </p:nvPicPr>
        <p:blipFill>
          <a:blip r:embed="rId2"/>
          <a:stretch>
            <a:fillRect/>
          </a:stretch>
        </p:blipFill>
        <p:spPr>
          <a:xfrm>
            <a:off x="782347" y="2247900"/>
            <a:ext cx="3286704" cy="1590675"/>
          </a:xfrm>
          <a:prstGeom prst="roundRect">
            <a:avLst>
              <a:gd name="adj" fmla="val 7185"/>
            </a:avLst>
          </a:prstGeom>
        </p:spPr>
      </p:pic>
      <p:sp>
        <p:nvSpPr>
          <p:cNvPr id="7" name="TextBox 6"/>
          <p:cNvSpPr txBox="1"/>
          <p:nvPr/>
        </p:nvSpPr>
        <p:spPr>
          <a:xfrm>
            <a:off x="704850" y="3895725"/>
            <a:ext cx="3441700" cy="209550"/>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0" i="0" u="none">
                <a:solidFill>
                  <a:srgbClr val="93A3B8"/>
                </a:solidFill>
                <a:latin typeface="Arial"/>
              </a:rPr>
              <a:t>Admin Overview</a:t>
            </a:r>
          </a:p>
        </p:txBody>
      </p:sp>
      <p:sp>
        <p:nvSpPr>
          <p:cNvPr id="8" name="Media frame"/>
          <p:cNvSpPr/>
          <p:nvPr/>
        </p:nvSpPr>
        <p:spPr>
          <a:xfrm>
            <a:off x="4356100" y="2247900"/>
            <a:ext cx="3479800" cy="1590675"/>
          </a:xfrm>
          <a:prstGeom prst="roundRect">
            <a:avLst>
              <a:gd name="adj" fmla="val 7185"/>
            </a:avLst>
          </a:prstGeom>
          <a:solidFill>
            <a:srgbClr val="141C2E"/>
          </a:solidFill>
          <a:ln w="9525">
            <a:solidFill>
              <a:srgbClr val="28334A"/>
            </a:solidFill>
          </a:ln>
        </p:spPr>
        <p:txBody>
          <a:bodyPr rtlCol="0" anchor="ctr"/>
          <a:lstStyle/>
          <a:p>
            <a:pPr algn="ctr"/>
            <a:endParaRPr/>
          </a:p>
        </p:txBody>
      </p:sp>
      <p:pic>
        <p:nvPicPr>
          <p:cNvPr id="9" name="Media image" descr="admin_dashboard_2.png"/>
          <p:cNvPicPr>
            <a:picLocks noChangeAspect="1"/>
          </p:cNvPicPr>
          <p:nvPr/>
        </p:nvPicPr>
        <p:blipFill>
          <a:blip r:embed="rId3"/>
          <a:stretch>
            <a:fillRect/>
          </a:stretch>
        </p:blipFill>
        <p:spPr>
          <a:xfrm>
            <a:off x="4356100" y="2264164"/>
            <a:ext cx="3479800" cy="1558146"/>
          </a:xfrm>
          <a:prstGeom prst="roundRect">
            <a:avLst>
              <a:gd name="adj" fmla="val 7335"/>
            </a:avLst>
          </a:prstGeom>
        </p:spPr>
      </p:pic>
      <p:sp>
        <p:nvSpPr>
          <p:cNvPr id="10" name="TextBox 9"/>
          <p:cNvSpPr txBox="1"/>
          <p:nvPr/>
        </p:nvSpPr>
        <p:spPr>
          <a:xfrm>
            <a:off x="4375150" y="3895725"/>
            <a:ext cx="3441700" cy="209550"/>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0" i="0" u="none">
                <a:solidFill>
                  <a:srgbClr val="93A3B8"/>
                </a:solidFill>
                <a:latin typeface="Arial"/>
              </a:rPr>
              <a:t>Revenue Summary</a:t>
            </a:r>
          </a:p>
        </p:txBody>
      </p:sp>
      <p:sp>
        <p:nvSpPr>
          <p:cNvPr id="11" name="Media frame"/>
          <p:cNvSpPr/>
          <p:nvPr/>
        </p:nvSpPr>
        <p:spPr>
          <a:xfrm>
            <a:off x="8026399" y="2247900"/>
            <a:ext cx="3479800" cy="1590675"/>
          </a:xfrm>
          <a:prstGeom prst="roundRect">
            <a:avLst>
              <a:gd name="adj" fmla="val 7185"/>
            </a:avLst>
          </a:prstGeom>
          <a:solidFill>
            <a:srgbClr val="141C2E"/>
          </a:solidFill>
          <a:ln w="9525">
            <a:solidFill>
              <a:srgbClr val="28334A"/>
            </a:solidFill>
          </a:ln>
        </p:spPr>
        <p:txBody>
          <a:bodyPr rtlCol="0" anchor="ctr"/>
          <a:lstStyle/>
          <a:p>
            <a:pPr algn="ctr"/>
            <a:endParaRPr/>
          </a:p>
        </p:txBody>
      </p:sp>
      <p:pic>
        <p:nvPicPr>
          <p:cNvPr id="12" name="Media image" descr="admin_manage_doctors.png"/>
          <p:cNvPicPr>
            <a:picLocks noChangeAspect="1"/>
          </p:cNvPicPr>
          <p:nvPr/>
        </p:nvPicPr>
        <p:blipFill>
          <a:blip r:embed="rId4"/>
          <a:stretch>
            <a:fillRect/>
          </a:stretch>
        </p:blipFill>
        <p:spPr>
          <a:xfrm>
            <a:off x="8114978" y="2247900"/>
            <a:ext cx="3302643" cy="1590675"/>
          </a:xfrm>
          <a:prstGeom prst="roundRect">
            <a:avLst>
              <a:gd name="adj" fmla="val 7185"/>
            </a:avLst>
          </a:prstGeom>
        </p:spPr>
      </p:pic>
      <p:sp>
        <p:nvSpPr>
          <p:cNvPr id="13" name="TextBox 12"/>
          <p:cNvSpPr txBox="1"/>
          <p:nvPr/>
        </p:nvSpPr>
        <p:spPr>
          <a:xfrm>
            <a:off x="8045450" y="3895725"/>
            <a:ext cx="3441700" cy="209550"/>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0" i="0" u="none">
                <a:solidFill>
                  <a:srgbClr val="93A3B8"/>
                </a:solidFill>
                <a:latin typeface="Arial"/>
              </a:rPr>
              <a:t>Manage Doctors</a:t>
            </a:r>
          </a:p>
        </p:txBody>
      </p:sp>
      <p:sp>
        <p:nvSpPr>
          <p:cNvPr id="14" name="Media frame"/>
          <p:cNvSpPr/>
          <p:nvPr/>
        </p:nvSpPr>
        <p:spPr>
          <a:xfrm>
            <a:off x="685800" y="4314825"/>
            <a:ext cx="3479800" cy="1590675"/>
          </a:xfrm>
          <a:prstGeom prst="roundRect">
            <a:avLst>
              <a:gd name="adj" fmla="val 7185"/>
            </a:avLst>
          </a:prstGeom>
          <a:solidFill>
            <a:srgbClr val="141C2E"/>
          </a:solidFill>
          <a:ln w="9525">
            <a:solidFill>
              <a:srgbClr val="28334A"/>
            </a:solidFill>
          </a:ln>
        </p:spPr>
        <p:txBody>
          <a:bodyPr rtlCol="0" anchor="ctr"/>
          <a:lstStyle/>
          <a:p>
            <a:pPr algn="ctr"/>
            <a:endParaRPr/>
          </a:p>
        </p:txBody>
      </p:sp>
      <p:pic>
        <p:nvPicPr>
          <p:cNvPr id="15" name="Media image" descr="admin_manage_users.png"/>
          <p:cNvPicPr>
            <a:picLocks noChangeAspect="1"/>
          </p:cNvPicPr>
          <p:nvPr/>
        </p:nvPicPr>
        <p:blipFill>
          <a:blip r:embed="rId5"/>
          <a:stretch>
            <a:fillRect/>
          </a:stretch>
        </p:blipFill>
        <p:spPr>
          <a:xfrm>
            <a:off x="784992" y="4314825"/>
            <a:ext cx="3281414" cy="1590675"/>
          </a:xfrm>
          <a:prstGeom prst="roundRect">
            <a:avLst>
              <a:gd name="adj" fmla="val 7185"/>
            </a:avLst>
          </a:prstGeom>
        </p:spPr>
      </p:pic>
      <p:sp>
        <p:nvSpPr>
          <p:cNvPr id="16" name="TextBox 15"/>
          <p:cNvSpPr txBox="1"/>
          <p:nvPr/>
        </p:nvSpPr>
        <p:spPr>
          <a:xfrm>
            <a:off x="704850" y="5962650"/>
            <a:ext cx="3441700" cy="209550"/>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0" i="0" u="none">
                <a:solidFill>
                  <a:srgbClr val="93A3B8"/>
                </a:solidFill>
                <a:latin typeface="Arial"/>
              </a:rPr>
              <a:t>Manage Users</a:t>
            </a:r>
          </a:p>
        </p:txBody>
      </p:sp>
      <p:sp>
        <p:nvSpPr>
          <p:cNvPr id="17" name="Media frame"/>
          <p:cNvSpPr/>
          <p:nvPr/>
        </p:nvSpPr>
        <p:spPr>
          <a:xfrm>
            <a:off x="4356100" y="4314825"/>
            <a:ext cx="3479800" cy="1590675"/>
          </a:xfrm>
          <a:prstGeom prst="roundRect">
            <a:avLst>
              <a:gd name="adj" fmla="val 7185"/>
            </a:avLst>
          </a:prstGeom>
          <a:solidFill>
            <a:srgbClr val="141C2E"/>
          </a:solidFill>
          <a:ln w="9525">
            <a:solidFill>
              <a:srgbClr val="28334A"/>
            </a:solidFill>
          </a:ln>
        </p:spPr>
        <p:txBody>
          <a:bodyPr rtlCol="0" anchor="ctr"/>
          <a:lstStyle/>
          <a:p>
            <a:pPr algn="ctr"/>
            <a:endParaRPr/>
          </a:p>
        </p:txBody>
      </p:sp>
      <p:pic>
        <p:nvPicPr>
          <p:cNvPr id="18" name="Media image" descr="admin_manage_appointments.png"/>
          <p:cNvPicPr>
            <a:picLocks noChangeAspect="1"/>
          </p:cNvPicPr>
          <p:nvPr/>
        </p:nvPicPr>
        <p:blipFill>
          <a:blip r:embed="rId6"/>
          <a:stretch>
            <a:fillRect/>
          </a:stretch>
        </p:blipFill>
        <p:spPr>
          <a:xfrm>
            <a:off x="4447403" y="4314825"/>
            <a:ext cx="3297192" cy="1590675"/>
          </a:xfrm>
          <a:prstGeom prst="roundRect">
            <a:avLst>
              <a:gd name="adj" fmla="val 7185"/>
            </a:avLst>
          </a:prstGeom>
        </p:spPr>
      </p:pic>
      <p:sp>
        <p:nvSpPr>
          <p:cNvPr id="19" name="TextBox 18"/>
          <p:cNvSpPr txBox="1"/>
          <p:nvPr/>
        </p:nvSpPr>
        <p:spPr>
          <a:xfrm>
            <a:off x="4375150" y="5962650"/>
            <a:ext cx="3441700" cy="209550"/>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0" i="0" u="none">
                <a:solidFill>
                  <a:srgbClr val="93A3B8"/>
                </a:solidFill>
                <a:latin typeface="Arial"/>
              </a:rPr>
              <a:t>All Appointments</a:t>
            </a:r>
          </a:p>
        </p:txBody>
      </p:sp>
      <p:sp>
        <p:nvSpPr>
          <p:cNvPr id="20" name="Page number"/>
          <p:cNvSpPr txBox="1"/>
          <p:nvPr/>
        </p:nvSpPr>
        <p:spPr>
          <a:xfrm>
            <a:off x="10934700" y="6477000"/>
            <a:ext cx="571500" cy="190500"/>
          </a:xfrm>
          <a:prstGeom prst="rect">
            <a:avLst/>
          </a:prstGeom>
          <a:noFill/>
          <a:ln>
            <a:noFill/>
          </a:ln>
        </p:spPr>
        <p:txBody>
          <a:bodyPr wrap="square" lIns="0" tIns="0" rIns="0" bIns="0" anchor="t">
            <a:noAutofit/>
          </a:bodyPr>
          <a:lstStyle/>
          <a:p>
            <a:pPr algn="r">
              <a:spcBef>
                <a:spcPts val="0"/>
              </a:spcBef>
              <a:spcAft>
                <a:spcPts val="0"/>
              </a:spcAft>
            </a:pPr>
            <a:r>
              <a:rPr sz="825" b="0" i="0" u="none">
                <a:solidFill>
                  <a:srgbClr val="93A3B8"/>
                </a:solidFill>
                <a:latin typeface="Arial"/>
              </a:rPr>
              <a:t>20 / 29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Section label"/>
          <p:cNvSpPr txBox="1"/>
          <p:nvPr/>
        </p:nvSpPr>
        <p:spPr>
          <a:xfrm>
            <a:off x="685800" y="685800"/>
            <a:ext cx="9525000" cy="247649"/>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1" i="0" u="none">
                <a:solidFill>
                  <a:srgbClr val="93A3B8"/>
                </a:solidFill>
                <a:latin typeface="Arial"/>
              </a:rPr>
              <a:t>A COMPLETE USER JOURNEY — PART 1</a:t>
            </a:r>
          </a:p>
        </p:txBody>
      </p:sp>
      <p:sp>
        <p:nvSpPr>
          <p:cNvPr id="3" name="Title accent"/>
          <p:cNvSpPr/>
          <p:nvPr/>
        </p:nvSpPr>
        <p:spPr>
          <a:xfrm>
            <a:off x="685800" y="1009650"/>
            <a:ext cx="419100" cy="38100"/>
          </a:xfrm>
          <a:prstGeom prst="rect">
            <a:avLst/>
          </a:prstGeom>
          <a:solidFill>
            <a:srgbClr val="2DD4BF"/>
          </a:solidFill>
          <a:ln>
            <a:noFill/>
          </a:ln>
        </p:spPr>
        <p:txBody>
          <a:bodyPr rtlCol="0" anchor="ctr"/>
          <a:lstStyle/>
          <a:p>
            <a:pPr algn="ctr"/>
            <a:endParaRPr/>
          </a:p>
        </p:txBody>
      </p:sp>
      <p:sp>
        <p:nvSpPr>
          <p:cNvPr id="4" name="Slide title"/>
          <p:cNvSpPr txBox="1"/>
          <p:nvPr/>
        </p:nvSpPr>
        <p:spPr>
          <a:xfrm>
            <a:off x="685800" y="1181100"/>
            <a:ext cx="10820400" cy="876300"/>
          </a:xfrm>
          <a:prstGeom prst="rect">
            <a:avLst/>
          </a:prstGeom>
          <a:noFill/>
          <a:ln>
            <a:noFill/>
          </a:ln>
        </p:spPr>
        <p:txBody>
          <a:bodyPr wrap="square" lIns="0" tIns="0" rIns="0" bIns="0" anchor="t">
            <a:noAutofit/>
          </a:bodyPr>
          <a:lstStyle/>
          <a:p>
            <a:pPr algn="l">
              <a:lnSpc>
                <a:spcPts val="3120"/>
              </a:lnSpc>
              <a:spcBef>
                <a:spcPts val="0"/>
              </a:spcBef>
              <a:spcAft>
                <a:spcPts val="0"/>
              </a:spcAft>
            </a:pPr>
            <a:r>
              <a:rPr sz="3000" b="1" i="0" u="none">
                <a:solidFill>
                  <a:srgbClr val="F3F6FA"/>
                </a:solidFill>
                <a:latin typeface="Arial"/>
              </a:rPr>
              <a:t>Demo Flow — Getting Started</a:t>
            </a:r>
          </a:p>
        </p:txBody>
      </p:sp>
      <p:sp>
        <p:nvSpPr>
          <p:cNvPr id="5" name="Landing box"/>
          <p:cNvSpPr/>
          <p:nvPr/>
        </p:nvSpPr>
        <p:spPr>
          <a:xfrm>
            <a:off x="685800" y="3238500"/>
            <a:ext cx="1809750" cy="666750"/>
          </a:xfrm>
          <a:prstGeom prst="roundRect">
            <a:avLst>
              <a:gd name="adj" fmla="val 17142"/>
            </a:avLst>
          </a:prstGeom>
          <a:solidFill>
            <a:srgbClr val="141C2E"/>
          </a:solidFill>
          <a:ln w="14287">
            <a:solidFill>
              <a:srgbClr val="28334A"/>
            </a:solidFill>
          </a:ln>
        </p:spPr>
        <p:txBody>
          <a:bodyPr rtlCol="0" anchor="ctr"/>
          <a:lstStyle/>
          <a:p>
            <a:pPr algn="ctr"/>
            <a:endParaRPr/>
          </a:p>
        </p:txBody>
      </p:sp>
      <p:sp>
        <p:nvSpPr>
          <p:cNvPr id="6" name="Landing label"/>
          <p:cNvSpPr txBox="1"/>
          <p:nvPr/>
        </p:nvSpPr>
        <p:spPr>
          <a:xfrm>
            <a:off x="762000" y="3333750"/>
            <a:ext cx="1657350" cy="209550"/>
          </a:xfrm>
          <a:prstGeom prst="rect">
            <a:avLst/>
          </a:prstGeom>
          <a:noFill/>
          <a:ln>
            <a:noFill/>
          </a:ln>
        </p:spPr>
        <p:txBody>
          <a:bodyPr wrap="square" lIns="0" tIns="0" rIns="0" bIns="0" anchor="t">
            <a:noAutofit/>
          </a:bodyPr>
          <a:lstStyle/>
          <a:p>
            <a:pPr algn="ctr">
              <a:lnSpc>
                <a:spcPts val="1155"/>
              </a:lnSpc>
              <a:spcBef>
                <a:spcPts val="0"/>
              </a:spcBef>
              <a:spcAft>
                <a:spcPts val="0"/>
              </a:spcAft>
            </a:pPr>
            <a:r>
              <a:rPr sz="1050" b="1" i="0" u="none">
                <a:solidFill>
                  <a:srgbClr val="F3F6FA"/>
                </a:solidFill>
                <a:latin typeface="Arial"/>
              </a:rPr>
              <a:t>Landing</a:t>
            </a:r>
          </a:p>
        </p:txBody>
      </p:sp>
      <p:sp>
        <p:nvSpPr>
          <p:cNvPr id="7" name="Landing sublabel"/>
          <p:cNvSpPr txBox="1"/>
          <p:nvPr/>
        </p:nvSpPr>
        <p:spPr>
          <a:xfrm>
            <a:off x="762000" y="3695700"/>
            <a:ext cx="1657350" cy="171450"/>
          </a:xfrm>
          <a:prstGeom prst="rect">
            <a:avLst/>
          </a:prstGeom>
          <a:noFill/>
          <a:ln>
            <a:noFill/>
          </a:ln>
        </p:spPr>
        <p:txBody>
          <a:bodyPr wrap="square" lIns="0" tIns="0" rIns="0" bIns="0" anchor="t">
            <a:noAutofit/>
          </a:bodyPr>
          <a:lstStyle/>
          <a:p>
            <a:pPr algn="ctr">
              <a:lnSpc>
                <a:spcPts val="956"/>
              </a:lnSpc>
              <a:spcBef>
                <a:spcPts val="0"/>
              </a:spcBef>
              <a:spcAft>
                <a:spcPts val="0"/>
              </a:spcAft>
            </a:pPr>
            <a:r>
              <a:rPr sz="825" b="0" i="0" u="none">
                <a:solidFill>
                  <a:srgbClr val="93A3B8"/>
                </a:solidFill>
                <a:latin typeface="Arial"/>
              </a:rPr>
              <a:t>Discover MediCare Pro</a:t>
            </a:r>
          </a:p>
        </p:txBody>
      </p:sp>
      <p:cxnSp>
        <p:nvCxnSpPr>
          <p:cNvPr id="8" name="Connector"/>
          <p:cNvCxnSpPr/>
          <p:nvPr/>
        </p:nvCxnSpPr>
        <p:spPr>
          <a:xfrm>
            <a:off x="2495550" y="3571875"/>
            <a:ext cx="442912" cy="0"/>
          </a:xfrm>
          <a:prstGeom prst="line">
            <a:avLst/>
          </a:prstGeom>
          <a:ln w="19050">
            <a:solidFill>
              <a:srgbClr val="2DD4BF"/>
            </a:solidFill>
            <a:tailEnd type="triangle"/>
          </a:ln>
        </p:spPr>
      </p:cxnSp>
      <p:sp>
        <p:nvSpPr>
          <p:cNvPr id="9" name="Sign Up box"/>
          <p:cNvSpPr/>
          <p:nvPr/>
        </p:nvSpPr>
        <p:spPr>
          <a:xfrm>
            <a:off x="2938462" y="3238500"/>
            <a:ext cx="1809750" cy="666750"/>
          </a:xfrm>
          <a:prstGeom prst="roundRect">
            <a:avLst>
              <a:gd name="adj" fmla="val 17142"/>
            </a:avLst>
          </a:prstGeom>
          <a:solidFill>
            <a:srgbClr val="141C2E"/>
          </a:solidFill>
          <a:ln w="14287">
            <a:solidFill>
              <a:srgbClr val="28334A"/>
            </a:solidFill>
          </a:ln>
        </p:spPr>
        <p:txBody>
          <a:bodyPr rtlCol="0" anchor="ctr"/>
          <a:lstStyle/>
          <a:p>
            <a:pPr algn="ctr"/>
            <a:endParaRPr/>
          </a:p>
        </p:txBody>
      </p:sp>
      <p:sp>
        <p:nvSpPr>
          <p:cNvPr id="10" name="Sign Up label"/>
          <p:cNvSpPr txBox="1"/>
          <p:nvPr/>
        </p:nvSpPr>
        <p:spPr>
          <a:xfrm>
            <a:off x="3014662" y="3333750"/>
            <a:ext cx="1657350" cy="209550"/>
          </a:xfrm>
          <a:prstGeom prst="rect">
            <a:avLst/>
          </a:prstGeom>
          <a:noFill/>
          <a:ln>
            <a:noFill/>
          </a:ln>
        </p:spPr>
        <p:txBody>
          <a:bodyPr wrap="square" lIns="0" tIns="0" rIns="0" bIns="0" anchor="t">
            <a:noAutofit/>
          </a:bodyPr>
          <a:lstStyle/>
          <a:p>
            <a:pPr algn="ctr">
              <a:lnSpc>
                <a:spcPts val="1155"/>
              </a:lnSpc>
              <a:spcBef>
                <a:spcPts val="0"/>
              </a:spcBef>
              <a:spcAft>
                <a:spcPts val="0"/>
              </a:spcAft>
            </a:pPr>
            <a:r>
              <a:rPr sz="1050" b="1" i="0" u="none">
                <a:solidFill>
                  <a:srgbClr val="F3F6FA"/>
                </a:solidFill>
                <a:latin typeface="Arial"/>
              </a:rPr>
              <a:t>Sign Up</a:t>
            </a:r>
          </a:p>
        </p:txBody>
      </p:sp>
      <p:sp>
        <p:nvSpPr>
          <p:cNvPr id="11" name="Sign Up sublabel"/>
          <p:cNvSpPr txBox="1"/>
          <p:nvPr/>
        </p:nvSpPr>
        <p:spPr>
          <a:xfrm>
            <a:off x="3014662" y="3695700"/>
            <a:ext cx="1657350" cy="171450"/>
          </a:xfrm>
          <a:prstGeom prst="rect">
            <a:avLst/>
          </a:prstGeom>
          <a:noFill/>
          <a:ln>
            <a:noFill/>
          </a:ln>
        </p:spPr>
        <p:txBody>
          <a:bodyPr wrap="square" lIns="0" tIns="0" rIns="0" bIns="0" anchor="t">
            <a:noAutofit/>
          </a:bodyPr>
          <a:lstStyle/>
          <a:p>
            <a:pPr algn="ctr">
              <a:lnSpc>
                <a:spcPts val="956"/>
              </a:lnSpc>
              <a:spcBef>
                <a:spcPts val="0"/>
              </a:spcBef>
              <a:spcAft>
                <a:spcPts val="0"/>
              </a:spcAft>
            </a:pPr>
            <a:r>
              <a:rPr sz="825" b="0" i="0" u="none">
                <a:solidFill>
                  <a:srgbClr val="93A3B8"/>
                </a:solidFill>
                <a:latin typeface="Arial"/>
              </a:rPr>
              <a:t>Patient or Doctor</a:t>
            </a:r>
          </a:p>
        </p:txBody>
      </p:sp>
      <p:cxnSp>
        <p:nvCxnSpPr>
          <p:cNvPr id="12" name="Connector"/>
          <p:cNvCxnSpPr/>
          <p:nvPr/>
        </p:nvCxnSpPr>
        <p:spPr>
          <a:xfrm>
            <a:off x="4748212" y="3571875"/>
            <a:ext cx="442913" cy="0"/>
          </a:xfrm>
          <a:prstGeom prst="line">
            <a:avLst/>
          </a:prstGeom>
          <a:ln w="19050">
            <a:solidFill>
              <a:srgbClr val="2DD4BF"/>
            </a:solidFill>
            <a:tailEnd type="triangle"/>
          </a:ln>
        </p:spPr>
      </p:cxnSp>
      <p:sp>
        <p:nvSpPr>
          <p:cNvPr id="13" name="Login box"/>
          <p:cNvSpPr/>
          <p:nvPr/>
        </p:nvSpPr>
        <p:spPr>
          <a:xfrm>
            <a:off x="5191125" y="3238500"/>
            <a:ext cx="1809750" cy="666750"/>
          </a:xfrm>
          <a:prstGeom prst="roundRect">
            <a:avLst>
              <a:gd name="adj" fmla="val 17142"/>
            </a:avLst>
          </a:prstGeom>
          <a:solidFill>
            <a:srgbClr val="141C2E"/>
          </a:solidFill>
          <a:ln w="14287">
            <a:solidFill>
              <a:srgbClr val="28334A"/>
            </a:solidFill>
          </a:ln>
        </p:spPr>
        <p:txBody>
          <a:bodyPr rtlCol="0" anchor="ctr"/>
          <a:lstStyle/>
          <a:p>
            <a:pPr algn="ctr"/>
            <a:endParaRPr/>
          </a:p>
        </p:txBody>
      </p:sp>
      <p:sp>
        <p:nvSpPr>
          <p:cNvPr id="14" name="Login label"/>
          <p:cNvSpPr txBox="1"/>
          <p:nvPr/>
        </p:nvSpPr>
        <p:spPr>
          <a:xfrm>
            <a:off x="5267325" y="3333750"/>
            <a:ext cx="1657350" cy="209550"/>
          </a:xfrm>
          <a:prstGeom prst="rect">
            <a:avLst/>
          </a:prstGeom>
          <a:noFill/>
          <a:ln>
            <a:noFill/>
          </a:ln>
        </p:spPr>
        <p:txBody>
          <a:bodyPr wrap="square" lIns="0" tIns="0" rIns="0" bIns="0" anchor="t">
            <a:noAutofit/>
          </a:bodyPr>
          <a:lstStyle/>
          <a:p>
            <a:pPr algn="ctr">
              <a:lnSpc>
                <a:spcPts val="1155"/>
              </a:lnSpc>
              <a:spcBef>
                <a:spcPts val="0"/>
              </a:spcBef>
              <a:spcAft>
                <a:spcPts val="0"/>
              </a:spcAft>
            </a:pPr>
            <a:r>
              <a:rPr sz="1050" b="1" i="0" u="none">
                <a:solidFill>
                  <a:srgbClr val="F3F6FA"/>
                </a:solidFill>
                <a:latin typeface="Arial"/>
              </a:rPr>
              <a:t>Login</a:t>
            </a:r>
          </a:p>
        </p:txBody>
      </p:sp>
      <p:sp>
        <p:nvSpPr>
          <p:cNvPr id="15" name="Login sublabel"/>
          <p:cNvSpPr txBox="1"/>
          <p:nvPr/>
        </p:nvSpPr>
        <p:spPr>
          <a:xfrm>
            <a:off x="5267325" y="3695700"/>
            <a:ext cx="1657350" cy="171450"/>
          </a:xfrm>
          <a:prstGeom prst="rect">
            <a:avLst/>
          </a:prstGeom>
          <a:noFill/>
          <a:ln>
            <a:noFill/>
          </a:ln>
        </p:spPr>
        <p:txBody>
          <a:bodyPr wrap="square" lIns="0" tIns="0" rIns="0" bIns="0" anchor="t">
            <a:noAutofit/>
          </a:bodyPr>
          <a:lstStyle/>
          <a:p>
            <a:pPr algn="ctr">
              <a:lnSpc>
                <a:spcPts val="956"/>
              </a:lnSpc>
              <a:spcBef>
                <a:spcPts val="0"/>
              </a:spcBef>
              <a:spcAft>
                <a:spcPts val="0"/>
              </a:spcAft>
            </a:pPr>
            <a:r>
              <a:rPr sz="825" b="0" i="0" u="none">
                <a:solidFill>
                  <a:srgbClr val="93A3B8"/>
                </a:solidFill>
                <a:latin typeface="Arial"/>
              </a:rPr>
              <a:t>Secure JWT session</a:t>
            </a:r>
          </a:p>
        </p:txBody>
      </p:sp>
      <p:cxnSp>
        <p:nvCxnSpPr>
          <p:cNvPr id="16" name="Connector"/>
          <p:cNvCxnSpPr/>
          <p:nvPr/>
        </p:nvCxnSpPr>
        <p:spPr>
          <a:xfrm>
            <a:off x="7000875" y="3571875"/>
            <a:ext cx="442912" cy="0"/>
          </a:xfrm>
          <a:prstGeom prst="line">
            <a:avLst/>
          </a:prstGeom>
          <a:ln w="19050">
            <a:solidFill>
              <a:srgbClr val="2DD4BF"/>
            </a:solidFill>
            <a:tailEnd type="triangle"/>
          </a:ln>
        </p:spPr>
      </p:cxnSp>
      <p:sp>
        <p:nvSpPr>
          <p:cNvPr id="17" name="Find Doctor box"/>
          <p:cNvSpPr/>
          <p:nvPr/>
        </p:nvSpPr>
        <p:spPr>
          <a:xfrm>
            <a:off x="7443787" y="3238500"/>
            <a:ext cx="1809750" cy="666750"/>
          </a:xfrm>
          <a:prstGeom prst="roundRect">
            <a:avLst>
              <a:gd name="adj" fmla="val 17142"/>
            </a:avLst>
          </a:prstGeom>
          <a:solidFill>
            <a:srgbClr val="141C2E"/>
          </a:solidFill>
          <a:ln w="14287">
            <a:solidFill>
              <a:srgbClr val="28334A"/>
            </a:solidFill>
          </a:ln>
        </p:spPr>
        <p:txBody>
          <a:bodyPr rtlCol="0" anchor="ctr"/>
          <a:lstStyle/>
          <a:p>
            <a:pPr algn="ctr"/>
            <a:endParaRPr/>
          </a:p>
        </p:txBody>
      </p:sp>
      <p:sp>
        <p:nvSpPr>
          <p:cNvPr id="18" name="Find Doctor label"/>
          <p:cNvSpPr txBox="1"/>
          <p:nvPr/>
        </p:nvSpPr>
        <p:spPr>
          <a:xfrm>
            <a:off x="7519987" y="3333750"/>
            <a:ext cx="1657350" cy="209550"/>
          </a:xfrm>
          <a:prstGeom prst="rect">
            <a:avLst/>
          </a:prstGeom>
          <a:noFill/>
          <a:ln>
            <a:noFill/>
          </a:ln>
        </p:spPr>
        <p:txBody>
          <a:bodyPr wrap="square" lIns="0" tIns="0" rIns="0" bIns="0" anchor="t">
            <a:noAutofit/>
          </a:bodyPr>
          <a:lstStyle/>
          <a:p>
            <a:pPr algn="ctr">
              <a:lnSpc>
                <a:spcPts val="1155"/>
              </a:lnSpc>
              <a:spcBef>
                <a:spcPts val="0"/>
              </a:spcBef>
              <a:spcAft>
                <a:spcPts val="0"/>
              </a:spcAft>
            </a:pPr>
            <a:r>
              <a:rPr sz="1050" b="1" i="0" u="none">
                <a:solidFill>
                  <a:srgbClr val="F3F6FA"/>
                </a:solidFill>
                <a:latin typeface="Arial"/>
              </a:rPr>
              <a:t>Find Doctor</a:t>
            </a:r>
          </a:p>
        </p:txBody>
      </p:sp>
      <p:sp>
        <p:nvSpPr>
          <p:cNvPr id="19" name="Find Doctor sublabel"/>
          <p:cNvSpPr txBox="1"/>
          <p:nvPr/>
        </p:nvSpPr>
        <p:spPr>
          <a:xfrm>
            <a:off x="7519987" y="3695700"/>
            <a:ext cx="1657350" cy="171450"/>
          </a:xfrm>
          <a:prstGeom prst="rect">
            <a:avLst/>
          </a:prstGeom>
          <a:noFill/>
          <a:ln>
            <a:noFill/>
          </a:ln>
        </p:spPr>
        <p:txBody>
          <a:bodyPr wrap="square" lIns="0" tIns="0" rIns="0" bIns="0" anchor="t">
            <a:noAutofit/>
          </a:bodyPr>
          <a:lstStyle/>
          <a:p>
            <a:pPr algn="ctr">
              <a:lnSpc>
                <a:spcPts val="956"/>
              </a:lnSpc>
              <a:spcBef>
                <a:spcPts val="0"/>
              </a:spcBef>
              <a:spcAft>
                <a:spcPts val="0"/>
              </a:spcAft>
            </a:pPr>
            <a:r>
              <a:rPr sz="825" b="0" i="0" u="none">
                <a:solidFill>
                  <a:srgbClr val="93A3B8"/>
                </a:solidFill>
                <a:latin typeface="Arial"/>
              </a:rPr>
              <a:t>Search specialists</a:t>
            </a:r>
          </a:p>
        </p:txBody>
      </p:sp>
      <p:cxnSp>
        <p:nvCxnSpPr>
          <p:cNvPr id="20" name="Connector"/>
          <p:cNvCxnSpPr/>
          <p:nvPr/>
        </p:nvCxnSpPr>
        <p:spPr>
          <a:xfrm>
            <a:off x="9253537" y="3571875"/>
            <a:ext cx="442913" cy="0"/>
          </a:xfrm>
          <a:prstGeom prst="line">
            <a:avLst/>
          </a:prstGeom>
          <a:ln w="19050">
            <a:solidFill>
              <a:srgbClr val="2DD4BF"/>
            </a:solidFill>
            <a:tailEnd type="triangle"/>
          </a:ln>
        </p:spPr>
      </p:cxnSp>
      <p:sp>
        <p:nvSpPr>
          <p:cNvPr id="21" name="Book Visit box"/>
          <p:cNvSpPr/>
          <p:nvPr/>
        </p:nvSpPr>
        <p:spPr>
          <a:xfrm>
            <a:off x="9696450" y="3238500"/>
            <a:ext cx="1809750" cy="666750"/>
          </a:xfrm>
          <a:prstGeom prst="roundRect">
            <a:avLst>
              <a:gd name="adj" fmla="val 17142"/>
            </a:avLst>
          </a:prstGeom>
          <a:solidFill>
            <a:srgbClr val="141C2E"/>
          </a:solidFill>
          <a:ln w="14287">
            <a:solidFill>
              <a:srgbClr val="28334A"/>
            </a:solidFill>
          </a:ln>
        </p:spPr>
        <p:txBody>
          <a:bodyPr rtlCol="0" anchor="ctr"/>
          <a:lstStyle/>
          <a:p>
            <a:pPr algn="ctr"/>
            <a:endParaRPr/>
          </a:p>
        </p:txBody>
      </p:sp>
      <p:sp>
        <p:nvSpPr>
          <p:cNvPr id="22" name="Book Visit label"/>
          <p:cNvSpPr txBox="1"/>
          <p:nvPr/>
        </p:nvSpPr>
        <p:spPr>
          <a:xfrm>
            <a:off x="9772650" y="3333750"/>
            <a:ext cx="1657350" cy="209550"/>
          </a:xfrm>
          <a:prstGeom prst="rect">
            <a:avLst/>
          </a:prstGeom>
          <a:noFill/>
          <a:ln>
            <a:noFill/>
          </a:ln>
        </p:spPr>
        <p:txBody>
          <a:bodyPr wrap="square" lIns="0" tIns="0" rIns="0" bIns="0" anchor="t">
            <a:noAutofit/>
          </a:bodyPr>
          <a:lstStyle/>
          <a:p>
            <a:pPr algn="ctr">
              <a:lnSpc>
                <a:spcPts val="1155"/>
              </a:lnSpc>
              <a:spcBef>
                <a:spcPts val="0"/>
              </a:spcBef>
              <a:spcAft>
                <a:spcPts val="0"/>
              </a:spcAft>
            </a:pPr>
            <a:r>
              <a:rPr sz="1050" b="1" i="0" u="none">
                <a:solidFill>
                  <a:srgbClr val="F3F6FA"/>
                </a:solidFill>
                <a:latin typeface="Arial"/>
              </a:rPr>
              <a:t>Book Visit</a:t>
            </a:r>
          </a:p>
        </p:txBody>
      </p:sp>
      <p:sp>
        <p:nvSpPr>
          <p:cNvPr id="23" name="Book Visit sublabel"/>
          <p:cNvSpPr txBox="1"/>
          <p:nvPr/>
        </p:nvSpPr>
        <p:spPr>
          <a:xfrm>
            <a:off x="9772650" y="3695700"/>
            <a:ext cx="1657350" cy="171450"/>
          </a:xfrm>
          <a:prstGeom prst="rect">
            <a:avLst/>
          </a:prstGeom>
          <a:noFill/>
          <a:ln>
            <a:noFill/>
          </a:ln>
        </p:spPr>
        <p:txBody>
          <a:bodyPr wrap="square" lIns="0" tIns="0" rIns="0" bIns="0" anchor="t">
            <a:noAutofit/>
          </a:bodyPr>
          <a:lstStyle/>
          <a:p>
            <a:pPr algn="ctr">
              <a:lnSpc>
                <a:spcPts val="956"/>
              </a:lnSpc>
              <a:spcBef>
                <a:spcPts val="0"/>
              </a:spcBef>
              <a:spcAft>
                <a:spcPts val="0"/>
              </a:spcAft>
            </a:pPr>
            <a:r>
              <a:rPr sz="825" b="0" i="0" u="none">
                <a:solidFill>
                  <a:srgbClr val="93A3B8"/>
                </a:solidFill>
                <a:latin typeface="Arial"/>
              </a:rPr>
              <a:t>Pick date &amp; slot</a:t>
            </a:r>
          </a:p>
        </p:txBody>
      </p:sp>
      <p:sp>
        <p:nvSpPr>
          <p:cNvPr id="24" name="Page number"/>
          <p:cNvSpPr txBox="1"/>
          <p:nvPr/>
        </p:nvSpPr>
        <p:spPr>
          <a:xfrm>
            <a:off x="10934700" y="6477000"/>
            <a:ext cx="571500" cy="190500"/>
          </a:xfrm>
          <a:prstGeom prst="rect">
            <a:avLst/>
          </a:prstGeom>
          <a:noFill/>
          <a:ln>
            <a:noFill/>
          </a:ln>
        </p:spPr>
        <p:txBody>
          <a:bodyPr wrap="square" lIns="0" tIns="0" rIns="0" bIns="0" anchor="t">
            <a:noAutofit/>
          </a:bodyPr>
          <a:lstStyle/>
          <a:p>
            <a:pPr algn="r">
              <a:spcBef>
                <a:spcPts val="0"/>
              </a:spcBef>
              <a:spcAft>
                <a:spcPts val="0"/>
              </a:spcAft>
            </a:pPr>
            <a:r>
              <a:rPr sz="825" b="0" i="0" u="none">
                <a:solidFill>
                  <a:srgbClr val="93A3B8"/>
                </a:solidFill>
                <a:latin typeface="Arial"/>
              </a:rPr>
              <a:t>21 / 29</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Section label"/>
          <p:cNvSpPr txBox="1"/>
          <p:nvPr/>
        </p:nvSpPr>
        <p:spPr>
          <a:xfrm>
            <a:off x="685800" y="685800"/>
            <a:ext cx="9525000" cy="247649"/>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1" i="0" u="none">
                <a:solidFill>
                  <a:srgbClr val="93A3B8"/>
                </a:solidFill>
                <a:latin typeface="Arial"/>
              </a:rPr>
              <a:t>A COMPLETE USER JOURNEY — PART 2</a:t>
            </a:r>
          </a:p>
        </p:txBody>
      </p:sp>
      <p:sp>
        <p:nvSpPr>
          <p:cNvPr id="3" name="Title accent"/>
          <p:cNvSpPr/>
          <p:nvPr/>
        </p:nvSpPr>
        <p:spPr>
          <a:xfrm>
            <a:off x="685800" y="1009650"/>
            <a:ext cx="419100" cy="38100"/>
          </a:xfrm>
          <a:prstGeom prst="rect">
            <a:avLst/>
          </a:prstGeom>
          <a:solidFill>
            <a:srgbClr val="2DD4BF"/>
          </a:solidFill>
          <a:ln>
            <a:noFill/>
          </a:ln>
        </p:spPr>
        <p:txBody>
          <a:bodyPr rtlCol="0" anchor="ctr"/>
          <a:lstStyle/>
          <a:p>
            <a:pPr algn="ctr"/>
            <a:endParaRPr/>
          </a:p>
        </p:txBody>
      </p:sp>
      <p:sp>
        <p:nvSpPr>
          <p:cNvPr id="4" name="Slide title"/>
          <p:cNvSpPr txBox="1"/>
          <p:nvPr/>
        </p:nvSpPr>
        <p:spPr>
          <a:xfrm>
            <a:off x="685800" y="1181100"/>
            <a:ext cx="10820400" cy="876300"/>
          </a:xfrm>
          <a:prstGeom prst="rect">
            <a:avLst/>
          </a:prstGeom>
          <a:noFill/>
          <a:ln>
            <a:noFill/>
          </a:ln>
        </p:spPr>
        <p:txBody>
          <a:bodyPr wrap="square" lIns="0" tIns="0" rIns="0" bIns="0" anchor="t">
            <a:noAutofit/>
          </a:bodyPr>
          <a:lstStyle/>
          <a:p>
            <a:pPr algn="l">
              <a:lnSpc>
                <a:spcPts val="3120"/>
              </a:lnSpc>
              <a:spcBef>
                <a:spcPts val="0"/>
              </a:spcBef>
              <a:spcAft>
                <a:spcPts val="0"/>
              </a:spcAft>
            </a:pPr>
            <a:r>
              <a:rPr sz="3000" b="1" i="0" u="none">
                <a:solidFill>
                  <a:srgbClr val="F3F6FA"/>
                </a:solidFill>
                <a:latin typeface="Arial"/>
              </a:rPr>
              <a:t>Demo Flow — Booking to Review</a:t>
            </a:r>
          </a:p>
        </p:txBody>
      </p:sp>
      <p:sp>
        <p:nvSpPr>
          <p:cNvPr id="5" name="Stripe Pay box"/>
          <p:cNvSpPr/>
          <p:nvPr/>
        </p:nvSpPr>
        <p:spPr>
          <a:xfrm>
            <a:off x="685800" y="3238500"/>
            <a:ext cx="2286000" cy="666750"/>
          </a:xfrm>
          <a:prstGeom prst="roundRect">
            <a:avLst>
              <a:gd name="adj" fmla="val 17142"/>
            </a:avLst>
          </a:prstGeom>
          <a:solidFill>
            <a:srgbClr val="141C2E"/>
          </a:solidFill>
          <a:ln w="14287">
            <a:solidFill>
              <a:srgbClr val="28334A"/>
            </a:solidFill>
          </a:ln>
        </p:spPr>
        <p:txBody>
          <a:bodyPr rtlCol="0" anchor="ctr"/>
          <a:lstStyle/>
          <a:p>
            <a:pPr algn="ctr"/>
            <a:endParaRPr/>
          </a:p>
        </p:txBody>
      </p:sp>
      <p:sp>
        <p:nvSpPr>
          <p:cNvPr id="6" name="Stripe Pay label"/>
          <p:cNvSpPr txBox="1"/>
          <p:nvPr/>
        </p:nvSpPr>
        <p:spPr>
          <a:xfrm>
            <a:off x="762000" y="3333750"/>
            <a:ext cx="2133600" cy="209550"/>
          </a:xfrm>
          <a:prstGeom prst="rect">
            <a:avLst/>
          </a:prstGeom>
          <a:noFill/>
          <a:ln>
            <a:noFill/>
          </a:ln>
        </p:spPr>
        <p:txBody>
          <a:bodyPr wrap="square" lIns="0" tIns="0" rIns="0" bIns="0" anchor="t">
            <a:noAutofit/>
          </a:bodyPr>
          <a:lstStyle/>
          <a:p>
            <a:pPr algn="ctr">
              <a:lnSpc>
                <a:spcPts val="1155"/>
              </a:lnSpc>
              <a:spcBef>
                <a:spcPts val="0"/>
              </a:spcBef>
              <a:spcAft>
                <a:spcPts val="0"/>
              </a:spcAft>
            </a:pPr>
            <a:r>
              <a:rPr sz="1050" b="1" i="0" u="none">
                <a:solidFill>
                  <a:srgbClr val="F3F6FA"/>
                </a:solidFill>
                <a:latin typeface="Arial"/>
              </a:rPr>
              <a:t>Stripe Pay</a:t>
            </a:r>
          </a:p>
        </p:txBody>
      </p:sp>
      <p:sp>
        <p:nvSpPr>
          <p:cNvPr id="7" name="Stripe Pay sublabel"/>
          <p:cNvSpPr txBox="1"/>
          <p:nvPr/>
        </p:nvSpPr>
        <p:spPr>
          <a:xfrm>
            <a:off x="762000" y="3695700"/>
            <a:ext cx="2133600" cy="171450"/>
          </a:xfrm>
          <a:prstGeom prst="rect">
            <a:avLst/>
          </a:prstGeom>
          <a:noFill/>
          <a:ln>
            <a:noFill/>
          </a:ln>
        </p:spPr>
        <p:txBody>
          <a:bodyPr wrap="square" lIns="0" tIns="0" rIns="0" bIns="0" anchor="t">
            <a:noAutofit/>
          </a:bodyPr>
          <a:lstStyle/>
          <a:p>
            <a:pPr algn="ctr">
              <a:lnSpc>
                <a:spcPts val="956"/>
              </a:lnSpc>
              <a:spcBef>
                <a:spcPts val="0"/>
              </a:spcBef>
              <a:spcAft>
                <a:spcPts val="0"/>
              </a:spcAft>
            </a:pPr>
            <a:r>
              <a:rPr sz="825" b="0" i="0" u="none">
                <a:solidFill>
                  <a:srgbClr val="93A3B8"/>
                </a:solidFill>
                <a:latin typeface="Arial"/>
              </a:rPr>
              <a:t>Secure checkout</a:t>
            </a:r>
          </a:p>
        </p:txBody>
      </p:sp>
      <p:cxnSp>
        <p:nvCxnSpPr>
          <p:cNvPr id="8" name="Connector"/>
          <p:cNvCxnSpPr/>
          <p:nvPr/>
        </p:nvCxnSpPr>
        <p:spPr>
          <a:xfrm>
            <a:off x="2971800" y="3571875"/>
            <a:ext cx="558800" cy="0"/>
          </a:xfrm>
          <a:prstGeom prst="line">
            <a:avLst/>
          </a:prstGeom>
          <a:ln w="19050">
            <a:solidFill>
              <a:srgbClr val="2DD4BF"/>
            </a:solidFill>
            <a:tailEnd type="triangle"/>
          </a:ln>
        </p:spPr>
      </p:cxnSp>
      <p:sp>
        <p:nvSpPr>
          <p:cNvPr id="9" name="Confirmed box"/>
          <p:cNvSpPr/>
          <p:nvPr/>
        </p:nvSpPr>
        <p:spPr>
          <a:xfrm>
            <a:off x="3530600" y="3238500"/>
            <a:ext cx="2286000" cy="666750"/>
          </a:xfrm>
          <a:prstGeom prst="roundRect">
            <a:avLst>
              <a:gd name="adj" fmla="val 17142"/>
            </a:avLst>
          </a:prstGeom>
          <a:solidFill>
            <a:srgbClr val="141C2E"/>
          </a:solidFill>
          <a:ln w="14287">
            <a:solidFill>
              <a:srgbClr val="28334A"/>
            </a:solidFill>
          </a:ln>
        </p:spPr>
        <p:txBody>
          <a:bodyPr rtlCol="0" anchor="ctr"/>
          <a:lstStyle/>
          <a:p>
            <a:pPr algn="ctr"/>
            <a:endParaRPr/>
          </a:p>
        </p:txBody>
      </p:sp>
      <p:sp>
        <p:nvSpPr>
          <p:cNvPr id="10" name="Confirmed label"/>
          <p:cNvSpPr txBox="1"/>
          <p:nvPr/>
        </p:nvSpPr>
        <p:spPr>
          <a:xfrm>
            <a:off x="3606800" y="3333750"/>
            <a:ext cx="2133600" cy="209550"/>
          </a:xfrm>
          <a:prstGeom prst="rect">
            <a:avLst/>
          </a:prstGeom>
          <a:noFill/>
          <a:ln>
            <a:noFill/>
          </a:ln>
        </p:spPr>
        <p:txBody>
          <a:bodyPr wrap="square" lIns="0" tIns="0" rIns="0" bIns="0" anchor="t">
            <a:noAutofit/>
          </a:bodyPr>
          <a:lstStyle/>
          <a:p>
            <a:pPr algn="ctr">
              <a:lnSpc>
                <a:spcPts val="1155"/>
              </a:lnSpc>
              <a:spcBef>
                <a:spcPts val="0"/>
              </a:spcBef>
              <a:spcAft>
                <a:spcPts val="0"/>
              </a:spcAft>
            </a:pPr>
            <a:r>
              <a:rPr sz="1050" b="1" i="0" u="none">
                <a:solidFill>
                  <a:srgbClr val="F3F6FA"/>
                </a:solidFill>
                <a:latin typeface="Arial"/>
              </a:rPr>
              <a:t>Confirmed</a:t>
            </a:r>
          </a:p>
        </p:txBody>
      </p:sp>
      <p:sp>
        <p:nvSpPr>
          <p:cNvPr id="11" name="Confirmed sublabel"/>
          <p:cNvSpPr txBox="1"/>
          <p:nvPr/>
        </p:nvSpPr>
        <p:spPr>
          <a:xfrm>
            <a:off x="3606800" y="3695700"/>
            <a:ext cx="2133600" cy="171450"/>
          </a:xfrm>
          <a:prstGeom prst="rect">
            <a:avLst/>
          </a:prstGeom>
          <a:noFill/>
          <a:ln>
            <a:noFill/>
          </a:ln>
        </p:spPr>
        <p:txBody>
          <a:bodyPr wrap="square" lIns="0" tIns="0" rIns="0" bIns="0" anchor="t">
            <a:noAutofit/>
          </a:bodyPr>
          <a:lstStyle/>
          <a:p>
            <a:pPr algn="ctr">
              <a:lnSpc>
                <a:spcPts val="956"/>
              </a:lnSpc>
              <a:spcBef>
                <a:spcPts val="0"/>
              </a:spcBef>
              <a:spcAft>
                <a:spcPts val="0"/>
              </a:spcAft>
            </a:pPr>
            <a:r>
              <a:rPr sz="825" b="0" i="0" u="none">
                <a:solidFill>
                  <a:srgbClr val="93A3B8"/>
                </a:solidFill>
                <a:latin typeface="Arial"/>
              </a:rPr>
              <a:t>Booking verified</a:t>
            </a:r>
          </a:p>
        </p:txBody>
      </p:sp>
      <p:cxnSp>
        <p:nvCxnSpPr>
          <p:cNvPr id="12" name="Connector"/>
          <p:cNvCxnSpPr/>
          <p:nvPr/>
        </p:nvCxnSpPr>
        <p:spPr>
          <a:xfrm>
            <a:off x="5816600" y="3571875"/>
            <a:ext cx="558800" cy="0"/>
          </a:xfrm>
          <a:prstGeom prst="line">
            <a:avLst/>
          </a:prstGeom>
          <a:ln w="19050">
            <a:solidFill>
              <a:srgbClr val="2DD4BF"/>
            </a:solidFill>
            <a:tailEnd type="triangle"/>
          </a:ln>
        </p:spPr>
      </p:cxnSp>
      <p:sp>
        <p:nvSpPr>
          <p:cNvPr id="13" name="Doctor View box"/>
          <p:cNvSpPr/>
          <p:nvPr/>
        </p:nvSpPr>
        <p:spPr>
          <a:xfrm>
            <a:off x="6375400" y="3238500"/>
            <a:ext cx="2286000" cy="666750"/>
          </a:xfrm>
          <a:prstGeom prst="roundRect">
            <a:avLst>
              <a:gd name="adj" fmla="val 17142"/>
            </a:avLst>
          </a:prstGeom>
          <a:solidFill>
            <a:srgbClr val="141C2E"/>
          </a:solidFill>
          <a:ln w="14287">
            <a:solidFill>
              <a:srgbClr val="28334A"/>
            </a:solidFill>
          </a:ln>
        </p:spPr>
        <p:txBody>
          <a:bodyPr rtlCol="0" anchor="ctr"/>
          <a:lstStyle/>
          <a:p>
            <a:pPr algn="ctr"/>
            <a:endParaRPr/>
          </a:p>
        </p:txBody>
      </p:sp>
      <p:sp>
        <p:nvSpPr>
          <p:cNvPr id="14" name="Doctor View label"/>
          <p:cNvSpPr txBox="1"/>
          <p:nvPr/>
        </p:nvSpPr>
        <p:spPr>
          <a:xfrm>
            <a:off x="6451600" y="3333750"/>
            <a:ext cx="2133600" cy="209550"/>
          </a:xfrm>
          <a:prstGeom prst="rect">
            <a:avLst/>
          </a:prstGeom>
          <a:noFill/>
          <a:ln>
            <a:noFill/>
          </a:ln>
        </p:spPr>
        <p:txBody>
          <a:bodyPr wrap="square" lIns="0" tIns="0" rIns="0" bIns="0" anchor="t">
            <a:noAutofit/>
          </a:bodyPr>
          <a:lstStyle/>
          <a:p>
            <a:pPr algn="ctr">
              <a:lnSpc>
                <a:spcPts val="1155"/>
              </a:lnSpc>
              <a:spcBef>
                <a:spcPts val="0"/>
              </a:spcBef>
              <a:spcAft>
                <a:spcPts val="0"/>
              </a:spcAft>
            </a:pPr>
            <a:r>
              <a:rPr sz="1050" b="1" i="0" u="none">
                <a:solidFill>
                  <a:srgbClr val="F3F6FA"/>
                </a:solidFill>
                <a:latin typeface="Arial"/>
              </a:rPr>
              <a:t>Doctor View</a:t>
            </a:r>
          </a:p>
        </p:txBody>
      </p:sp>
      <p:sp>
        <p:nvSpPr>
          <p:cNvPr id="15" name="Doctor View sublabel"/>
          <p:cNvSpPr txBox="1"/>
          <p:nvPr/>
        </p:nvSpPr>
        <p:spPr>
          <a:xfrm>
            <a:off x="6451600" y="3695700"/>
            <a:ext cx="2133600" cy="171450"/>
          </a:xfrm>
          <a:prstGeom prst="rect">
            <a:avLst/>
          </a:prstGeom>
          <a:noFill/>
          <a:ln>
            <a:noFill/>
          </a:ln>
        </p:spPr>
        <p:txBody>
          <a:bodyPr wrap="square" lIns="0" tIns="0" rIns="0" bIns="0" anchor="t">
            <a:noAutofit/>
          </a:bodyPr>
          <a:lstStyle/>
          <a:p>
            <a:pPr algn="ctr">
              <a:lnSpc>
                <a:spcPts val="956"/>
              </a:lnSpc>
              <a:spcBef>
                <a:spcPts val="0"/>
              </a:spcBef>
              <a:spcAft>
                <a:spcPts val="0"/>
              </a:spcAft>
            </a:pPr>
            <a:r>
              <a:rPr sz="825" b="0" i="0" u="none">
                <a:solidFill>
                  <a:srgbClr val="93A3B8"/>
                </a:solidFill>
                <a:latin typeface="Arial"/>
              </a:rPr>
              <a:t>Accepts request</a:t>
            </a:r>
          </a:p>
        </p:txBody>
      </p:sp>
      <p:cxnSp>
        <p:nvCxnSpPr>
          <p:cNvPr id="16" name="Connector"/>
          <p:cNvCxnSpPr/>
          <p:nvPr/>
        </p:nvCxnSpPr>
        <p:spPr>
          <a:xfrm>
            <a:off x="8661400" y="3571875"/>
            <a:ext cx="558800" cy="0"/>
          </a:xfrm>
          <a:prstGeom prst="line">
            <a:avLst/>
          </a:prstGeom>
          <a:ln w="19050">
            <a:solidFill>
              <a:srgbClr val="2DD4BF"/>
            </a:solidFill>
            <a:tailEnd type="triangle"/>
          </a:ln>
        </p:spPr>
      </p:cxnSp>
      <p:sp>
        <p:nvSpPr>
          <p:cNvPr id="17" name="Complete box"/>
          <p:cNvSpPr/>
          <p:nvPr/>
        </p:nvSpPr>
        <p:spPr>
          <a:xfrm>
            <a:off x="9220200" y="3238500"/>
            <a:ext cx="2286000" cy="666750"/>
          </a:xfrm>
          <a:prstGeom prst="roundRect">
            <a:avLst>
              <a:gd name="adj" fmla="val 17142"/>
            </a:avLst>
          </a:prstGeom>
          <a:solidFill>
            <a:srgbClr val="141C2E"/>
          </a:solidFill>
          <a:ln w="14287">
            <a:solidFill>
              <a:srgbClr val="28334A"/>
            </a:solidFill>
          </a:ln>
        </p:spPr>
        <p:txBody>
          <a:bodyPr rtlCol="0" anchor="ctr"/>
          <a:lstStyle/>
          <a:p>
            <a:pPr algn="ctr"/>
            <a:endParaRPr/>
          </a:p>
        </p:txBody>
      </p:sp>
      <p:sp>
        <p:nvSpPr>
          <p:cNvPr id="18" name="Complete label"/>
          <p:cNvSpPr txBox="1"/>
          <p:nvPr/>
        </p:nvSpPr>
        <p:spPr>
          <a:xfrm>
            <a:off x="9296400" y="3333750"/>
            <a:ext cx="2133600" cy="209550"/>
          </a:xfrm>
          <a:prstGeom prst="rect">
            <a:avLst/>
          </a:prstGeom>
          <a:noFill/>
          <a:ln>
            <a:noFill/>
          </a:ln>
        </p:spPr>
        <p:txBody>
          <a:bodyPr wrap="square" lIns="0" tIns="0" rIns="0" bIns="0" anchor="t">
            <a:noAutofit/>
          </a:bodyPr>
          <a:lstStyle/>
          <a:p>
            <a:pPr algn="ctr">
              <a:lnSpc>
                <a:spcPts val="1155"/>
              </a:lnSpc>
              <a:spcBef>
                <a:spcPts val="0"/>
              </a:spcBef>
              <a:spcAft>
                <a:spcPts val="0"/>
              </a:spcAft>
            </a:pPr>
            <a:r>
              <a:rPr sz="1050" b="1" i="0" u="none">
                <a:solidFill>
                  <a:srgbClr val="F3F6FA"/>
                </a:solidFill>
                <a:latin typeface="Arial"/>
              </a:rPr>
              <a:t>Complete</a:t>
            </a:r>
          </a:p>
        </p:txBody>
      </p:sp>
      <p:sp>
        <p:nvSpPr>
          <p:cNvPr id="19" name="Complete sublabel"/>
          <p:cNvSpPr txBox="1"/>
          <p:nvPr/>
        </p:nvSpPr>
        <p:spPr>
          <a:xfrm>
            <a:off x="9296400" y="3695700"/>
            <a:ext cx="2133600" cy="171450"/>
          </a:xfrm>
          <a:prstGeom prst="rect">
            <a:avLst/>
          </a:prstGeom>
          <a:noFill/>
          <a:ln>
            <a:noFill/>
          </a:ln>
        </p:spPr>
        <p:txBody>
          <a:bodyPr wrap="square" lIns="0" tIns="0" rIns="0" bIns="0" anchor="t">
            <a:noAutofit/>
          </a:bodyPr>
          <a:lstStyle/>
          <a:p>
            <a:pPr algn="ctr">
              <a:lnSpc>
                <a:spcPts val="956"/>
              </a:lnSpc>
              <a:spcBef>
                <a:spcPts val="0"/>
              </a:spcBef>
              <a:spcAft>
                <a:spcPts val="0"/>
              </a:spcAft>
            </a:pPr>
            <a:r>
              <a:rPr sz="825" b="0" i="0" u="none">
                <a:solidFill>
                  <a:srgbClr val="93A3B8"/>
                </a:solidFill>
                <a:latin typeface="Arial"/>
              </a:rPr>
              <a:t>Visit + review</a:t>
            </a:r>
          </a:p>
        </p:txBody>
      </p:sp>
      <p:sp>
        <p:nvSpPr>
          <p:cNvPr id="20" name="Page number"/>
          <p:cNvSpPr txBox="1"/>
          <p:nvPr/>
        </p:nvSpPr>
        <p:spPr>
          <a:xfrm>
            <a:off x="10934700" y="6477000"/>
            <a:ext cx="571500" cy="190500"/>
          </a:xfrm>
          <a:prstGeom prst="rect">
            <a:avLst/>
          </a:prstGeom>
          <a:noFill/>
          <a:ln>
            <a:noFill/>
          </a:ln>
        </p:spPr>
        <p:txBody>
          <a:bodyPr wrap="square" lIns="0" tIns="0" rIns="0" bIns="0" anchor="t">
            <a:noAutofit/>
          </a:bodyPr>
          <a:lstStyle/>
          <a:p>
            <a:pPr algn="r">
              <a:spcBef>
                <a:spcPts val="0"/>
              </a:spcBef>
              <a:spcAft>
                <a:spcPts val="0"/>
              </a:spcAft>
            </a:pPr>
            <a:r>
              <a:rPr sz="825" b="0" i="0" u="none">
                <a:solidFill>
                  <a:srgbClr val="93A3B8"/>
                </a:solidFill>
                <a:latin typeface="Arial"/>
              </a:rPr>
              <a:t>22 / 29</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AFC"/>
        </a:solidFill>
        <a:effectLst/>
      </p:bgPr>
    </p:bg>
    <p:spTree>
      <p:nvGrpSpPr>
        <p:cNvPr id="1" name=""/>
        <p:cNvGrpSpPr/>
        <p:nvPr/>
      </p:nvGrpSpPr>
      <p:grpSpPr>
        <a:xfrm>
          <a:off x="0" y="0"/>
          <a:ext cx="0" cy="0"/>
          <a:chOff x="0" y="0"/>
          <a:chExt cx="0" cy="0"/>
        </a:xfrm>
      </p:grpSpPr>
      <p:sp>
        <p:nvSpPr>
          <p:cNvPr id="2" name="Section label"/>
          <p:cNvSpPr txBox="1"/>
          <p:nvPr/>
        </p:nvSpPr>
        <p:spPr>
          <a:xfrm>
            <a:off x="685800" y="685800"/>
            <a:ext cx="9525000" cy="247649"/>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1" i="0" u="none">
                <a:solidFill>
                  <a:srgbClr val="5B6B84"/>
                </a:solidFill>
                <a:latin typeface="Arial"/>
              </a:rPr>
              <a:t>REAL ENGINEERING PROBLEMS, SOLVED</a:t>
            </a:r>
          </a:p>
        </p:txBody>
      </p:sp>
      <p:sp>
        <p:nvSpPr>
          <p:cNvPr id="3" name="Title accent"/>
          <p:cNvSpPr/>
          <p:nvPr/>
        </p:nvSpPr>
        <p:spPr>
          <a:xfrm>
            <a:off x="685800" y="1009650"/>
            <a:ext cx="419100" cy="38100"/>
          </a:xfrm>
          <a:prstGeom prst="rect">
            <a:avLst/>
          </a:prstGeom>
          <a:solidFill>
            <a:srgbClr val="0D9488"/>
          </a:solidFill>
          <a:ln>
            <a:noFill/>
          </a:ln>
        </p:spPr>
        <p:txBody>
          <a:bodyPr rtlCol="0" anchor="ctr"/>
          <a:lstStyle/>
          <a:p>
            <a:pPr algn="ctr"/>
            <a:endParaRPr/>
          </a:p>
        </p:txBody>
      </p:sp>
      <p:sp>
        <p:nvSpPr>
          <p:cNvPr id="4" name="Slide title"/>
          <p:cNvSpPr txBox="1"/>
          <p:nvPr/>
        </p:nvSpPr>
        <p:spPr>
          <a:xfrm>
            <a:off x="685800" y="1181100"/>
            <a:ext cx="10820400" cy="876300"/>
          </a:xfrm>
          <a:prstGeom prst="rect">
            <a:avLst/>
          </a:prstGeom>
          <a:noFill/>
          <a:ln>
            <a:noFill/>
          </a:ln>
        </p:spPr>
        <p:txBody>
          <a:bodyPr wrap="square" lIns="0" tIns="0" rIns="0" bIns="0" anchor="t">
            <a:noAutofit/>
          </a:bodyPr>
          <a:lstStyle/>
          <a:p>
            <a:pPr algn="l">
              <a:lnSpc>
                <a:spcPts val="3120"/>
              </a:lnSpc>
              <a:spcBef>
                <a:spcPts val="0"/>
              </a:spcBef>
              <a:spcAft>
                <a:spcPts val="0"/>
              </a:spcAft>
            </a:pPr>
            <a:r>
              <a:rPr sz="3000" b="1" i="0" u="none">
                <a:solidFill>
                  <a:srgbClr val="132238"/>
                </a:solidFill>
                <a:latin typeface="Arial"/>
              </a:rPr>
              <a:t>Challenges &amp; Solutions</a:t>
            </a:r>
          </a:p>
        </p:txBody>
      </p:sp>
      <p:sp>
        <p:nvSpPr>
          <p:cNvPr id="5" name="Section label"/>
          <p:cNvSpPr txBox="1"/>
          <p:nvPr/>
        </p:nvSpPr>
        <p:spPr>
          <a:xfrm>
            <a:off x="685800" y="2171700"/>
            <a:ext cx="4572000" cy="247649"/>
          </a:xfrm>
          <a:prstGeom prst="rect">
            <a:avLst/>
          </a:prstGeom>
          <a:noFill/>
          <a:ln>
            <a:noFill/>
          </a:ln>
        </p:spPr>
        <p:txBody>
          <a:bodyPr wrap="square" lIns="0" tIns="0" rIns="0" bIns="0" anchor="t">
            <a:noAutofit/>
          </a:bodyPr>
          <a:lstStyle/>
          <a:p>
            <a:pPr algn="l">
              <a:lnSpc>
                <a:spcPts val="1044"/>
              </a:lnSpc>
              <a:spcBef>
                <a:spcPts val="0"/>
              </a:spcBef>
              <a:spcAft>
                <a:spcPts val="0"/>
              </a:spcAft>
            </a:pPr>
            <a:r>
              <a:rPr sz="900" b="1" i="0" u="none">
                <a:solidFill>
                  <a:srgbClr val="5B6B84"/>
                </a:solidFill>
                <a:latin typeface="Arial"/>
              </a:rPr>
              <a:t>CHALLENGE</a:t>
            </a:r>
          </a:p>
        </p:txBody>
      </p:sp>
      <p:sp>
        <p:nvSpPr>
          <p:cNvPr id="6" name="Section label"/>
          <p:cNvSpPr txBox="1"/>
          <p:nvPr/>
        </p:nvSpPr>
        <p:spPr>
          <a:xfrm>
            <a:off x="6172200" y="2171700"/>
            <a:ext cx="5334000" cy="247649"/>
          </a:xfrm>
          <a:prstGeom prst="rect">
            <a:avLst/>
          </a:prstGeom>
          <a:noFill/>
          <a:ln>
            <a:noFill/>
          </a:ln>
        </p:spPr>
        <p:txBody>
          <a:bodyPr wrap="square" lIns="0" tIns="0" rIns="0" bIns="0" anchor="t">
            <a:noAutofit/>
          </a:bodyPr>
          <a:lstStyle/>
          <a:p>
            <a:pPr algn="l">
              <a:lnSpc>
                <a:spcPts val="1044"/>
              </a:lnSpc>
              <a:spcBef>
                <a:spcPts val="0"/>
              </a:spcBef>
              <a:spcAft>
                <a:spcPts val="0"/>
              </a:spcAft>
            </a:pPr>
            <a:r>
              <a:rPr sz="900" b="1" i="0" u="none">
                <a:solidFill>
                  <a:srgbClr val="0D9488"/>
                </a:solidFill>
                <a:latin typeface="Arial"/>
              </a:rPr>
              <a:t>SOLUTION</a:t>
            </a:r>
          </a:p>
        </p:txBody>
      </p:sp>
      <p:sp>
        <p:nvSpPr>
          <p:cNvPr id="7" name="Challenge 1"/>
          <p:cNvSpPr/>
          <p:nvPr/>
        </p:nvSpPr>
        <p:spPr>
          <a:xfrm>
            <a:off x="685800" y="2419350"/>
            <a:ext cx="4572000" cy="876300"/>
          </a:xfrm>
          <a:prstGeom prst="roundRect">
            <a:avLst>
              <a:gd name="adj" fmla="val 13043"/>
            </a:avLst>
          </a:prstGeom>
          <a:solidFill>
            <a:srgbClr val="EEF2F8"/>
          </a:solidFill>
          <a:ln w="9525">
            <a:solidFill>
              <a:srgbClr val="DCE3EE"/>
            </a:solidFill>
          </a:ln>
        </p:spPr>
        <p:txBody>
          <a:bodyPr rtlCol="0" anchor="ctr"/>
          <a:lstStyle/>
          <a:p>
            <a:pPr algn="ctr"/>
            <a:endParaRPr/>
          </a:p>
        </p:txBody>
      </p:sp>
      <p:sp>
        <p:nvSpPr>
          <p:cNvPr id="8" name="Challenge 1 title"/>
          <p:cNvSpPr txBox="1"/>
          <p:nvPr/>
        </p:nvSpPr>
        <p:spPr>
          <a:xfrm>
            <a:off x="876300" y="2552700"/>
            <a:ext cx="4190999" cy="247649"/>
          </a:xfrm>
          <a:prstGeom prst="rect">
            <a:avLst/>
          </a:prstGeom>
          <a:noFill/>
          <a:ln>
            <a:noFill/>
          </a:ln>
        </p:spPr>
        <p:txBody>
          <a:bodyPr wrap="square" lIns="0" tIns="0" rIns="0" bIns="0" anchor="t">
            <a:noAutofit/>
          </a:bodyPr>
          <a:lstStyle/>
          <a:p>
            <a:pPr algn="l">
              <a:lnSpc>
                <a:spcPts val="1479"/>
              </a:lnSpc>
              <a:spcBef>
                <a:spcPts val="0"/>
              </a:spcBef>
              <a:spcAft>
                <a:spcPts val="0"/>
              </a:spcAft>
            </a:pPr>
            <a:r>
              <a:rPr sz="1275" b="1" i="0" u="none">
                <a:solidFill>
                  <a:srgbClr val="132238"/>
                </a:solidFill>
                <a:latin typeface="Arial"/>
              </a:rPr>
              <a:t>Time Slot Collisions</a:t>
            </a:r>
          </a:p>
        </p:txBody>
      </p:sp>
      <p:sp>
        <p:nvSpPr>
          <p:cNvPr id="9" name="Challenge 1 body"/>
          <p:cNvSpPr txBox="1"/>
          <p:nvPr/>
        </p:nvSpPr>
        <p:spPr>
          <a:xfrm>
            <a:off x="876300" y="2838450"/>
            <a:ext cx="4190999" cy="438150"/>
          </a:xfrm>
          <a:prstGeom prst="rect">
            <a:avLst/>
          </a:prstGeom>
          <a:noFill/>
          <a:ln>
            <a:noFill/>
          </a:ln>
        </p:spPr>
        <p:txBody>
          <a:bodyPr wrap="square" lIns="0" tIns="0" rIns="0" bIns="0" anchor="t">
            <a:noAutofit/>
          </a:bodyPr>
          <a:lstStyle/>
          <a:p>
            <a:pPr algn="l">
              <a:lnSpc>
                <a:spcPts val="1218"/>
              </a:lnSpc>
              <a:spcBef>
                <a:spcPts val="0"/>
              </a:spcBef>
              <a:spcAft>
                <a:spcPts val="0"/>
              </a:spcAft>
            </a:pPr>
            <a:r>
              <a:rPr sz="975" b="0" i="0" u="none">
                <a:solidFill>
                  <a:srgbClr val="5B6B84"/>
                </a:solidFill>
                <a:latin typeface="Arial"/>
              </a:rPr>
              <a:t>Preventing double-bookings across concurrent requests.</a:t>
            </a:r>
          </a:p>
        </p:txBody>
      </p:sp>
      <p:sp>
        <p:nvSpPr>
          <p:cNvPr id="10" name="Pair 1 arrow"/>
          <p:cNvSpPr txBox="1"/>
          <p:nvPr/>
        </p:nvSpPr>
        <p:spPr>
          <a:xfrm>
            <a:off x="5372100" y="2686050"/>
            <a:ext cx="685800" cy="342900"/>
          </a:xfrm>
          <a:prstGeom prst="rect">
            <a:avLst/>
          </a:prstGeom>
          <a:noFill/>
          <a:ln>
            <a:noFill/>
          </a:ln>
        </p:spPr>
        <p:txBody>
          <a:bodyPr wrap="square" lIns="0" tIns="0" rIns="0" bIns="0" anchor="t">
            <a:noAutofit/>
          </a:bodyPr>
          <a:lstStyle/>
          <a:p>
            <a:pPr algn="ctr">
              <a:lnSpc>
                <a:spcPts val="2436"/>
              </a:lnSpc>
              <a:spcBef>
                <a:spcPts val="0"/>
              </a:spcBef>
              <a:spcAft>
                <a:spcPts val="0"/>
              </a:spcAft>
            </a:pPr>
            <a:r>
              <a:rPr sz="2100" b="1" i="0" u="none">
                <a:solidFill>
                  <a:srgbClr val="0D9488"/>
                </a:solidFill>
                <a:latin typeface="Arial"/>
              </a:rPr>
              <a:t>→</a:t>
            </a:r>
          </a:p>
        </p:txBody>
      </p:sp>
      <p:sp>
        <p:nvSpPr>
          <p:cNvPr id="11" name="Solution 1"/>
          <p:cNvSpPr/>
          <p:nvPr/>
        </p:nvSpPr>
        <p:spPr>
          <a:xfrm>
            <a:off x="6172200" y="2419350"/>
            <a:ext cx="5334000" cy="876300"/>
          </a:xfrm>
          <a:prstGeom prst="roundRect">
            <a:avLst>
              <a:gd name="adj" fmla="val 13043"/>
            </a:avLst>
          </a:prstGeom>
          <a:solidFill>
            <a:srgbClr val="E3F7F5"/>
          </a:solidFill>
          <a:ln w="9525">
            <a:solidFill>
              <a:srgbClr val="0D9488"/>
            </a:solidFill>
          </a:ln>
        </p:spPr>
        <p:txBody>
          <a:bodyPr rtlCol="0" anchor="ctr"/>
          <a:lstStyle/>
          <a:p>
            <a:pPr algn="ctr"/>
            <a:endParaRPr/>
          </a:p>
        </p:txBody>
      </p:sp>
      <p:sp>
        <p:nvSpPr>
          <p:cNvPr id="12" name="Solution 1 body"/>
          <p:cNvSpPr txBox="1"/>
          <p:nvPr/>
        </p:nvSpPr>
        <p:spPr>
          <a:xfrm>
            <a:off x="6362700" y="2705100"/>
            <a:ext cx="4953000" cy="571500"/>
          </a:xfrm>
          <a:prstGeom prst="rect">
            <a:avLst/>
          </a:prstGeom>
          <a:noFill/>
          <a:ln>
            <a:noFill/>
          </a:ln>
        </p:spPr>
        <p:txBody>
          <a:bodyPr wrap="square" lIns="0" tIns="0" rIns="0" bIns="0" anchor="t">
            <a:noAutofit/>
          </a:bodyPr>
          <a:lstStyle/>
          <a:p>
            <a:pPr algn="l">
              <a:lnSpc>
                <a:spcPts val="1462"/>
              </a:lnSpc>
              <a:spcBef>
                <a:spcPts val="0"/>
              </a:spcBef>
              <a:spcAft>
                <a:spcPts val="0"/>
              </a:spcAft>
            </a:pPr>
            <a:r>
              <a:rPr sz="1125" b="1" i="0" u="none">
                <a:solidFill>
                  <a:srgbClr val="132238"/>
                </a:solidFill>
                <a:latin typeface="Arial"/>
              </a:rPr>
              <a:t>✓ DB transactions validate every slot before it is booked.</a:t>
            </a:r>
          </a:p>
        </p:txBody>
      </p:sp>
      <p:sp>
        <p:nvSpPr>
          <p:cNvPr id="13" name="Challenge 2"/>
          <p:cNvSpPr/>
          <p:nvPr/>
        </p:nvSpPr>
        <p:spPr>
          <a:xfrm>
            <a:off x="685800" y="3390900"/>
            <a:ext cx="4572000" cy="876300"/>
          </a:xfrm>
          <a:prstGeom prst="roundRect">
            <a:avLst>
              <a:gd name="adj" fmla="val 13043"/>
            </a:avLst>
          </a:prstGeom>
          <a:solidFill>
            <a:srgbClr val="EEF2F8"/>
          </a:solidFill>
          <a:ln w="9525">
            <a:solidFill>
              <a:srgbClr val="DCE3EE"/>
            </a:solidFill>
          </a:ln>
        </p:spPr>
        <p:txBody>
          <a:bodyPr rtlCol="0" anchor="ctr"/>
          <a:lstStyle/>
          <a:p>
            <a:pPr algn="ctr"/>
            <a:endParaRPr/>
          </a:p>
        </p:txBody>
      </p:sp>
      <p:sp>
        <p:nvSpPr>
          <p:cNvPr id="14" name="Challenge 2 title"/>
          <p:cNvSpPr txBox="1"/>
          <p:nvPr/>
        </p:nvSpPr>
        <p:spPr>
          <a:xfrm>
            <a:off x="876300" y="3524250"/>
            <a:ext cx="4190999" cy="247649"/>
          </a:xfrm>
          <a:prstGeom prst="rect">
            <a:avLst/>
          </a:prstGeom>
          <a:noFill/>
          <a:ln>
            <a:noFill/>
          </a:ln>
        </p:spPr>
        <p:txBody>
          <a:bodyPr wrap="square" lIns="0" tIns="0" rIns="0" bIns="0" anchor="t">
            <a:noAutofit/>
          </a:bodyPr>
          <a:lstStyle/>
          <a:p>
            <a:pPr algn="l">
              <a:lnSpc>
                <a:spcPts val="1479"/>
              </a:lnSpc>
              <a:spcBef>
                <a:spcPts val="0"/>
              </a:spcBef>
              <a:spcAft>
                <a:spcPts val="0"/>
              </a:spcAft>
            </a:pPr>
            <a:r>
              <a:rPr sz="1275" b="1" i="0" u="none">
                <a:solidFill>
                  <a:srgbClr val="132238"/>
                </a:solidFill>
                <a:latin typeface="Arial"/>
              </a:rPr>
              <a:t>Payment State Sync</a:t>
            </a:r>
          </a:p>
        </p:txBody>
      </p:sp>
      <p:sp>
        <p:nvSpPr>
          <p:cNvPr id="15" name="Challenge 2 body"/>
          <p:cNvSpPr txBox="1"/>
          <p:nvPr/>
        </p:nvSpPr>
        <p:spPr>
          <a:xfrm>
            <a:off x="876300" y="3810000"/>
            <a:ext cx="4190999" cy="438150"/>
          </a:xfrm>
          <a:prstGeom prst="rect">
            <a:avLst/>
          </a:prstGeom>
          <a:noFill/>
          <a:ln>
            <a:noFill/>
          </a:ln>
        </p:spPr>
        <p:txBody>
          <a:bodyPr wrap="square" lIns="0" tIns="0" rIns="0" bIns="0" anchor="t">
            <a:noAutofit/>
          </a:bodyPr>
          <a:lstStyle/>
          <a:p>
            <a:pPr algn="l">
              <a:lnSpc>
                <a:spcPts val="1218"/>
              </a:lnSpc>
              <a:spcBef>
                <a:spcPts val="0"/>
              </a:spcBef>
              <a:spcAft>
                <a:spcPts val="0"/>
              </a:spcAft>
            </a:pPr>
            <a:r>
              <a:rPr sz="975" b="0" i="0" u="none">
                <a:solidFill>
                  <a:srgbClr val="5B6B84"/>
                </a:solidFill>
                <a:latin typeface="Arial"/>
              </a:rPr>
              <a:t>Users could drop off mid-payment.</a:t>
            </a:r>
          </a:p>
        </p:txBody>
      </p:sp>
      <p:sp>
        <p:nvSpPr>
          <p:cNvPr id="16" name="Pair 2 arrow"/>
          <p:cNvSpPr txBox="1"/>
          <p:nvPr/>
        </p:nvSpPr>
        <p:spPr>
          <a:xfrm>
            <a:off x="5372100" y="3657600"/>
            <a:ext cx="685800" cy="342900"/>
          </a:xfrm>
          <a:prstGeom prst="rect">
            <a:avLst/>
          </a:prstGeom>
          <a:noFill/>
          <a:ln>
            <a:noFill/>
          </a:ln>
        </p:spPr>
        <p:txBody>
          <a:bodyPr wrap="square" lIns="0" tIns="0" rIns="0" bIns="0" anchor="t">
            <a:noAutofit/>
          </a:bodyPr>
          <a:lstStyle/>
          <a:p>
            <a:pPr algn="ctr">
              <a:lnSpc>
                <a:spcPts val="2436"/>
              </a:lnSpc>
              <a:spcBef>
                <a:spcPts val="0"/>
              </a:spcBef>
              <a:spcAft>
                <a:spcPts val="0"/>
              </a:spcAft>
            </a:pPr>
            <a:r>
              <a:rPr sz="2100" b="1" i="0" u="none">
                <a:solidFill>
                  <a:srgbClr val="0D9488"/>
                </a:solidFill>
                <a:latin typeface="Arial"/>
              </a:rPr>
              <a:t>→</a:t>
            </a:r>
          </a:p>
        </p:txBody>
      </p:sp>
      <p:sp>
        <p:nvSpPr>
          <p:cNvPr id="17" name="Solution 2"/>
          <p:cNvSpPr/>
          <p:nvPr/>
        </p:nvSpPr>
        <p:spPr>
          <a:xfrm>
            <a:off x="6172200" y="3390900"/>
            <a:ext cx="5334000" cy="876300"/>
          </a:xfrm>
          <a:prstGeom prst="roundRect">
            <a:avLst>
              <a:gd name="adj" fmla="val 13043"/>
            </a:avLst>
          </a:prstGeom>
          <a:solidFill>
            <a:srgbClr val="E3F7F5"/>
          </a:solidFill>
          <a:ln w="9525">
            <a:solidFill>
              <a:srgbClr val="0D9488"/>
            </a:solidFill>
          </a:ln>
        </p:spPr>
        <p:txBody>
          <a:bodyPr rtlCol="0" anchor="ctr"/>
          <a:lstStyle/>
          <a:p>
            <a:pPr algn="ctr"/>
            <a:endParaRPr/>
          </a:p>
        </p:txBody>
      </p:sp>
      <p:sp>
        <p:nvSpPr>
          <p:cNvPr id="18" name="Solution 2 body"/>
          <p:cNvSpPr txBox="1"/>
          <p:nvPr/>
        </p:nvSpPr>
        <p:spPr>
          <a:xfrm>
            <a:off x="6362700" y="3676649"/>
            <a:ext cx="4953000" cy="571500"/>
          </a:xfrm>
          <a:prstGeom prst="rect">
            <a:avLst/>
          </a:prstGeom>
          <a:noFill/>
          <a:ln>
            <a:noFill/>
          </a:ln>
        </p:spPr>
        <p:txBody>
          <a:bodyPr wrap="square" lIns="0" tIns="0" rIns="0" bIns="0" anchor="t">
            <a:noAutofit/>
          </a:bodyPr>
          <a:lstStyle/>
          <a:p>
            <a:pPr algn="l">
              <a:lnSpc>
                <a:spcPts val="1462"/>
              </a:lnSpc>
              <a:spcBef>
                <a:spcPts val="0"/>
              </a:spcBef>
              <a:spcAft>
                <a:spcPts val="0"/>
              </a:spcAft>
            </a:pPr>
            <a:r>
              <a:rPr sz="1125" b="1" i="0" u="none">
                <a:solidFill>
                  <a:srgbClr val="132238"/>
                </a:solidFill>
                <a:latin typeface="Arial"/>
              </a:rPr>
              <a:t>✓ Stripe Session IDs confirm payment before booking is created.</a:t>
            </a:r>
          </a:p>
        </p:txBody>
      </p:sp>
      <p:sp>
        <p:nvSpPr>
          <p:cNvPr id="19" name="Challenge 3"/>
          <p:cNvSpPr/>
          <p:nvPr/>
        </p:nvSpPr>
        <p:spPr>
          <a:xfrm>
            <a:off x="685800" y="4362450"/>
            <a:ext cx="4572000" cy="876300"/>
          </a:xfrm>
          <a:prstGeom prst="roundRect">
            <a:avLst>
              <a:gd name="adj" fmla="val 13043"/>
            </a:avLst>
          </a:prstGeom>
          <a:solidFill>
            <a:srgbClr val="EEF2F8"/>
          </a:solidFill>
          <a:ln w="9525">
            <a:solidFill>
              <a:srgbClr val="DCE3EE"/>
            </a:solidFill>
          </a:ln>
        </p:spPr>
        <p:txBody>
          <a:bodyPr rtlCol="0" anchor="ctr"/>
          <a:lstStyle/>
          <a:p>
            <a:pPr algn="ctr"/>
            <a:endParaRPr/>
          </a:p>
        </p:txBody>
      </p:sp>
      <p:sp>
        <p:nvSpPr>
          <p:cNvPr id="20" name="Challenge 3 title"/>
          <p:cNvSpPr txBox="1"/>
          <p:nvPr/>
        </p:nvSpPr>
        <p:spPr>
          <a:xfrm>
            <a:off x="876300" y="4495800"/>
            <a:ext cx="4190999" cy="247649"/>
          </a:xfrm>
          <a:prstGeom prst="rect">
            <a:avLst/>
          </a:prstGeom>
          <a:noFill/>
          <a:ln>
            <a:noFill/>
          </a:ln>
        </p:spPr>
        <p:txBody>
          <a:bodyPr wrap="square" lIns="0" tIns="0" rIns="0" bIns="0" anchor="t">
            <a:noAutofit/>
          </a:bodyPr>
          <a:lstStyle/>
          <a:p>
            <a:pPr algn="l">
              <a:lnSpc>
                <a:spcPts val="1479"/>
              </a:lnSpc>
              <a:spcBef>
                <a:spcPts val="0"/>
              </a:spcBef>
              <a:spcAft>
                <a:spcPts val="0"/>
              </a:spcAft>
            </a:pPr>
            <a:r>
              <a:rPr sz="1275" b="1" i="0" u="none">
                <a:solidFill>
                  <a:srgbClr val="132238"/>
                </a:solidFill>
                <a:latin typeface="Arial"/>
              </a:rPr>
              <a:t>Orphaned Records</a:t>
            </a:r>
          </a:p>
        </p:txBody>
      </p:sp>
      <p:sp>
        <p:nvSpPr>
          <p:cNvPr id="21" name="Challenge 3 body"/>
          <p:cNvSpPr txBox="1"/>
          <p:nvPr/>
        </p:nvSpPr>
        <p:spPr>
          <a:xfrm>
            <a:off x="876300" y="4781550"/>
            <a:ext cx="4190999" cy="438150"/>
          </a:xfrm>
          <a:prstGeom prst="rect">
            <a:avLst/>
          </a:prstGeom>
          <a:noFill/>
          <a:ln>
            <a:noFill/>
          </a:ln>
        </p:spPr>
        <p:txBody>
          <a:bodyPr wrap="square" lIns="0" tIns="0" rIns="0" bIns="0" anchor="t">
            <a:noAutofit/>
          </a:bodyPr>
          <a:lstStyle/>
          <a:p>
            <a:pPr algn="l">
              <a:lnSpc>
                <a:spcPts val="1218"/>
              </a:lnSpc>
              <a:spcBef>
                <a:spcPts val="0"/>
              </a:spcBef>
              <a:spcAft>
                <a:spcPts val="0"/>
              </a:spcAft>
            </a:pPr>
            <a:r>
              <a:rPr sz="975" b="0" i="0" u="none">
                <a:solidFill>
                  <a:srgbClr val="5B6B84"/>
                </a:solidFill>
                <a:latin typeface="Arial"/>
              </a:rPr>
              <a:t>Deleting a user could break linked data.</a:t>
            </a:r>
          </a:p>
        </p:txBody>
      </p:sp>
      <p:sp>
        <p:nvSpPr>
          <p:cNvPr id="22" name="Pair 3 arrow"/>
          <p:cNvSpPr txBox="1"/>
          <p:nvPr/>
        </p:nvSpPr>
        <p:spPr>
          <a:xfrm>
            <a:off x="5372100" y="4629150"/>
            <a:ext cx="685800" cy="342900"/>
          </a:xfrm>
          <a:prstGeom prst="rect">
            <a:avLst/>
          </a:prstGeom>
          <a:noFill/>
          <a:ln>
            <a:noFill/>
          </a:ln>
        </p:spPr>
        <p:txBody>
          <a:bodyPr wrap="square" lIns="0" tIns="0" rIns="0" bIns="0" anchor="t">
            <a:noAutofit/>
          </a:bodyPr>
          <a:lstStyle/>
          <a:p>
            <a:pPr algn="ctr">
              <a:lnSpc>
                <a:spcPts val="2436"/>
              </a:lnSpc>
              <a:spcBef>
                <a:spcPts val="0"/>
              </a:spcBef>
              <a:spcAft>
                <a:spcPts val="0"/>
              </a:spcAft>
            </a:pPr>
            <a:r>
              <a:rPr sz="2100" b="1" i="0" u="none">
                <a:solidFill>
                  <a:srgbClr val="0D9488"/>
                </a:solidFill>
                <a:latin typeface="Arial"/>
              </a:rPr>
              <a:t>→</a:t>
            </a:r>
          </a:p>
        </p:txBody>
      </p:sp>
      <p:sp>
        <p:nvSpPr>
          <p:cNvPr id="23" name="Solution 3"/>
          <p:cNvSpPr/>
          <p:nvPr/>
        </p:nvSpPr>
        <p:spPr>
          <a:xfrm>
            <a:off x="6172200" y="4362450"/>
            <a:ext cx="5334000" cy="876300"/>
          </a:xfrm>
          <a:prstGeom prst="roundRect">
            <a:avLst>
              <a:gd name="adj" fmla="val 13043"/>
            </a:avLst>
          </a:prstGeom>
          <a:solidFill>
            <a:srgbClr val="E3F7F5"/>
          </a:solidFill>
          <a:ln w="9525">
            <a:solidFill>
              <a:srgbClr val="0D9488"/>
            </a:solidFill>
          </a:ln>
        </p:spPr>
        <p:txBody>
          <a:bodyPr rtlCol="0" anchor="ctr"/>
          <a:lstStyle/>
          <a:p>
            <a:pPr algn="ctr"/>
            <a:endParaRPr/>
          </a:p>
        </p:txBody>
      </p:sp>
      <p:sp>
        <p:nvSpPr>
          <p:cNvPr id="24" name="Solution 3 body"/>
          <p:cNvSpPr txBox="1"/>
          <p:nvPr/>
        </p:nvSpPr>
        <p:spPr>
          <a:xfrm>
            <a:off x="6362700" y="4648200"/>
            <a:ext cx="4953000" cy="571500"/>
          </a:xfrm>
          <a:prstGeom prst="rect">
            <a:avLst/>
          </a:prstGeom>
          <a:noFill/>
          <a:ln>
            <a:noFill/>
          </a:ln>
        </p:spPr>
        <p:txBody>
          <a:bodyPr wrap="square" lIns="0" tIns="0" rIns="0" bIns="0" anchor="t">
            <a:noAutofit/>
          </a:bodyPr>
          <a:lstStyle/>
          <a:p>
            <a:pPr algn="l">
              <a:lnSpc>
                <a:spcPts val="1462"/>
              </a:lnSpc>
              <a:spcBef>
                <a:spcPts val="0"/>
              </a:spcBef>
              <a:spcAft>
                <a:spcPts val="0"/>
              </a:spcAft>
            </a:pPr>
            <a:r>
              <a:rPr sz="1125" b="1" i="0" u="none">
                <a:solidFill>
                  <a:srgbClr val="132238"/>
                </a:solidFill>
                <a:latin typeface="Arial"/>
              </a:rPr>
              <a:t>✓ Soft deletes protect data integrity across every table.</a:t>
            </a:r>
          </a:p>
        </p:txBody>
      </p:sp>
      <p:sp>
        <p:nvSpPr>
          <p:cNvPr id="25" name="Challenge 4"/>
          <p:cNvSpPr/>
          <p:nvPr/>
        </p:nvSpPr>
        <p:spPr>
          <a:xfrm>
            <a:off x="685800" y="5334000"/>
            <a:ext cx="4572000" cy="876300"/>
          </a:xfrm>
          <a:prstGeom prst="roundRect">
            <a:avLst>
              <a:gd name="adj" fmla="val 13043"/>
            </a:avLst>
          </a:prstGeom>
          <a:solidFill>
            <a:srgbClr val="EEF2F8"/>
          </a:solidFill>
          <a:ln w="9525">
            <a:solidFill>
              <a:srgbClr val="DCE3EE"/>
            </a:solidFill>
          </a:ln>
        </p:spPr>
        <p:txBody>
          <a:bodyPr rtlCol="0" anchor="ctr"/>
          <a:lstStyle/>
          <a:p>
            <a:pPr algn="ctr"/>
            <a:endParaRPr/>
          </a:p>
        </p:txBody>
      </p:sp>
      <p:sp>
        <p:nvSpPr>
          <p:cNvPr id="26" name="Challenge 4 title"/>
          <p:cNvSpPr txBox="1"/>
          <p:nvPr/>
        </p:nvSpPr>
        <p:spPr>
          <a:xfrm>
            <a:off x="876300" y="5467350"/>
            <a:ext cx="4190999" cy="247649"/>
          </a:xfrm>
          <a:prstGeom prst="rect">
            <a:avLst/>
          </a:prstGeom>
          <a:noFill/>
          <a:ln>
            <a:noFill/>
          </a:ln>
        </p:spPr>
        <p:txBody>
          <a:bodyPr wrap="square" lIns="0" tIns="0" rIns="0" bIns="0" anchor="t">
            <a:noAutofit/>
          </a:bodyPr>
          <a:lstStyle/>
          <a:p>
            <a:pPr algn="l">
              <a:lnSpc>
                <a:spcPts val="1479"/>
              </a:lnSpc>
              <a:spcBef>
                <a:spcPts val="0"/>
              </a:spcBef>
              <a:spcAft>
                <a:spcPts val="0"/>
              </a:spcAft>
            </a:pPr>
            <a:r>
              <a:rPr sz="1275" b="1" i="0" u="none">
                <a:solidFill>
                  <a:srgbClr val="132238"/>
                </a:solidFill>
                <a:latin typeface="Arial"/>
              </a:rPr>
              <a:t>Complex State Management</a:t>
            </a:r>
          </a:p>
        </p:txBody>
      </p:sp>
      <p:sp>
        <p:nvSpPr>
          <p:cNvPr id="27" name="Challenge 4 body"/>
          <p:cNvSpPr txBox="1"/>
          <p:nvPr/>
        </p:nvSpPr>
        <p:spPr>
          <a:xfrm>
            <a:off x="876300" y="5753100"/>
            <a:ext cx="4190999" cy="438150"/>
          </a:xfrm>
          <a:prstGeom prst="rect">
            <a:avLst/>
          </a:prstGeom>
          <a:noFill/>
          <a:ln>
            <a:noFill/>
          </a:ln>
        </p:spPr>
        <p:txBody>
          <a:bodyPr wrap="square" lIns="0" tIns="0" rIns="0" bIns="0" anchor="t">
            <a:noAutofit/>
          </a:bodyPr>
          <a:lstStyle/>
          <a:p>
            <a:pPr algn="l">
              <a:lnSpc>
                <a:spcPts val="1218"/>
              </a:lnSpc>
              <a:spcBef>
                <a:spcPts val="0"/>
              </a:spcBef>
              <a:spcAft>
                <a:spcPts val="0"/>
              </a:spcAft>
            </a:pPr>
            <a:r>
              <a:rPr sz="975" b="0" i="0" u="none">
                <a:solidFill>
                  <a:srgbClr val="5B6B84"/>
                </a:solidFill>
                <a:latin typeface="Arial"/>
              </a:rPr>
              <a:t>Three roles needed to share auth state.</a:t>
            </a:r>
          </a:p>
        </p:txBody>
      </p:sp>
      <p:sp>
        <p:nvSpPr>
          <p:cNvPr id="28" name="Pair 4 arrow"/>
          <p:cNvSpPr txBox="1"/>
          <p:nvPr/>
        </p:nvSpPr>
        <p:spPr>
          <a:xfrm>
            <a:off x="5372100" y="5600700"/>
            <a:ext cx="685800" cy="342900"/>
          </a:xfrm>
          <a:prstGeom prst="rect">
            <a:avLst/>
          </a:prstGeom>
          <a:noFill/>
          <a:ln>
            <a:noFill/>
          </a:ln>
        </p:spPr>
        <p:txBody>
          <a:bodyPr wrap="square" lIns="0" tIns="0" rIns="0" bIns="0" anchor="t">
            <a:noAutofit/>
          </a:bodyPr>
          <a:lstStyle/>
          <a:p>
            <a:pPr algn="ctr">
              <a:lnSpc>
                <a:spcPts val="2436"/>
              </a:lnSpc>
              <a:spcBef>
                <a:spcPts val="0"/>
              </a:spcBef>
              <a:spcAft>
                <a:spcPts val="0"/>
              </a:spcAft>
            </a:pPr>
            <a:r>
              <a:rPr sz="2100" b="1" i="0" u="none">
                <a:solidFill>
                  <a:srgbClr val="0D9488"/>
                </a:solidFill>
                <a:latin typeface="Arial"/>
              </a:rPr>
              <a:t>→</a:t>
            </a:r>
          </a:p>
        </p:txBody>
      </p:sp>
      <p:sp>
        <p:nvSpPr>
          <p:cNvPr id="29" name="Solution 4"/>
          <p:cNvSpPr/>
          <p:nvPr/>
        </p:nvSpPr>
        <p:spPr>
          <a:xfrm>
            <a:off x="6172200" y="5334000"/>
            <a:ext cx="5334000" cy="876300"/>
          </a:xfrm>
          <a:prstGeom prst="roundRect">
            <a:avLst>
              <a:gd name="adj" fmla="val 13043"/>
            </a:avLst>
          </a:prstGeom>
          <a:solidFill>
            <a:srgbClr val="E3F7F5"/>
          </a:solidFill>
          <a:ln w="9525">
            <a:solidFill>
              <a:srgbClr val="0D9488"/>
            </a:solidFill>
          </a:ln>
        </p:spPr>
        <p:txBody>
          <a:bodyPr rtlCol="0" anchor="ctr"/>
          <a:lstStyle/>
          <a:p>
            <a:pPr algn="ctr"/>
            <a:endParaRPr/>
          </a:p>
        </p:txBody>
      </p:sp>
      <p:sp>
        <p:nvSpPr>
          <p:cNvPr id="30" name="Solution 4 body"/>
          <p:cNvSpPr txBox="1"/>
          <p:nvPr/>
        </p:nvSpPr>
        <p:spPr>
          <a:xfrm>
            <a:off x="6362700" y="5619750"/>
            <a:ext cx="4953000" cy="571500"/>
          </a:xfrm>
          <a:prstGeom prst="rect">
            <a:avLst/>
          </a:prstGeom>
          <a:noFill/>
          <a:ln>
            <a:noFill/>
          </a:ln>
        </p:spPr>
        <p:txBody>
          <a:bodyPr wrap="square" lIns="0" tIns="0" rIns="0" bIns="0" anchor="t">
            <a:noAutofit/>
          </a:bodyPr>
          <a:lstStyle/>
          <a:p>
            <a:pPr algn="l">
              <a:lnSpc>
                <a:spcPts val="1462"/>
              </a:lnSpc>
              <a:spcBef>
                <a:spcPts val="0"/>
              </a:spcBef>
              <a:spcAft>
                <a:spcPts val="0"/>
              </a:spcAft>
            </a:pPr>
            <a:r>
              <a:rPr sz="1125" b="1" i="0" u="none">
                <a:solidFill>
                  <a:srgbClr val="132238"/>
                </a:solidFill>
                <a:latin typeface="Arial"/>
              </a:rPr>
              <a:t>✓ Context API &amp; Axios interceptors centralize auth state.</a:t>
            </a:r>
          </a:p>
        </p:txBody>
      </p:sp>
      <p:sp>
        <p:nvSpPr>
          <p:cNvPr id="31" name="Page number"/>
          <p:cNvSpPr txBox="1"/>
          <p:nvPr/>
        </p:nvSpPr>
        <p:spPr>
          <a:xfrm>
            <a:off x="10934700" y="6477000"/>
            <a:ext cx="571500" cy="190500"/>
          </a:xfrm>
          <a:prstGeom prst="rect">
            <a:avLst/>
          </a:prstGeom>
          <a:noFill/>
          <a:ln>
            <a:noFill/>
          </a:ln>
        </p:spPr>
        <p:txBody>
          <a:bodyPr wrap="square" lIns="0" tIns="0" rIns="0" bIns="0" anchor="t">
            <a:noAutofit/>
          </a:bodyPr>
          <a:lstStyle/>
          <a:p>
            <a:pPr algn="r">
              <a:spcBef>
                <a:spcPts val="0"/>
              </a:spcBef>
              <a:spcAft>
                <a:spcPts val="0"/>
              </a:spcAft>
            </a:pPr>
            <a:r>
              <a:rPr sz="825" b="0" i="0" u="none">
                <a:solidFill>
                  <a:srgbClr val="5B6B84"/>
                </a:solidFill>
                <a:latin typeface="Arial"/>
              </a:rPr>
              <a:t>23 / 29</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AFC"/>
        </a:solidFill>
        <a:effectLst/>
      </p:bgPr>
    </p:bg>
    <p:spTree>
      <p:nvGrpSpPr>
        <p:cNvPr id="1" name=""/>
        <p:cNvGrpSpPr/>
        <p:nvPr/>
      </p:nvGrpSpPr>
      <p:grpSpPr>
        <a:xfrm>
          <a:off x="0" y="0"/>
          <a:ext cx="0" cy="0"/>
          <a:chOff x="0" y="0"/>
          <a:chExt cx="0" cy="0"/>
        </a:xfrm>
      </p:grpSpPr>
      <p:sp>
        <p:nvSpPr>
          <p:cNvPr id="2" name="Section label"/>
          <p:cNvSpPr txBox="1"/>
          <p:nvPr/>
        </p:nvSpPr>
        <p:spPr>
          <a:xfrm>
            <a:off x="685800" y="685800"/>
            <a:ext cx="5905500" cy="247649"/>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1" i="0" u="none">
                <a:solidFill>
                  <a:srgbClr val="5B6B84"/>
                </a:solidFill>
                <a:latin typeface="Arial"/>
              </a:rPr>
              <a:t>WHAT SETS MEDICARE PRO APART</a:t>
            </a:r>
          </a:p>
        </p:txBody>
      </p:sp>
      <p:sp>
        <p:nvSpPr>
          <p:cNvPr id="3" name="Title accent"/>
          <p:cNvSpPr/>
          <p:nvPr/>
        </p:nvSpPr>
        <p:spPr>
          <a:xfrm>
            <a:off x="685800" y="1009650"/>
            <a:ext cx="419100" cy="38100"/>
          </a:xfrm>
          <a:prstGeom prst="rect">
            <a:avLst/>
          </a:prstGeom>
          <a:solidFill>
            <a:srgbClr val="0D9488"/>
          </a:solidFill>
          <a:ln>
            <a:noFill/>
          </a:ln>
        </p:spPr>
        <p:txBody>
          <a:bodyPr rtlCol="0" anchor="ctr"/>
          <a:lstStyle/>
          <a:p>
            <a:pPr algn="ctr"/>
            <a:endParaRPr/>
          </a:p>
        </p:txBody>
      </p:sp>
      <p:sp>
        <p:nvSpPr>
          <p:cNvPr id="4" name="Slide title"/>
          <p:cNvSpPr txBox="1"/>
          <p:nvPr/>
        </p:nvSpPr>
        <p:spPr>
          <a:xfrm>
            <a:off x="685800" y="1181100"/>
            <a:ext cx="10820400" cy="876300"/>
          </a:xfrm>
          <a:prstGeom prst="rect">
            <a:avLst/>
          </a:prstGeom>
          <a:noFill/>
          <a:ln>
            <a:noFill/>
          </a:ln>
        </p:spPr>
        <p:txBody>
          <a:bodyPr wrap="square" lIns="0" tIns="0" rIns="0" bIns="0" anchor="t">
            <a:noAutofit/>
          </a:bodyPr>
          <a:lstStyle/>
          <a:p>
            <a:pPr algn="l">
              <a:lnSpc>
                <a:spcPts val="3120"/>
              </a:lnSpc>
              <a:spcBef>
                <a:spcPts val="0"/>
              </a:spcBef>
              <a:spcAft>
                <a:spcPts val="0"/>
              </a:spcAft>
            </a:pPr>
            <a:r>
              <a:rPr sz="3000" b="1" i="0" u="none">
                <a:solidFill>
                  <a:srgbClr val="132238"/>
                </a:solidFill>
                <a:latin typeface="Arial"/>
              </a:rPr>
              <a:t>Project Strengths</a:t>
            </a:r>
          </a:p>
        </p:txBody>
      </p:sp>
      <p:sp>
        <p:nvSpPr>
          <p:cNvPr id="5" name="TextBox 4"/>
          <p:cNvSpPr txBox="1"/>
          <p:nvPr/>
        </p:nvSpPr>
        <p:spPr>
          <a:xfrm>
            <a:off x="685800" y="2152650"/>
            <a:ext cx="685800" cy="457200"/>
          </a:xfrm>
          <a:prstGeom prst="rect">
            <a:avLst/>
          </a:prstGeom>
          <a:noFill/>
          <a:ln>
            <a:noFill/>
          </a:ln>
        </p:spPr>
        <p:txBody>
          <a:bodyPr wrap="square" lIns="0" tIns="0" rIns="0" bIns="0" anchor="t">
            <a:noAutofit/>
          </a:bodyPr>
          <a:lstStyle/>
          <a:p>
            <a:pPr algn="l">
              <a:lnSpc>
                <a:spcPts val="3305"/>
              </a:lnSpc>
              <a:spcBef>
                <a:spcPts val="0"/>
              </a:spcBef>
              <a:spcAft>
                <a:spcPts val="0"/>
              </a:spcAft>
            </a:pPr>
            <a:r>
              <a:rPr sz="2850" b="1" i="0" u="none">
                <a:solidFill>
                  <a:srgbClr val="0D9488"/>
                </a:solidFill>
                <a:latin typeface="Arial"/>
              </a:rPr>
              <a:t>01</a:t>
            </a:r>
          </a:p>
        </p:txBody>
      </p:sp>
      <p:sp>
        <p:nvSpPr>
          <p:cNvPr id="6" name="TextBox 5"/>
          <p:cNvSpPr txBox="1"/>
          <p:nvPr/>
        </p:nvSpPr>
        <p:spPr>
          <a:xfrm>
            <a:off x="1600200" y="2133600"/>
            <a:ext cx="9906000" cy="438150"/>
          </a:xfrm>
          <a:prstGeom prst="rect">
            <a:avLst/>
          </a:prstGeom>
          <a:noFill/>
          <a:ln>
            <a:noFill/>
          </a:ln>
        </p:spPr>
        <p:txBody>
          <a:bodyPr wrap="square" lIns="0" tIns="0" rIns="0" bIns="0" anchor="t">
            <a:noAutofit/>
          </a:bodyPr>
          <a:lstStyle/>
          <a:p>
            <a:pPr algn="l">
              <a:lnSpc>
                <a:spcPts val="2268"/>
              </a:lnSpc>
              <a:spcBef>
                <a:spcPts val="0"/>
              </a:spcBef>
              <a:spcAft>
                <a:spcPts val="0"/>
              </a:spcAft>
            </a:pPr>
            <a:r>
              <a:rPr sz="2025" b="1" i="0" u="none">
                <a:solidFill>
                  <a:srgbClr val="132238"/>
                </a:solidFill>
                <a:latin typeface="Arial"/>
              </a:rPr>
              <a:t>Secure by design — JWT, bcrypt, and RBAC from day one.</a:t>
            </a:r>
          </a:p>
        </p:txBody>
      </p:sp>
      <p:cxnSp>
        <p:nvCxnSpPr>
          <p:cNvPr id="7" name="Connector 6"/>
          <p:cNvCxnSpPr/>
          <p:nvPr/>
        </p:nvCxnSpPr>
        <p:spPr>
          <a:xfrm>
            <a:off x="685800" y="2667000"/>
            <a:ext cx="10820400" cy="0"/>
          </a:xfrm>
          <a:prstGeom prst="line">
            <a:avLst/>
          </a:prstGeom>
          <a:ln w="9525">
            <a:solidFill>
              <a:srgbClr val="DCE3EE"/>
            </a:solidFill>
          </a:ln>
        </p:spPr>
      </p:cxnSp>
      <p:sp>
        <p:nvSpPr>
          <p:cNvPr id="8" name="TextBox 7"/>
          <p:cNvSpPr txBox="1"/>
          <p:nvPr/>
        </p:nvSpPr>
        <p:spPr>
          <a:xfrm>
            <a:off x="685800" y="2971800"/>
            <a:ext cx="685800" cy="457200"/>
          </a:xfrm>
          <a:prstGeom prst="rect">
            <a:avLst/>
          </a:prstGeom>
          <a:noFill/>
          <a:ln>
            <a:noFill/>
          </a:ln>
        </p:spPr>
        <p:txBody>
          <a:bodyPr wrap="square" lIns="0" tIns="0" rIns="0" bIns="0" anchor="t">
            <a:noAutofit/>
          </a:bodyPr>
          <a:lstStyle/>
          <a:p>
            <a:pPr algn="l">
              <a:lnSpc>
                <a:spcPts val="3305"/>
              </a:lnSpc>
              <a:spcBef>
                <a:spcPts val="0"/>
              </a:spcBef>
              <a:spcAft>
                <a:spcPts val="0"/>
              </a:spcAft>
            </a:pPr>
            <a:r>
              <a:rPr sz="2850" b="1" i="0" u="none">
                <a:solidFill>
                  <a:srgbClr val="0D9488"/>
                </a:solidFill>
                <a:latin typeface="Arial"/>
              </a:rPr>
              <a:t>02</a:t>
            </a:r>
          </a:p>
        </p:txBody>
      </p:sp>
      <p:sp>
        <p:nvSpPr>
          <p:cNvPr id="9" name="TextBox 8"/>
          <p:cNvSpPr txBox="1"/>
          <p:nvPr/>
        </p:nvSpPr>
        <p:spPr>
          <a:xfrm>
            <a:off x="1600200" y="2952750"/>
            <a:ext cx="9906000" cy="438150"/>
          </a:xfrm>
          <a:prstGeom prst="rect">
            <a:avLst/>
          </a:prstGeom>
          <a:noFill/>
          <a:ln>
            <a:noFill/>
          </a:ln>
        </p:spPr>
        <p:txBody>
          <a:bodyPr wrap="square" lIns="0" tIns="0" rIns="0" bIns="0" anchor="t">
            <a:noAutofit/>
          </a:bodyPr>
          <a:lstStyle/>
          <a:p>
            <a:pPr algn="l">
              <a:lnSpc>
                <a:spcPts val="2268"/>
              </a:lnSpc>
              <a:spcBef>
                <a:spcPts val="0"/>
              </a:spcBef>
              <a:spcAft>
                <a:spcPts val="0"/>
              </a:spcAft>
            </a:pPr>
            <a:r>
              <a:rPr sz="2025" b="0" i="0" u="none">
                <a:solidFill>
                  <a:srgbClr val="132238"/>
                </a:solidFill>
                <a:latin typeface="Arial"/>
              </a:rPr>
              <a:t>A true multi-role platform with three dashboards.</a:t>
            </a:r>
          </a:p>
        </p:txBody>
      </p:sp>
      <p:cxnSp>
        <p:nvCxnSpPr>
          <p:cNvPr id="10" name="Connector 9"/>
          <p:cNvCxnSpPr/>
          <p:nvPr/>
        </p:nvCxnSpPr>
        <p:spPr>
          <a:xfrm>
            <a:off x="685800" y="3486150"/>
            <a:ext cx="10820400" cy="0"/>
          </a:xfrm>
          <a:prstGeom prst="line">
            <a:avLst/>
          </a:prstGeom>
          <a:ln w="9525">
            <a:solidFill>
              <a:srgbClr val="DCE3EE"/>
            </a:solidFill>
          </a:ln>
        </p:spPr>
      </p:cxnSp>
      <p:sp>
        <p:nvSpPr>
          <p:cNvPr id="11" name="TextBox 10"/>
          <p:cNvSpPr txBox="1"/>
          <p:nvPr/>
        </p:nvSpPr>
        <p:spPr>
          <a:xfrm>
            <a:off x="685800" y="3790949"/>
            <a:ext cx="685800" cy="457200"/>
          </a:xfrm>
          <a:prstGeom prst="rect">
            <a:avLst/>
          </a:prstGeom>
          <a:noFill/>
          <a:ln>
            <a:noFill/>
          </a:ln>
        </p:spPr>
        <p:txBody>
          <a:bodyPr wrap="square" lIns="0" tIns="0" rIns="0" bIns="0" anchor="t">
            <a:noAutofit/>
          </a:bodyPr>
          <a:lstStyle/>
          <a:p>
            <a:pPr algn="l">
              <a:lnSpc>
                <a:spcPts val="3305"/>
              </a:lnSpc>
              <a:spcBef>
                <a:spcPts val="0"/>
              </a:spcBef>
              <a:spcAft>
                <a:spcPts val="0"/>
              </a:spcAft>
            </a:pPr>
            <a:r>
              <a:rPr sz="2850" b="1" i="0" u="none">
                <a:solidFill>
                  <a:srgbClr val="0D9488"/>
                </a:solidFill>
                <a:latin typeface="Arial"/>
              </a:rPr>
              <a:t>03</a:t>
            </a:r>
          </a:p>
        </p:txBody>
      </p:sp>
      <p:sp>
        <p:nvSpPr>
          <p:cNvPr id="12" name="TextBox 11"/>
          <p:cNvSpPr txBox="1"/>
          <p:nvPr/>
        </p:nvSpPr>
        <p:spPr>
          <a:xfrm>
            <a:off x="1600200" y="3771900"/>
            <a:ext cx="9906000" cy="438150"/>
          </a:xfrm>
          <a:prstGeom prst="rect">
            <a:avLst/>
          </a:prstGeom>
          <a:noFill/>
          <a:ln>
            <a:noFill/>
          </a:ln>
        </p:spPr>
        <p:txBody>
          <a:bodyPr wrap="square" lIns="0" tIns="0" rIns="0" bIns="0" anchor="t">
            <a:noAutofit/>
          </a:bodyPr>
          <a:lstStyle/>
          <a:p>
            <a:pPr algn="l">
              <a:lnSpc>
                <a:spcPts val="2268"/>
              </a:lnSpc>
              <a:spcBef>
                <a:spcPts val="0"/>
              </a:spcBef>
              <a:spcAft>
                <a:spcPts val="0"/>
              </a:spcAft>
            </a:pPr>
            <a:r>
              <a:rPr sz="2025" b="0" i="0" u="none">
                <a:solidFill>
                  <a:srgbClr val="132238"/>
                </a:solidFill>
                <a:latin typeface="Arial"/>
              </a:rPr>
              <a:t>Smart scheduling plus a live revenue analytics dashboard.</a:t>
            </a:r>
          </a:p>
        </p:txBody>
      </p:sp>
      <p:cxnSp>
        <p:nvCxnSpPr>
          <p:cNvPr id="13" name="Connector 12"/>
          <p:cNvCxnSpPr/>
          <p:nvPr/>
        </p:nvCxnSpPr>
        <p:spPr>
          <a:xfrm>
            <a:off x="685800" y="4305300"/>
            <a:ext cx="10820400" cy="0"/>
          </a:xfrm>
          <a:prstGeom prst="line">
            <a:avLst/>
          </a:prstGeom>
          <a:ln w="9525">
            <a:solidFill>
              <a:srgbClr val="DCE3EE"/>
            </a:solidFill>
          </a:ln>
        </p:spPr>
      </p:cxnSp>
      <p:sp>
        <p:nvSpPr>
          <p:cNvPr id="14" name="TextBox 13"/>
          <p:cNvSpPr txBox="1"/>
          <p:nvPr/>
        </p:nvSpPr>
        <p:spPr>
          <a:xfrm>
            <a:off x="685800" y="4610100"/>
            <a:ext cx="685800" cy="457200"/>
          </a:xfrm>
          <a:prstGeom prst="rect">
            <a:avLst/>
          </a:prstGeom>
          <a:noFill/>
          <a:ln>
            <a:noFill/>
          </a:ln>
        </p:spPr>
        <p:txBody>
          <a:bodyPr wrap="square" lIns="0" tIns="0" rIns="0" bIns="0" anchor="t">
            <a:noAutofit/>
          </a:bodyPr>
          <a:lstStyle/>
          <a:p>
            <a:pPr algn="l">
              <a:lnSpc>
                <a:spcPts val="3305"/>
              </a:lnSpc>
              <a:spcBef>
                <a:spcPts val="0"/>
              </a:spcBef>
              <a:spcAft>
                <a:spcPts val="0"/>
              </a:spcAft>
            </a:pPr>
            <a:r>
              <a:rPr sz="2850" b="1" i="0" u="none">
                <a:solidFill>
                  <a:srgbClr val="0D9488"/>
                </a:solidFill>
                <a:latin typeface="Arial"/>
              </a:rPr>
              <a:t>04</a:t>
            </a:r>
          </a:p>
        </p:txBody>
      </p:sp>
      <p:sp>
        <p:nvSpPr>
          <p:cNvPr id="15" name="TextBox 14"/>
          <p:cNvSpPr txBox="1"/>
          <p:nvPr/>
        </p:nvSpPr>
        <p:spPr>
          <a:xfrm>
            <a:off x="1600200" y="4591050"/>
            <a:ext cx="9906000" cy="438150"/>
          </a:xfrm>
          <a:prstGeom prst="rect">
            <a:avLst/>
          </a:prstGeom>
          <a:noFill/>
          <a:ln>
            <a:noFill/>
          </a:ln>
        </p:spPr>
        <p:txBody>
          <a:bodyPr wrap="square" lIns="0" tIns="0" rIns="0" bIns="0" anchor="t">
            <a:noAutofit/>
          </a:bodyPr>
          <a:lstStyle/>
          <a:p>
            <a:pPr algn="l">
              <a:lnSpc>
                <a:spcPts val="2268"/>
              </a:lnSpc>
              <a:spcBef>
                <a:spcPts val="0"/>
              </a:spcBef>
              <a:spcAft>
                <a:spcPts val="0"/>
              </a:spcAft>
            </a:pPr>
            <a:r>
              <a:rPr sz="2025" b="0" i="0" u="none">
                <a:solidFill>
                  <a:srgbClr val="132238"/>
                </a:solidFill>
                <a:latin typeface="Arial"/>
              </a:rPr>
              <a:t>A modern stack — React, Vite, Node.js, and SQL Server.</a:t>
            </a:r>
          </a:p>
        </p:txBody>
      </p:sp>
      <p:sp>
        <p:nvSpPr>
          <p:cNvPr id="16" name="Page number"/>
          <p:cNvSpPr txBox="1"/>
          <p:nvPr/>
        </p:nvSpPr>
        <p:spPr>
          <a:xfrm>
            <a:off x="10934700" y="6477000"/>
            <a:ext cx="571500" cy="190500"/>
          </a:xfrm>
          <a:prstGeom prst="rect">
            <a:avLst/>
          </a:prstGeom>
          <a:noFill/>
          <a:ln>
            <a:noFill/>
          </a:ln>
        </p:spPr>
        <p:txBody>
          <a:bodyPr wrap="square" lIns="0" tIns="0" rIns="0" bIns="0" anchor="t">
            <a:noAutofit/>
          </a:bodyPr>
          <a:lstStyle/>
          <a:p>
            <a:pPr algn="r">
              <a:spcBef>
                <a:spcPts val="0"/>
              </a:spcBef>
              <a:spcAft>
                <a:spcPts val="0"/>
              </a:spcAft>
            </a:pPr>
            <a:r>
              <a:rPr sz="825" b="0" i="0" u="none">
                <a:solidFill>
                  <a:srgbClr val="5B6B84"/>
                </a:solidFill>
                <a:latin typeface="Arial"/>
              </a:rPr>
              <a:t>24 / 29</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Section label"/>
          <p:cNvSpPr txBox="1"/>
          <p:nvPr/>
        </p:nvSpPr>
        <p:spPr>
          <a:xfrm>
            <a:off x="685800" y="685800"/>
            <a:ext cx="5905500" cy="247649"/>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1" i="0" u="none">
                <a:solidFill>
                  <a:srgbClr val="93A3B8"/>
                </a:solidFill>
                <a:latin typeface="Arial"/>
              </a:rPr>
              <a:t>PLANNED FEATURES FOR THE NEXT DEVELOPMENT PHASE</a:t>
            </a:r>
          </a:p>
        </p:txBody>
      </p:sp>
      <p:sp>
        <p:nvSpPr>
          <p:cNvPr id="3" name="Title accent"/>
          <p:cNvSpPr/>
          <p:nvPr/>
        </p:nvSpPr>
        <p:spPr>
          <a:xfrm>
            <a:off x="685800" y="1009650"/>
            <a:ext cx="419100" cy="38100"/>
          </a:xfrm>
          <a:prstGeom prst="rect">
            <a:avLst/>
          </a:prstGeom>
          <a:solidFill>
            <a:srgbClr val="2DD4BF"/>
          </a:solidFill>
          <a:ln>
            <a:noFill/>
          </a:ln>
        </p:spPr>
        <p:txBody>
          <a:bodyPr rtlCol="0" anchor="ctr"/>
          <a:lstStyle/>
          <a:p>
            <a:pPr algn="ctr"/>
            <a:endParaRPr/>
          </a:p>
        </p:txBody>
      </p:sp>
      <p:sp>
        <p:nvSpPr>
          <p:cNvPr id="4" name="Slide title"/>
          <p:cNvSpPr txBox="1"/>
          <p:nvPr/>
        </p:nvSpPr>
        <p:spPr>
          <a:xfrm>
            <a:off x="685800" y="1181100"/>
            <a:ext cx="10820400" cy="876300"/>
          </a:xfrm>
          <a:prstGeom prst="rect">
            <a:avLst/>
          </a:prstGeom>
          <a:noFill/>
          <a:ln>
            <a:noFill/>
          </a:ln>
        </p:spPr>
        <p:txBody>
          <a:bodyPr wrap="square" lIns="0" tIns="0" rIns="0" bIns="0" anchor="t">
            <a:noAutofit/>
          </a:bodyPr>
          <a:lstStyle/>
          <a:p>
            <a:pPr algn="l">
              <a:lnSpc>
                <a:spcPts val="3276"/>
              </a:lnSpc>
              <a:spcBef>
                <a:spcPts val="0"/>
              </a:spcBef>
              <a:spcAft>
                <a:spcPts val="0"/>
              </a:spcAft>
            </a:pPr>
            <a:r>
              <a:rPr sz="3150" b="1" i="0" u="none">
                <a:solidFill>
                  <a:srgbClr val="F3F6FA"/>
                </a:solidFill>
                <a:latin typeface="Arial"/>
              </a:rPr>
              <a:t>Future Enhancements</a:t>
            </a:r>
          </a:p>
        </p:txBody>
      </p:sp>
      <p:sp>
        <p:nvSpPr>
          <p:cNvPr id="5" name="TextBox 4"/>
          <p:cNvSpPr txBox="1"/>
          <p:nvPr/>
        </p:nvSpPr>
        <p:spPr>
          <a:xfrm>
            <a:off x="685800" y="2247900"/>
            <a:ext cx="514350" cy="285750"/>
          </a:xfrm>
          <a:prstGeom prst="rect">
            <a:avLst/>
          </a:prstGeom>
          <a:noFill/>
          <a:ln>
            <a:noFill/>
          </a:ln>
        </p:spPr>
        <p:txBody>
          <a:bodyPr wrap="square" lIns="0" tIns="0" rIns="0" bIns="0" anchor="t">
            <a:noAutofit/>
          </a:bodyPr>
          <a:lstStyle/>
          <a:p>
            <a:pPr algn="l">
              <a:lnSpc>
                <a:spcPts val="1739"/>
              </a:lnSpc>
              <a:spcBef>
                <a:spcPts val="0"/>
              </a:spcBef>
              <a:spcAft>
                <a:spcPts val="0"/>
              </a:spcAft>
            </a:pPr>
            <a:r>
              <a:rPr sz="1500" b="1" i="0" u="none">
                <a:solidFill>
                  <a:srgbClr val="2DD4BF"/>
                </a:solidFill>
                <a:latin typeface="Arial"/>
              </a:rPr>
              <a:t>01</a:t>
            </a:r>
          </a:p>
        </p:txBody>
      </p:sp>
      <p:sp>
        <p:nvSpPr>
          <p:cNvPr id="6" name="TextBox 5"/>
          <p:cNvSpPr txBox="1"/>
          <p:nvPr/>
        </p:nvSpPr>
        <p:spPr>
          <a:xfrm>
            <a:off x="1276350" y="2228850"/>
            <a:ext cx="3810000" cy="323850"/>
          </a:xfrm>
          <a:prstGeom prst="rect">
            <a:avLst/>
          </a:prstGeom>
          <a:noFill/>
          <a:ln>
            <a:noFill/>
          </a:ln>
        </p:spPr>
        <p:txBody>
          <a:bodyPr wrap="square" lIns="0" tIns="0" rIns="0" bIns="0" anchor="t">
            <a:noAutofit/>
          </a:bodyPr>
          <a:lstStyle/>
          <a:p>
            <a:pPr algn="l">
              <a:lnSpc>
                <a:spcPts val="2261"/>
              </a:lnSpc>
              <a:spcBef>
                <a:spcPts val="0"/>
              </a:spcBef>
              <a:spcAft>
                <a:spcPts val="0"/>
              </a:spcAft>
            </a:pPr>
            <a:r>
              <a:rPr sz="1950" b="1" i="0" u="none">
                <a:solidFill>
                  <a:srgbClr val="F3F6FA"/>
                </a:solidFill>
                <a:latin typeface="Arial"/>
              </a:rPr>
              <a:t>Coming Next</a:t>
            </a:r>
          </a:p>
        </p:txBody>
      </p:sp>
      <p:cxnSp>
        <p:nvCxnSpPr>
          <p:cNvPr id="7" name="Connector 6"/>
          <p:cNvCxnSpPr/>
          <p:nvPr/>
        </p:nvCxnSpPr>
        <p:spPr>
          <a:xfrm>
            <a:off x="685800" y="2781300"/>
            <a:ext cx="5086350" cy="0"/>
          </a:xfrm>
          <a:prstGeom prst="line">
            <a:avLst/>
          </a:prstGeom>
          <a:ln w="9525">
            <a:solidFill>
              <a:srgbClr val="28334A"/>
            </a:solidFill>
          </a:ln>
        </p:spPr>
      </p:cxnSp>
      <p:sp>
        <p:nvSpPr>
          <p:cNvPr id="8" name="TextBox 7"/>
          <p:cNvSpPr txBox="1"/>
          <p:nvPr/>
        </p:nvSpPr>
        <p:spPr>
          <a:xfrm>
            <a:off x="685800" y="2971800"/>
            <a:ext cx="5086350" cy="2286000"/>
          </a:xfrm>
          <a:prstGeom prst="rect">
            <a:avLst/>
          </a:prstGeom>
          <a:noFill/>
          <a:ln>
            <a:noFill/>
          </a:ln>
        </p:spPr>
        <p:txBody>
          <a:bodyPr wrap="square" lIns="0" tIns="0" rIns="0" bIns="0" anchor="t">
            <a:noAutofit/>
          </a:bodyPr>
          <a:lstStyle/>
          <a:p>
            <a:pPr algn="l">
              <a:lnSpc>
                <a:spcPts val="2204"/>
              </a:lnSpc>
              <a:spcBef>
                <a:spcPts val="0"/>
              </a:spcBef>
              <a:spcAft>
                <a:spcPts val="0"/>
              </a:spcAft>
            </a:pPr>
            <a:r>
              <a:rPr sz="1575" b="0" i="0" u="none" dirty="0">
                <a:solidFill>
                  <a:srgbClr val="93A3B8"/>
                </a:solidFill>
                <a:latin typeface="Arial"/>
              </a:rPr>
              <a:t>Doctor–Patient Chat  — real-time messaging between doctors and patients.
Video Consultation — real-time teleconsultation for remote visits.
Notifications — email &amp; SMS alerts for appointment reminders.</a:t>
            </a:r>
          </a:p>
        </p:txBody>
      </p:sp>
      <p:sp>
        <p:nvSpPr>
          <p:cNvPr id="9" name="TextBox 8"/>
          <p:cNvSpPr txBox="1"/>
          <p:nvPr/>
        </p:nvSpPr>
        <p:spPr>
          <a:xfrm>
            <a:off x="6191250" y="2247900"/>
            <a:ext cx="514350" cy="285750"/>
          </a:xfrm>
          <a:prstGeom prst="rect">
            <a:avLst/>
          </a:prstGeom>
          <a:noFill/>
          <a:ln>
            <a:noFill/>
          </a:ln>
        </p:spPr>
        <p:txBody>
          <a:bodyPr wrap="square" lIns="0" tIns="0" rIns="0" bIns="0" anchor="t">
            <a:noAutofit/>
          </a:bodyPr>
          <a:lstStyle/>
          <a:p>
            <a:pPr algn="l">
              <a:lnSpc>
                <a:spcPts val="1739"/>
              </a:lnSpc>
              <a:spcBef>
                <a:spcPts val="0"/>
              </a:spcBef>
              <a:spcAft>
                <a:spcPts val="0"/>
              </a:spcAft>
            </a:pPr>
            <a:r>
              <a:rPr sz="1500" b="1" i="0" u="none">
                <a:solidFill>
                  <a:srgbClr val="2DD4BF"/>
                </a:solidFill>
                <a:latin typeface="Arial"/>
              </a:rPr>
              <a:t>02</a:t>
            </a:r>
          </a:p>
        </p:txBody>
      </p:sp>
      <p:sp>
        <p:nvSpPr>
          <p:cNvPr id="10" name="TextBox 9"/>
          <p:cNvSpPr txBox="1"/>
          <p:nvPr/>
        </p:nvSpPr>
        <p:spPr>
          <a:xfrm>
            <a:off x="6781800" y="2228850"/>
            <a:ext cx="3810000" cy="323850"/>
          </a:xfrm>
          <a:prstGeom prst="rect">
            <a:avLst/>
          </a:prstGeom>
          <a:noFill/>
          <a:ln>
            <a:noFill/>
          </a:ln>
        </p:spPr>
        <p:txBody>
          <a:bodyPr wrap="square" lIns="0" tIns="0" rIns="0" bIns="0" anchor="t">
            <a:noAutofit/>
          </a:bodyPr>
          <a:lstStyle/>
          <a:p>
            <a:pPr algn="l">
              <a:lnSpc>
                <a:spcPts val="2261"/>
              </a:lnSpc>
              <a:spcBef>
                <a:spcPts val="0"/>
              </a:spcBef>
              <a:spcAft>
                <a:spcPts val="0"/>
              </a:spcAft>
            </a:pPr>
            <a:r>
              <a:rPr sz="1950" b="1" i="0" u="none">
                <a:solidFill>
                  <a:srgbClr val="F3F6FA"/>
                </a:solidFill>
                <a:latin typeface="Arial"/>
              </a:rPr>
              <a:t>On the Roadmap</a:t>
            </a:r>
          </a:p>
        </p:txBody>
      </p:sp>
      <p:cxnSp>
        <p:nvCxnSpPr>
          <p:cNvPr id="11" name="Connector 10"/>
          <p:cNvCxnSpPr/>
          <p:nvPr/>
        </p:nvCxnSpPr>
        <p:spPr>
          <a:xfrm>
            <a:off x="6191250" y="2781300"/>
            <a:ext cx="5086350" cy="0"/>
          </a:xfrm>
          <a:prstGeom prst="line">
            <a:avLst/>
          </a:prstGeom>
          <a:ln w="9525">
            <a:solidFill>
              <a:srgbClr val="28334A"/>
            </a:solidFill>
          </a:ln>
        </p:spPr>
      </p:cxnSp>
      <p:sp>
        <p:nvSpPr>
          <p:cNvPr id="12" name="TextBox 11"/>
          <p:cNvSpPr txBox="1"/>
          <p:nvPr/>
        </p:nvSpPr>
        <p:spPr>
          <a:xfrm>
            <a:off x="6191250" y="2971800"/>
            <a:ext cx="5086350" cy="2286000"/>
          </a:xfrm>
          <a:prstGeom prst="rect">
            <a:avLst/>
          </a:prstGeom>
          <a:noFill/>
          <a:ln>
            <a:noFill/>
          </a:ln>
        </p:spPr>
        <p:txBody>
          <a:bodyPr wrap="square" lIns="0" tIns="0" rIns="0" bIns="0" anchor="t">
            <a:noAutofit/>
          </a:bodyPr>
          <a:lstStyle/>
          <a:p>
            <a:pPr algn="l">
              <a:lnSpc>
                <a:spcPts val="2204"/>
              </a:lnSpc>
              <a:spcBef>
                <a:spcPts val="0"/>
              </a:spcBef>
              <a:spcAft>
                <a:spcPts val="0"/>
              </a:spcAft>
            </a:pPr>
            <a:r>
              <a:rPr sz="1575" b="0" i="0" u="none">
                <a:solidFill>
                  <a:srgbClr val="93A3B8"/>
                </a:solidFill>
                <a:latin typeface="Arial"/>
              </a:rPr>
              <a:t>AI Doctor Matching — smart doctor suggestions based on symptoms &amp; history.
Medical Records — digital health records and prescription management.
Mobile Application — native iOS &amp; Android apps for on-the-go access.</a:t>
            </a:r>
          </a:p>
        </p:txBody>
      </p:sp>
      <p:sp>
        <p:nvSpPr>
          <p:cNvPr id="13" name="Page number"/>
          <p:cNvSpPr txBox="1"/>
          <p:nvPr/>
        </p:nvSpPr>
        <p:spPr>
          <a:xfrm>
            <a:off x="10934700" y="6477000"/>
            <a:ext cx="571500" cy="190500"/>
          </a:xfrm>
          <a:prstGeom prst="rect">
            <a:avLst/>
          </a:prstGeom>
          <a:noFill/>
          <a:ln>
            <a:noFill/>
          </a:ln>
        </p:spPr>
        <p:txBody>
          <a:bodyPr wrap="square" lIns="0" tIns="0" rIns="0" bIns="0" anchor="t">
            <a:noAutofit/>
          </a:bodyPr>
          <a:lstStyle/>
          <a:p>
            <a:pPr algn="r">
              <a:spcBef>
                <a:spcPts val="0"/>
              </a:spcBef>
              <a:spcAft>
                <a:spcPts val="0"/>
              </a:spcAft>
            </a:pPr>
            <a:r>
              <a:rPr sz="825" b="0" i="0" u="none">
                <a:solidFill>
                  <a:srgbClr val="93A3B8"/>
                </a:solidFill>
                <a:latin typeface="Arial"/>
              </a:rPr>
              <a:t>25 / 29</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AFC"/>
        </a:solidFill>
        <a:effectLst/>
      </p:bgPr>
    </p:bg>
    <p:spTree>
      <p:nvGrpSpPr>
        <p:cNvPr id="1" name=""/>
        <p:cNvGrpSpPr/>
        <p:nvPr/>
      </p:nvGrpSpPr>
      <p:grpSpPr>
        <a:xfrm>
          <a:off x="0" y="0"/>
          <a:ext cx="0" cy="0"/>
          <a:chOff x="0" y="0"/>
          <a:chExt cx="0" cy="0"/>
        </a:xfrm>
      </p:grpSpPr>
      <p:sp>
        <p:nvSpPr>
          <p:cNvPr id="2" name="Section label"/>
          <p:cNvSpPr txBox="1"/>
          <p:nvPr/>
        </p:nvSpPr>
        <p:spPr>
          <a:xfrm>
            <a:off x="685800" y="685800"/>
            <a:ext cx="5905500" cy="247649"/>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1" i="0" u="none">
                <a:solidFill>
                  <a:srgbClr val="5B6B84"/>
                </a:solidFill>
                <a:latin typeface="Arial"/>
              </a:rPr>
              <a:t>THE PEOPLE BEHIND MEDICARE PRO</a:t>
            </a:r>
          </a:p>
        </p:txBody>
      </p:sp>
      <p:sp>
        <p:nvSpPr>
          <p:cNvPr id="3" name="Title accent"/>
          <p:cNvSpPr/>
          <p:nvPr/>
        </p:nvSpPr>
        <p:spPr>
          <a:xfrm>
            <a:off x="685800" y="1009650"/>
            <a:ext cx="419100" cy="38100"/>
          </a:xfrm>
          <a:prstGeom prst="rect">
            <a:avLst/>
          </a:prstGeom>
          <a:solidFill>
            <a:srgbClr val="0D9488"/>
          </a:solidFill>
          <a:ln>
            <a:noFill/>
          </a:ln>
        </p:spPr>
        <p:txBody>
          <a:bodyPr rtlCol="0" anchor="ctr"/>
          <a:lstStyle/>
          <a:p>
            <a:pPr algn="ctr"/>
            <a:endParaRPr/>
          </a:p>
        </p:txBody>
      </p:sp>
      <p:sp>
        <p:nvSpPr>
          <p:cNvPr id="4" name="Slide title"/>
          <p:cNvSpPr txBox="1"/>
          <p:nvPr/>
        </p:nvSpPr>
        <p:spPr>
          <a:xfrm>
            <a:off x="685800" y="1181100"/>
            <a:ext cx="10820400" cy="876300"/>
          </a:xfrm>
          <a:prstGeom prst="rect">
            <a:avLst/>
          </a:prstGeom>
          <a:noFill/>
          <a:ln>
            <a:noFill/>
          </a:ln>
        </p:spPr>
        <p:txBody>
          <a:bodyPr wrap="square" lIns="0" tIns="0" rIns="0" bIns="0" anchor="t">
            <a:noAutofit/>
          </a:bodyPr>
          <a:lstStyle/>
          <a:p>
            <a:pPr algn="l">
              <a:lnSpc>
                <a:spcPts val="3120"/>
              </a:lnSpc>
              <a:spcBef>
                <a:spcPts val="0"/>
              </a:spcBef>
              <a:spcAft>
                <a:spcPts val="0"/>
              </a:spcAft>
            </a:pPr>
            <a:r>
              <a:rPr sz="3000" b="1" i="0" u="none">
                <a:solidFill>
                  <a:srgbClr val="132238"/>
                </a:solidFill>
                <a:latin typeface="Arial"/>
              </a:rPr>
              <a:t>Team Contributions</a:t>
            </a:r>
          </a:p>
        </p:txBody>
      </p:sp>
      <p:sp>
        <p:nvSpPr>
          <p:cNvPr id="5" name="TextBox 4"/>
          <p:cNvSpPr txBox="1"/>
          <p:nvPr/>
        </p:nvSpPr>
        <p:spPr>
          <a:xfrm>
            <a:off x="685800" y="2381250"/>
            <a:ext cx="4953000" cy="1809750"/>
          </a:xfrm>
          <a:prstGeom prst="rect">
            <a:avLst/>
          </a:prstGeom>
          <a:noFill/>
          <a:ln>
            <a:noFill/>
          </a:ln>
        </p:spPr>
        <p:txBody>
          <a:bodyPr wrap="square" lIns="0" tIns="0" rIns="0" bIns="0" anchor="t">
            <a:noAutofit/>
          </a:bodyPr>
          <a:lstStyle/>
          <a:p>
            <a:pPr algn="l">
              <a:lnSpc>
                <a:spcPts val="4131"/>
              </a:lnSpc>
              <a:spcBef>
                <a:spcPts val="0"/>
              </a:spcBef>
              <a:spcAft>
                <a:spcPts val="0"/>
              </a:spcAft>
            </a:pPr>
            <a:r>
              <a:rPr sz="4050" b="1" i="0" u="none">
                <a:solidFill>
                  <a:srgbClr val="132238"/>
                </a:solidFill>
                <a:latin typeface="Arial"/>
              </a:rPr>
              <a:t>Four builders, one full-stack product.</a:t>
            </a:r>
          </a:p>
        </p:txBody>
      </p:sp>
      <p:sp>
        <p:nvSpPr>
          <p:cNvPr id="6" name="TextBox 5"/>
          <p:cNvSpPr txBox="1"/>
          <p:nvPr/>
        </p:nvSpPr>
        <p:spPr>
          <a:xfrm>
            <a:off x="685800" y="4305300"/>
            <a:ext cx="4762500" cy="609600"/>
          </a:xfrm>
          <a:prstGeom prst="rect">
            <a:avLst/>
          </a:prstGeom>
          <a:noFill/>
          <a:ln>
            <a:noFill/>
          </a:ln>
        </p:spPr>
        <p:txBody>
          <a:bodyPr wrap="square" lIns="0" tIns="0" rIns="0" bIns="0" anchor="t">
            <a:noAutofit/>
          </a:bodyPr>
          <a:lstStyle/>
          <a:p>
            <a:pPr algn="l">
              <a:lnSpc>
                <a:spcPts val="2025"/>
              </a:lnSpc>
              <a:spcBef>
                <a:spcPts val="0"/>
              </a:spcBef>
              <a:spcAft>
                <a:spcPts val="0"/>
              </a:spcAft>
            </a:pPr>
            <a:r>
              <a:rPr sz="1500" b="0" i="0" u="none">
                <a:solidFill>
                  <a:srgbClr val="5B6B84"/>
                </a:solidFill>
                <a:latin typeface="Arial"/>
              </a:rPr>
              <a:t>Each member owned a distinct layer of the platform end to end.</a:t>
            </a:r>
          </a:p>
        </p:txBody>
      </p:sp>
      <p:sp>
        <p:nvSpPr>
          <p:cNvPr id="7" name="Section label"/>
          <p:cNvSpPr txBox="1"/>
          <p:nvPr/>
        </p:nvSpPr>
        <p:spPr>
          <a:xfrm>
            <a:off x="6191250" y="2381250"/>
            <a:ext cx="2857500" cy="171450"/>
          </a:xfrm>
          <a:prstGeom prst="rect">
            <a:avLst/>
          </a:prstGeom>
          <a:noFill/>
          <a:ln>
            <a:noFill/>
          </a:ln>
        </p:spPr>
        <p:txBody>
          <a:bodyPr wrap="square" lIns="0" tIns="0" rIns="0" bIns="0" anchor="t">
            <a:noAutofit/>
          </a:bodyPr>
          <a:lstStyle/>
          <a:p>
            <a:pPr algn="l">
              <a:lnSpc>
                <a:spcPts val="1130"/>
              </a:lnSpc>
              <a:spcBef>
                <a:spcPts val="0"/>
              </a:spcBef>
              <a:spcAft>
                <a:spcPts val="0"/>
              </a:spcAft>
            </a:pPr>
            <a:r>
              <a:rPr sz="975" b="1" i="0" u="none">
                <a:solidFill>
                  <a:srgbClr val="0D9488"/>
                </a:solidFill>
                <a:latin typeface="Arial"/>
              </a:rPr>
              <a:t>AHMED BAKR</a:t>
            </a:r>
          </a:p>
        </p:txBody>
      </p:sp>
      <p:sp>
        <p:nvSpPr>
          <p:cNvPr id="8" name="TextBox 7"/>
          <p:cNvSpPr txBox="1"/>
          <p:nvPr/>
        </p:nvSpPr>
        <p:spPr>
          <a:xfrm>
            <a:off x="6191250" y="2628900"/>
            <a:ext cx="5314950" cy="571500"/>
          </a:xfrm>
          <a:prstGeom prst="rect">
            <a:avLst/>
          </a:prstGeom>
          <a:noFill/>
          <a:ln>
            <a:noFill/>
          </a:ln>
        </p:spPr>
        <p:txBody>
          <a:bodyPr wrap="square" lIns="0" tIns="0" rIns="0" bIns="0" anchor="t">
            <a:noAutofit/>
          </a:bodyPr>
          <a:lstStyle/>
          <a:p>
            <a:pPr algn="l">
              <a:lnSpc>
                <a:spcPts val="2047"/>
              </a:lnSpc>
              <a:spcBef>
                <a:spcPts val="0"/>
              </a:spcBef>
              <a:spcAft>
                <a:spcPts val="0"/>
              </a:spcAft>
            </a:pPr>
            <a:r>
              <a:rPr sz="1575" b="1" i="0" u="none">
                <a:solidFill>
                  <a:srgbClr val="132238"/>
                </a:solidFill>
                <a:latin typeface="Arial"/>
              </a:rPr>
              <a:t>Patient &amp; doctor experience — dashboards, booking flow, and profile management.</a:t>
            </a:r>
          </a:p>
        </p:txBody>
      </p:sp>
      <p:cxnSp>
        <p:nvCxnSpPr>
          <p:cNvPr id="9" name="Connector 8"/>
          <p:cNvCxnSpPr/>
          <p:nvPr/>
        </p:nvCxnSpPr>
        <p:spPr>
          <a:xfrm>
            <a:off x="6191250" y="3238500"/>
            <a:ext cx="5314950" cy="0"/>
          </a:xfrm>
          <a:prstGeom prst="line">
            <a:avLst/>
          </a:prstGeom>
          <a:ln w="9525">
            <a:solidFill>
              <a:srgbClr val="DCE3EE"/>
            </a:solidFill>
          </a:ln>
        </p:spPr>
      </p:cxnSp>
      <p:sp>
        <p:nvSpPr>
          <p:cNvPr id="10" name="Section label"/>
          <p:cNvSpPr txBox="1"/>
          <p:nvPr/>
        </p:nvSpPr>
        <p:spPr>
          <a:xfrm>
            <a:off x="6191250" y="3371850"/>
            <a:ext cx="2857500" cy="171450"/>
          </a:xfrm>
          <a:prstGeom prst="rect">
            <a:avLst/>
          </a:prstGeom>
          <a:noFill/>
          <a:ln>
            <a:noFill/>
          </a:ln>
        </p:spPr>
        <p:txBody>
          <a:bodyPr wrap="square" lIns="0" tIns="0" rIns="0" bIns="0" anchor="t">
            <a:noAutofit/>
          </a:bodyPr>
          <a:lstStyle/>
          <a:p>
            <a:pPr algn="l">
              <a:lnSpc>
                <a:spcPts val="1130"/>
              </a:lnSpc>
              <a:spcBef>
                <a:spcPts val="0"/>
              </a:spcBef>
              <a:spcAft>
                <a:spcPts val="0"/>
              </a:spcAft>
            </a:pPr>
            <a:r>
              <a:rPr sz="975" b="1" i="0" u="none">
                <a:solidFill>
                  <a:srgbClr val="0D9488"/>
                </a:solidFill>
                <a:latin typeface="Arial"/>
              </a:rPr>
              <a:t>AHMED SABRY</a:t>
            </a:r>
          </a:p>
        </p:txBody>
      </p:sp>
      <p:sp>
        <p:nvSpPr>
          <p:cNvPr id="11" name="TextBox 10"/>
          <p:cNvSpPr txBox="1"/>
          <p:nvPr/>
        </p:nvSpPr>
        <p:spPr>
          <a:xfrm>
            <a:off x="6191250" y="3619500"/>
            <a:ext cx="5314950" cy="571500"/>
          </a:xfrm>
          <a:prstGeom prst="rect">
            <a:avLst/>
          </a:prstGeom>
          <a:noFill/>
          <a:ln>
            <a:noFill/>
          </a:ln>
        </p:spPr>
        <p:txBody>
          <a:bodyPr wrap="square" lIns="0" tIns="0" rIns="0" bIns="0" anchor="t">
            <a:noAutofit/>
          </a:bodyPr>
          <a:lstStyle/>
          <a:p>
            <a:pPr algn="l">
              <a:lnSpc>
                <a:spcPts val="2047"/>
              </a:lnSpc>
              <a:spcBef>
                <a:spcPts val="0"/>
              </a:spcBef>
              <a:spcAft>
                <a:spcPts val="0"/>
              </a:spcAft>
            </a:pPr>
            <a:r>
              <a:rPr sz="1575" b="1" i="0" u="none">
                <a:solidFill>
                  <a:srgbClr val="132238"/>
                </a:solidFill>
                <a:latin typeface="Arial"/>
              </a:rPr>
              <a:t>Backend architecture — REST APIs, SQL Server schema, and stored procedures.</a:t>
            </a:r>
          </a:p>
        </p:txBody>
      </p:sp>
      <p:cxnSp>
        <p:nvCxnSpPr>
          <p:cNvPr id="12" name="Connector 11"/>
          <p:cNvCxnSpPr/>
          <p:nvPr/>
        </p:nvCxnSpPr>
        <p:spPr>
          <a:xfrm>
            <a:off x="6191250" y="4229100"/>
            <a:ext cx="5314950" cy="0"/>
          </a:xfrm>
          <a:prstGeom prst="line">
            <a:avLst/>
          </a:prstGeom>
          <a:ln w="9525">
            <a:solidFill>
              <a:srgbClr val="DCE3EE"/>
            </a:solidFill>
          </a:ln>
        </p:spPr>
      </p:cxnSp>
      <p:sp>
        <p:nvSpPr>
          <p:cNvPr id="13" name="Section label"/>
          <p:cNvSpPr txBox="1"/>
          <p:nvPr/>
        </p:nvSpPr>
        <p:spPr>
          <a:xfrm>
            <a:off x="6191250" y="4362450"/>
            <a:ext cx="2857500" cy="171450"/>
          </a:xfrm>
          <a:prstGeom prst="rect">
            <a:avLst/>
          </a:prstGeom>
          <a:noFill/>
          <a:ln>
            <a:noFill/>
          </a:ln>
        </p:spPr>
        <p:txBody>
          <a:bodyPr wrap="square" lIns="0" tIns="0" rIns="0" bIns="0" anchor="t">
            <a:noAutofit/>
          </a:bodyPr>
          <a:lstStyle/>
          <a:p>
            <a:pPr algn="l">
              <a:lnSpc>
                <a:spcPts val="1130"/>
              </a:lnSpc>
              <a:spcBef>
                <a:spcPts val="0"/>
              </a:spcBef>
              <a:spcAft>
                <a:spcPts val="0"/>
              </a:spcAft>
            </a:pPr>
            <a:r>
              <a:rPr sz="975" b="1" i="0" u="none">
                <a:solidFill>
                  <a:srgbClr val="0D9488"/>
                </a:solidFill>
                <a:latin typeface="Arial"/>
              </a:rPr>
              <a:t>IBRAHIM MOHAMED</a:t>
            </a:r>
          </a:p>
        </p:txBody>
      </p:sp>
      <p:sp>
        <p:nvSpPr>
          <p:cNvPr id="14" name="TextBox 13"/>
          <p:cNvSpPr txBox="1"/>
          <p:nvPr/>
        </p:nvSpPr>
        <p:spPr>
          <a:xfrm>
            <a:off x="6191250" y="4610100"/>
            <a:ext cx="5314950" cy="571500"/>
          </a:xfrm>
          <a:prstGeom prst="rect">
            <a:avLst/>
          </a:prstGeom>
          <a:noFill/>
          <a:ln>
            <a:noFill/>
          </a:ln>
        </p:spPr>
        <p:txBody>
          <a:bodyPr wrap="square" lIns="0" tIns="0" rIns="0" bIns="0" anchor="t">
            <a:noAutofit/>
          </a:bodyPr>
          <a:lstStyle/>
          <a:p>
            <a:pPr algn="l">
              <a:lnSpc>
                <a:spcPts val="2047"/>
              </a:lnSpc>
              <a:spcBef>
                <a:spcPts val="0"/>
              </a:spcBef>
              <a:spcAft>
                <a:spcPts val="0"/>
              </a:spcAft>
            </a:pPr>
            <a:r>
              <a:rPr sz="1575" b="1" i="0" u="none">
                <a:solidFill>
                  <a:srgbClr val="132238"/>
                </a:solidFill>
                <a:latin typeface="Arial"/>
              </a:rPr>
              <a:t>Admin platform — analytics dashboard, revenue tracking, and Stripe integration.</a:t>
            </a:r>
          </a:p>
        </p:txBody>
      </p:sp>
      <p:cxnSp>
        <p:nvCxnSpPr>
          <p:cNvPr id="15" name="Connector 14"/>
          <p:cNvCxnSpPr/>
          <p:nvPr/>
        </p:nvCxnSpPr>
        <p:spPr>
          <a:xfrm>
            <a:off x="6191250" y="5219700"/>
            <a:ext cx="5314950" cy="0"/>
          </a:xfrm>
          <a:prstGeom prst="line">
            <a:avLst/>
          </a:prstGeom>
          <a:ln w="9525">
            <a:solidFill>
              <a:srgbClr val="DCE3EE"/>
            </a:solidFill>
          </a:ln>
        </p:spPr>
      </p:cxnSp>
      <p:sp>
        <p:nvSpPr>
          <p:cNvPr id="16" name="Section label"/>
          <p:cNvSpPr txBox="1"/>
          <p:nvPr/>
        </p:nvSpPr>
        <p:spPr>
          <a:xfrm>
            <a:off x="6191250" y="5353050"/>
            <a:ext cx="2857500" cy="171450"/>
          </a:xfrm>
          <a:prstGeom prst="rect">
            <a:avLst/>
          </a:prstGeom>
          <a:noFill/>
          <a:ln>
            <a:noFill/>
          </a:ln>
        </p:spPr>
        <p:txBody>
          <a:bodyPr wrap="square" lIns="0" tIns="0" rIns="0" bIns="0" anchor="t">
            <a:noAutofit/>
          </a:bodyPr>
          <a:lstStyle/>
          <a:p>
            <a:pPr algn="l">
              <a:lnSpc>
                <a:spcPts val="1130"/>
              </a:lnSpc>
              <a:spcBef>
                <a:spcPts val="0"/>
              </a:spcBef>
              <a:spcAft>
                <a:spcPts val="0"/>
              </a:spcAft>
            </a:pPr>
            <a:r>
              <a:rPr sz="975" b="1" i="0" u="none">
                <a:solidFill>
                  <a:srgbClr val="0D9488"/>
                </a:solidFill>
                <a:latin typeface="Arial"/>
              </a:rPr>
              <a:t>AHMED HANY</a:t>
            </a:r>
          </a:p>
        </p:txBody>
      </p:sp>
      <p:sp>
        <p:nvSpPr>
          <p:cNvPr id="17" name="TextBox 16"/>
          <p:cNvSpPr txBox="1"/>
          <p:nvPr/>
        </p:nvSpPr>
        <p:spPr>
          <a:xfrm>
            <a:off x="6191250" y="5600700"/>
            <a:ext cx="5314950" cy="571500"/>
          </a:xfrm>
          <a:prstGeom prst="rect">
            <a:avLst/>
          </a:prstGeom>
          <a:noFill/>
          <a:ln>
            <a:noFill/>
          </a:ln>
        </p:spPr>
        <p:txBody>
          <a:bodyPr wrap="square" lIns="0" tIns="0" rIns="0" bIns="0" anchor="t">
            <a:noAutofit/>
          </a:bodyPr>
          <a:lstStyle/>
          <a:p>
            <a:pPr algn="l">
              <a:lnSpc>
                <a:spcPts val="2047"/>
              </a:lnSpc>
              <a:spcBef>
                <a:spcPts val="0"/>
              </a:spcBef>
              <a:spcAft>
                <a:spcPts val="0"/>
              </a:spcAft>
            </a:pPr>
            <a:r>
              <a:rPr sz="1575" b="1" i="0" u="none">
                <a:solidFill>
                  <a:srgbClr val="132238"/>
                </a:solidFill>
                <a:latin typeface="Arial"/>
              </a:rPr>
              <a:t>Frontend systems — UI/UX design, reusable components, and quality assurance.</a:t>
            </a:r>
          </a:p>
        </p:txBody>
      </p:sp>
      <p:sp>
        <p:nvSpPr>
          <p:cNvPr id="18" name="Page number"/>
          <p:cNvSpPr txBox="1"/>
          <p:nvPr/>
        </p:nvSpPr>
        <p:spPr>
          <a:xfrm>
            <a:off x="10934700" y="6477000"/>
            <a:ext cx="571500" cy="190500"/>
          </a:xfrm>
          <a:prstGeom prst="rect">
            <a:avLst/>
          </a:prstGeom>
          <a:noFill/>
          <a:ln>
            <a:noFill/>
          </a:ln>
        </p:spPr>
        <p:txBody>
          <a:bodyPr wrap="square" lIns="0" tIns="0" rIns="0" bIns="0" anchor="t">
            <a:noAutofit/>
          </a:bodyPr>
          <a:lstStyle/>
          <a:p>
            <a:pPr algn="r">
              <a:spcBef>
                <a:spcPts val="0"/>
              </a:spcBef>
              <a:spcAft>
                <a:spcPts val="0"/>
              </a:spcAft>
            </a:pPr>
            <a:r>
              <a:rPr sz="825" b="0" i="0" u="none">
                <a:solidFill>
                  <a:srgbClr val="5B6B84"/>
                </a:solidFill>
                <a:latin typeface="Arial"/>
              </a:rPr>
              <a:t>26 / 29</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7FAFC"/>
        </a:solidFill>
        <a:effectLst/>
      </p:bgPr>
    </p:bg>
    <p:spTree>
      <p:nvGrpSpPr>
        <p:cNvPr id="1" name=""/>
        <p:cNvGrpSpPr/>
        <p:nvPr/>
      </p:nvGrpSpPr>
      <p:grpSpPr>
        <a:xfrm>
          <a:off x="0" y="0"/>
          <a:ext cx="0" cy="0"/>
          <a:chOff x="0" y="0"/>
          <a:chExt cx="0" cy="0"/>
        </a:xfrm>
      </p:grpSpPr>
      <p:sp>
        <p:nvSpPr>
          <p:cNvPr id="2" name="Section label"/>
          <p:cNvSpPr txBox="1"/>
          <p:nvPr/>
        </p:nvSpPr>
        <p:spPr>
          <a:xfrm>
            <a:off x="685800" y="685800"/>
            <a:ext cx="5905500" cy="247649"/>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1" i="0" u="none">
                <a:solidFill>
                  <a:srgbClr val="5B6B84"/>
                </a:solidFill>
                <a:latin typeface="Arial"/>
              </a:rPr>
              <a:t>WHAT WE ACCOMPLISHED</a:t>
            </a:r>
          </a:p>
        </p:txBody>
      </p:sp>
      <p:sp>
        <p:nvSpPr>
          <p:cNvPr id="3" name="Title accent"/>
          <p:cNvSpPr/>
          <p:nvPr/>
        </p:nvSpPr>
        <p:spPr>
          <a:xfrm>
            <a:off x="685800" y="1009650"/>
            <a:ext cx="419100" cy="38100"/>
          </a:xfrm>
          <a:prstGeom prst="rect">
            <a:avLst/>
          </a:prstGeom>
          <a:solidFill>
            <a:srgbClr val="0D9488"/>
          </a:solidFill>
          <a:ln>
            <a:noFill/>
          </a:ln>
        </p:spPr>
        <p:txBody>
          <a:bodyPr rtlCol="0" anchor="ctr"/>
          <a:lstStyle/>
          <a:p>
            <a:pPr algn="ctr"/>
            <a:endParaRPr/>
          </a:p>
        </p:txBody>
      </p:sp>
      <p:sp>
        <p:nvSpPr>
          <p:cNvPr id="4" name="Slide title"/>
          <p:cNvSpPr txBox="1"/>
          <p:nvPr/>
        </p:nvSpPr>
        <p:spPr>
          <a:xfrm>
            <a:off x="685800" y="1181100"/>
            <a:ext cx="10820400" cy="876300"/>
          </a:xfrm>
          <a:prstGeom prst="rect">
            <a:avLst/>
          </a:prstGeom>
          <a:noFill/>
          <a:ln>
            <a:noFill/>
          </a:ln>
        </p:spPr>
        <p:txBody>
          <a:bodyPr wrap="square" lIns="0" tIns="0" rIns="0" bIns="0" anchor="t">
            <a:noAutofit/>
          </a:bodyPr>
          <a:lstStyle/>
          <a:p>
            <a:pPr algn="l">
              <a:lnSpc>
                <a:spcPts val="3276"/>
              </a:lnSpc>
              <a:spcBef>
                <a:spcPts val="0"/>
              </a:spcBef>
              <a:spcAft>
                <a:spcPts val="0"/>
              </a:spcAft>
            </a:pPr>
            <a:r>
              <a:rPr sz="3150" b="1" i="0" u="none">
                <a:solidFill>
                  <a:srgbClr val="132238"/>
                </a:solidFill>
                <a:latin typeface="Arial"/>
              </a:rPr>
              <a:t>Conclusion</a:t>
            </a:r>
          </a:p>
        </p:txBody>
      </p:sp>
      <p:sp>
        <p:nvSpPr>
          <p:cNvPr id="5" name="TextBox 4"/>
          <p:cNvSpPr txBox="1"/>
          <p:nvPr/>
        </p:nvSpPr>
        <p:spPr>
          <a:xfrm>
            <a:off x="685800" y="2247900"/>
            <a:ext cx="514350" cy="285750"/>
          </a:xfrm>
          <a:prstGeom prst="rect">
            <a:avLst/>
          </a:prstGeom>
          <a:noFill/>
          <a:ln>
            <a:noFill/>
          </a:ln>
        </p:spPr>
        <p:txBody>
          <a:bodyPr wrap="square" lIns="0" tIns="0" rIns="0" bIns="0" anchor="t">
            <a:noAutofit/>
          </a:bodyPr>
          <a:lstStyle/>
          <a:p>
            <a:pPr algn="l">
              <a:lnSpc>
                <a:spcPts val="1739"/>
              </a:lnSpc>
              <a:spcBef>
                <a:spcPts val="0"/>
              </a:spcBef>
              <a:spcAft>
                <a:spcPts val="0"/>
              </a:spcAft>
            </a:pPr>
            <a:r>
              <a:rPr sz="1500" b="1" i="0" u="none">
                <a:solidFill>
                  <a:srgbClr val="0D9488"/>
                </a:solidFill>
                <a:latin typeface="Arial"/>
              </a:rPr>
              <a:t>01</a:t>
            </a:r>
          </a:p>
        </p:txBody>
      </p:sp>
      <p:sp>
        <p:nvSpPr>
          <p:cNvPr id="6" name="TextBox 5"/>
          <p:cNvSpPr txBox="1"/>
          <p:nvPr/>
        </p:nvSpPr>
        <p:spPr>
          <a:xfrm>
            <a:off x="1276350" y="2228850"/>
            <a:ext cx="3810000" cy="323850"/>
          </a:xfrm>
          <a:prstGeom prst="rect">
            <a:avLst/>
          </a:prstGeom>
          <a:noFill/>
          <a:ln>
            <a:noFill/>
          </a:ln>
        </p:spPr>
        <p:txBody>
          <a:bodyPr wrap="square" lIns="0" tIns="0" rIns="0" bIns="0" anchor="t">
            <a:noAutofit/>
          </a:bodyPr>
          <a:lstStyle/>
          <a:p>
            <a:pPr algn="l">
              <a:lnSpc>
                <a:spcPts val="2261"/>
              </a:lnSpc>
              <a:spcBef>
                <a:spcPts val="0"/>
              </a:spcBef>
              <a:spcAft>
                <a:spcPts val="0"/>
              </a:spcAft>
            </a:pPr>
            <a:r>
              <a:rPr sz="1950" b="1" i="0" u="none">
                <a:solidFill>
                  <a:srgbClr val="132238"/>
                </a:solidFill>
                <a:latin typeface="Arial"/>
              </a:rPr>
              <a:t>Platform Capabilities</a:t>
            </a:r>
          </a:p>
        </p:txBody>
      </p:sp>
      <p:cxnSp>
        <p:nvCxnSpPr>
          <p:cNvPr id="7" name="Connector 6"/>
          <p:cNvCxnSpPr/>
          <p:nvPr/>
        </p:nvCxnSpPr>
        <p:spPr>
          <a:xfrm>
            <a:off x="685800" y="2781300"/>
            <a:ext cx="5086350" cy="0"/>
          </a:xfrm>
          <a:prstGeom prst="line">
            <a:avLst/>
          </a:prstGeom>
          <a:ln w="9525">
            <a:solidFill>
              <a:srgbClr val="DCE3EE"/>
            </a:solidFill>
          </a:ln>
        </p:spPr>
      </p:cxnSp>
      <p:sp>
        <p:nvSpPr>
          <p:cNvPr id="8" name="TextBox 7"/>
          <p:cNvSpPr txBox="1"/>
          <p:nvPr/>
        </p:nvSpPr>
        <p:spPr>
          <a:xfrm>
            <a:off x="685800" y="2971800"/>
            <a:ext cx="5086350" cy="2286000"/>
          </a:xfrm>
          <a:prstGeom prst="rect">
            <a:avLst/>
          </a:prstGeom>
          <a:noFill/>
          <a:ln>
            <a:noFill/>
          </a:ln>
        </p:spPr>
        <p:txBody>
          <a:bodyPr wrap="square" lIns="0" tIns="0" rIns="0" bIns="0" anchor="t">
            <a:noAutofit/>
          </a:bodyPr>
          <a:lstStyle/>
          <a:p>
            <a:pPr algn="l">
              <a:lnSpc>
                <a:spcPts val="2204"/>
              </a:lnSpc>
              <a:spcBef>
                <a:spcPts val="0"/>
              </a:spcBef>
              <a:spcAft>
                <a:spcPts val="0"/>
              </a:spcAft>
            </a:pPr>
            <a:r>
              <a:rPr sz="1575" b="0" i="0" u="none">
                <a:solidFill>
                  <a:srgbClr val="5B6B84"/>
                </a:solidFill>
                <a:latin typeface="Arial"/>
              </a:rPr>
              <a:t>✓ Multi-Role Healthcare Platform
✓ Secure Authentication
✓ Role-Based Access Control
✓ Appointment Conflict Prevention</a:t>
            </a:r>
          </a:p>
        </p:txBody>
      </p:sp>
      <p:sp>
        <p:nvSpPr>
          <p:cNvPr id="9" name="TextBox 8"/>
          <p:cNvSpPr txBox="1"/>
          <p:nvPr/>
        </p:nvSpPr>
        <p:spPr>
          <a:xfrm>
            <a:off x="6191250" y="2247900"/>
            <a:ext cx="514350" cy="285750"/>
          </a:xfrm>
          <a:prstGeom prst="rect">
            <a:avLst/>
          </a:prstGeom>
          <a:noFill/>
          <a:ln>
            <a:noFill/>
          </a:ln>
        </p:spPr>
        <p:txBody>
          <a:bodyPr wrap="square" lIns="0" tIns="0" rIns="0" bIns="0" anchor="t">
            <a:noAutofit/>
          </a:bodyPr>
          <a:lstStyle/>
          <a:p>
            <a:pPr algn="l">
              <a:lnSpc>
                <a:spcPts val="1739"/>
              </a:lnSpc>
              <a:spcBef>
                <a:spcPts val="0"/>
              </a:spcBef>
              <a:spcAft>
                <a:spcPts val="0"/>
              </a:spcAft>
            </a:pPr>
            <a:r>
              <a:rPr sz="1500" b="1" i="0" u="none">
                <a:solidFill>
                  <a:srgbClr val="0D9488"/>
                </a:solidFill>
                <a:latin typeface="Arial"/>
              </a:rPr>
              <a:t>02</a:t>
            </a:r>
          </a:p>
        </p:txBody>
      </p:sp>
      <p:sp>
        <p:nvSpPr>
          <p:cNvPr id="10" name="TextBox 9"/>
          <p:cNvSpPr txBox="1"/>
          <p:nvPr/>
        </p:nvSpPr>
        <p:spPr>
          <a:xfrm>
            <a:off x="6781800" y="2228850"/>
            <a:ext cx="3810000" cy="323850"/>
          </a:xfrm>
          <a:prstGeom prst="rect">
            <a:avLst/>
          </a:prstGeom>
          <a:noFill/>
          <a:ln>
            <a:noFill/>
          </a:ln>
        </p:spPr>
        <p:txBody>
          <a:bodyPr wrap="square" lIns="0" tIns="0" rIns="0" bIns="0" anchor="t">
            <a:noAutofit/>
          </a:bodyPr>
          <a:lstStyle/>
          <a:p>
            <a:pPr algn="l">
              <a:lnSpc>
                <a:spcPts val="2261"/>
              </a:lnSpc>
              <a:spcBef>
                <a:spcPts val="0"/>
              </a:spcBef>
              <a:spcAft>
                <a:spcPts val="0"/>
              </a:spcAft>
            </a:pPr>
            <a:r>
              <a:rPr sz="1950" b="1" i="0" u="none">
                <a:solidFill>
                  <a:srgbClr val="132238"/>
                </a:solidFill>
                <a:latin typeface="Arial"/>
              </a:rPr>
              <a:t>Business &amp; Experience Wins</a:t>
            </a:r>
          </a:p>
        </p:txBody>
      </p:sp>
      <p:cxnSp>
        <p:nvCxnSpPr>
          <p:cNvPr id="11" name="Connector 10"/>
          <p:cNvCxnSpPr/>
          <p:nvPr/>
        </p:nvCxnSpPr>
        <p:spPr>
          <a:xfrm>
            <a:off x="6191250" y="2781300"/>
            <a:ext cx="5086350" cy="0"/>
          </a:xfrm>
          <a:prstGeom prst="line">
            <a:avLst/>
          </a:prstGeom>
          <a:ln w="9525">
            <a:solidFill>
              <a:srgbClr val="DCE3EE"/>
            </a:solidFill>
          </a:ln>
        </p:spPr>
      </p:cxnSp>
      <p:sp>
        <p:nvSpPr>
          <p:cNvPr id="12" name="TextBox 11"/>
          <p:cNvSpPr txBox="1"/>
          <p:nvPr/>
        </p:nvSpPr>
        <p:spPr>
          <a:xfrm>
            <a:off x="6191250" y="2971800"/>
            <a:ext cx="5086350" cy="2286000"/>
          </a:xfrm>
          <a:prstGeom prst="rect">
            <a:avLst/>
          </a:prstGeom>
          <a:noFill/>
          <a:ln>
            <a:noFill/>
          </a:ln>
        </p:spPr>
        <p:txBody>
          <a:bodyPr wrap="square" lIns="0" tIns="0" rIns="0" bIns="0" anchor="t">
            <a:noAutofit/>
          </a:bodyPr>
          <a:lstStyle/>
          <a:p>
            <a:pPr algn="l">
              <a:lnSpc>
                <a:spcPts val="2204"/>
              </a:lnSpc>
              <a:spcBef>
                <a:spcPts val="0"/>
              </a:spcBef>
              <a:spcAft>
                <a:spcPts val="0"/>
              </a:spcAft>
            </a:pPr>
            <a:r>
              <a:rPr sz="1575" b="0" i="0" u="none">
                <a:solidFill>
                  <a:srgbClr val="5B6B84"/>
                </a:solidFill>
                <a:latin typeface="Arial"/>
              </a:rPr>
              <a:t>✓ Stripe Payment Integration
✓ Automatic Refund System
✓ Smart Appointment Scheduling
✓ Analytics Dashboard
✓ Responsive UI</a:t>
            </a:r>
          </a:p>
        </p:txBody>
      </p:sp>
      <p:sp>
        <p:nvSpPr>
          <p:cNvPr id="13" name="Page number"/>
          <p:cNvSpPr txBox="1"/>
          <p:nvPr/>
        </p:nvSpPr>
        <p:spPr>
          <a:xfrm>
            <a:off x="10934700" y="6477000"/>
            <a:ext cx="571500" cy="190500"/>
          </a:xfrm>
          <a:prstGeom prst="rect">
            <a:avLst/>
          </a:prstGeom>
          <a:noFill/>
          <a:ln>
            <a:noFill/>
          </a:ln>
        </p:spPr>
        <p:txBody>
          <a:bodyPr wrap="square" lIns="0" tIns="0" rIns="0" bIns="0" anchor="t">
            <a:noAutofit/>
          </a:bodyPr>
          <a:lstStyle/>
          <a:p>
            <a:pPr algn="r">
              <a:spcBef>
                <a:spcPts val="0"/>
              </a:spcBef>
              <a:spcAft>
                <a:spcPts val="0"/>
              </a:spcAft>
            </a:pPr>
            <a:r>
              <a:rPr sz="825" b="0" i="0" u="none">
                <a:solidFill>
                  <a:srgbClr val="5B6B84"/>
                </a:solidFill>
                <a:latin typeface="Arial"/>
              </a:rPr>
              <a:t>27 / 29</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Section label"/>
          <p:cNvSpPr txBox="1"/>
          <p:nvPr/>
        </p:nvSpPr>
        <p:spPr>
          <a:xfrm>
            <a:off x="685800" y="685800"/>
            <a:ext cx="9525000" cy="247649"/>
          </a:xfrm>
          <a:prstGeom prst="rect">
            <a:avLst/>
          </a:prstGeom>
          <a:noFill/>
          <a:ln>
            <a:noFill/>
          </a:ln>
        </p:spPr>
        <p:txBody>
          <a:bodyPr wrap="square" lIns="0" tIns="0" rIns="0" bIns="0" anchor="t">
            <a:noAutofit/>
          </a:bodyPr>
          <a:lstStyle/>
          <a:p>
            <a:pPr algn="l">
              <a:lnSpc>
                <a:spcPts val="1218"/>
              </a:lnSpc>
              <a:spcBef>
                <a:spcPts val="0"/>
              </a:spcBef>
              <a:spcAft>
                <a:spcPts val="0"/>
              </a:spcAft>
            </a:pPr>
            <a:r>
              <a:rPr sz="1050" b="1" i="0" u="none">
                <a:solidFill>
                  <a:srgbClr val="93A3B8"/>
                </a:solidFill>
                <a:latin typeface="Arial"/>
              </a:rPr>
              <a:t>PRESENTATION COMMITTEE WALKTHROUGH</a:t>
            </a:r>
          </a:p>
        </p:txBody>
      </p:sp>
      <p:sp>
        <p:nvSpPr>
          <p:cNvPr id="3" name="Title accent"/>
          <p:cNvSpPr/>
          <p:nvPr/>
        </p:nvSpPr>
        <p:spPr>
          <a:xfrm>
            <a:off x="685800" y="1009650"/>
            <a:ext cx="419100" cy="38100"/>
          </a:xfrm>
          <a:prstGeom prst="rect">
            <a:avLst/>
          </a:prstGeom>
          <a:solidFill>
            <a:srgbClr val="2DD4BF"/>
          </a:solidFill>
          <a:ln>
            <a:noFill/>
          </a:ln>
        </p:spPr>
        <p:txBody>
          <a:bodyPr rtlCol="0" anchor="ctr"/>
          <a:lstStyle/>
          <a:p>
            <a:pPr algn="ctr"/>
            <a:endParaRPr/>
          </a:p>
        </p:txBody>
      </p:sp>
      <p:sp>
        <p:nvSpPr>
          <p:cNvPr id="4" name="Slide title"/>
          <p:cNvSpPr txBox="1"/>
          <p:nvPr/>
        </p:nvSpPr>
        <p:spPr>
          <a:xfrm>
            <a:off x="685800" y="1181100"/>
            <a:ext cx="10820400" cy="876300"/>
          </a:xfrm>
          <a:prstGeom prst="rect">
            <a:avLst/>
          </a:prstGeom>
          <a:noFill/>
          <a:ln>
            <a:noFill/>
          </a:ln>
        </p:spPr>
        <p:txBody>
          <a:bodyPr wrap="square" lIns="0" tIns="0" rIns="0" bIns="0" anchor="t">
            <a:noAutofit/>
          </a:bodyPr>
          <a:lstStyle/>
          <a:p>
            <a:pPr algn="l">
              <a:lnSpc>
                <a:spcPts val="3120"/>
              </a:lnSpc>
              <a:spcBef>
                <a:spcPts val="0"/>
              </a:spcBef>
              <a:spcAft>
                <a:spcPts val="0"/>
              </a:spcAft>
            </a:pPr>
            <a:r>
              <a:rPr sz="3000" b="1" i="0" u="none">
                <a:solidFill>
                  <a:srgbClr val="F3F6FA"/>
                </a:solidFill>
                <a:latin typeface="Arial"/>
              </a:rPr>
              <a:t>Live Demo</a:t>
            </a:r>
          </a:p>
        </p:txBody>
      </p:sp>
      <p:sp>
        <p:nvSpPr>
          <p:cNvPr id="5" name="Live demo intro"/>
          <p:cNvSpPr txBox="1"/>
          <p:nvPr/>
        </p:nvSpPr>
        <p:spPr>
          <a:xfrm>
            <a:off x="685800" y="2133600"/>
            <a:ext cx="10820400" cy="285750"/>
          </a:xfrm>
          <a:prstGeom prst="rect">
            <a:avLst/>
          </a:prstGeom>
          <a:noFill/>
          <a:ln>
            <a:noFill/>
          </a:ln>
        </p:spPr>
        <p:txBody>
          <a:bodyPr wrap="square" lIns="0" tIns="0" rIns="0" bIns="0" anchor="t">
            <a:noAutofit/>
          </a:bodyPr>
          <a:lstStyle/>
          <a:p>
            <a:pPr algn="l">
              <a:lnSpc>
                <a:spcPts val="1391"/>
              </a:lnSpc>
              <a:spcBef>
                <a:spcPts val="0"/>
              </a:spcBef>
              <a:spcAft>
                <a:spcPts val="0"/>
              </a:spcAft>
            </a:pPr>
            <a:r>
              <a:rPr sz="1200" b="0" i="0" u="none">
                <a:solidFill>
                  <a:srgbClr val="93A3B8"/>
                </a:solidFill>
                <a:latin typeface="Arial"/>
              </a:rPr>
              <a:t>A single continuous journey across all three roles, demonstrated live end to end.</a:t>
            </a:r>
          </a:p>
        </p:txBody>
      </p:sp>
      <p:sp>
        <p:nvSpPr>
          <p:cNvPr id="6" name="Patient Login box"/>
          <p:cNvSpPr/>
          <p:nvPr/>
        </p:nvSpPr>
        <p:spPr>
          <a:xfrm>
            <a:off x="685800" y="2552700"/>
            <a:ext cx="1809750" cy="590550"/>
          </a:xfrm>
          <a:prstGeom prst="roundRect">
            <a:avLst>
              <a:gd name="adj" fmla="val 19354"/>
            </a:avLst>
          </a:prstGeom>
          <a:solidFill>
            <a:srgbClr val="141C2E"/>
          </a:solidFill>
          <a:ln w="14287">
            <a:solidFill>
              <a:srgbClr val="28334A"/>
            </a:solidFill>
          </a:ln>
        </p:spPr>
        <p:txBody>
          <a:bodyPr rtlCol="0" anchor="ctr"/>
          <a:lstStyle/>
          <a:p>
            <a:pPr algn="ctr"/>
            <a:endParaRPr/>
          </a:p>
        </p:txBody>
      </p:sp>
      <p:sp>
        <p:nvSpPr>
          <p:cNvPr id="7" name="Patient Login label"/>
          <p:cNvSpPr txBox="1"/>
          <p:nvPr/>
        </p:nvSpPr>
        <p:spPr>
          <a:xfrm>
            <a:off x="762000" y="2743200"/>
            <a:ext cx="1657350" cy="209550"/>
          </a:xfrm>
          <a:prstGeom prst="rect">
            <a:avLst/>
          </a:prstGeom>
          <a:noFill/>
          <a:ln>
            <a:noFill/>
          </a:ln>
        </p:spPr>
        <p:txBody>
          <a:bodyPr wrap="square" lIns="0" tIns="0" rIns="0" bIns="0" anchor="t">
            <a:noAutofit/>
          </a:bodyPr>
          <a:lstStyle/>
          <a:p>
            <a:pPr algn="ctr">
              <a:lnSpc>
                <a:spcPts val="1155"/>
              </a:lnSpc>
              <a:spcBef>
                <a:spcPts val="0"/>
              </a:spcBef>
              <a:spcAft>
                <a:spcPts val="0"/>
              </a:spcAft>
            </a:pPr>
            <a:r>
              <a:rPr sz="1050" b="1" i="0" u="none">
                <a:solidFill>
                  <a:srgbClr val="F3F6FA"/>
                </a:solidFill>
                <a:latin typeface="Arial"/>
              </a:rPr>
              <a:t>Patient Login</a:t>
            </a:r>
          </a:p>
        </p:txBody>
      </p:sp>
      <p:cxnSp>
        <p:nvCxnSpPr>
          <p:cNvPr id="8" name="Connector"/>
          <p:cNvCxnSpPr/>
          <p:nvPr/>
        </p:nvCxnSpPr>
        <p:spPr>
          <a:xfrm>
            <a:off x="2495550" y="2847975"/>
            <a:ext cx="442912" cy="0"/>
          </a:xfrm>
          <a:prstGeom prst="line">
            <a:avLst/>
          </a:prstGeom>
          <a:ln w="19050">
            <a:solidFill>
              <a:srgbClr val="2DD4BF"/>
            </a:solidFill>
            <a:tailEnd type="triangle"/>
          </a:ln>
        </p:spPr>
      </p:cxnSp>
      <p:sp>
        <p:nvSpPr>
          <p:cNvPr id="9" name="Doctor Search box"/>
          <p:cNvSpPr/>
          <p:nvPr/>
        </p:nvSpPr>
        <p:spPr>
          <a:xfrm>
            <a:off x="2938462" y="2552700"/>
            <a:ext cx="1809750" cy="590550"/>
          </a:xfrm>
          <a:prstGeom prst="roundRect">
            <a:avLst>
              <a:gd name="adj" fmla="val 19354"/>
            </a:avLst>
          </a:prstGeom>
          <a:solidFill>
            <a:srgbClr val="141C2E"/>
          </a:solidFill>
          <a:ln w="14287">
            <a:solidFill>
              <a:srgbClr val="28334A"/>
            </a:solidFill>
          </a:ln>
        </p:spPr>
        <p:txBody>
          <a:bodyPr rtlCol="0" anchor="ctr"/>
          <a:lstStyle/>
          <a:p>
            <a:pPr algn="ctr"/>
            <a:endParaRPr/>
          </a:p>
        </p:txBody>
      </p:sp>
      <p:sp>
        <p:nvSpPr>
          <p:cNvPr id="10" name="Doctor Search label"/>
          <p:cNvSpPr txBox="1"/>
          <p:nvPr/>
        </p:nvSpPr>
        <p:spPr>
          <a:xfrm>
            <a:off x="3014662" y="2743200"/>
            <a:ext cx="1657350" cy="209550"/>
          </a:xfrm>
          <a:prstGeom prst="rect">
            <a:avLst/>
          </a:prstGeom>
          <a:noFill/>
          <a:ln>
            <a:noFill/>
          </a:ln>
        </p:spPr>
        <p:txBody>
          <a:bodyPr wrap="square" lIns="0" tIns="0" rIns="0" bIns="0" anchor="t">
            <a:noAutofit/>
          </a:bodyPr>
          <a:lstStyle/>
          <a:p>
            <a:pPr algn="ctr">
              <a:lnSpc>
                <a:spcPts val="1155"/>
              </a:lnSpc>
              <a:spcBef>
                <a:spcPts val="0"/>
              </a:spcBef>
              <a:spcAft>
                <a:spcPts val="0"/>
              </a:spcAft>
            </a:pPr>
            <a:r>
              <a:rPr sz="1050" b="1" i="0" u="none">
                <a:solidFill>
                  <a:srgbClr val="F3F6FA"/>
                </a:solidFill>
                <a:latin typeface="Arial"/>
              </a:rPr>
              <a:t>Doctor Search</a:t>
            </a:r>
          </a:p>
        </p:txBody>
      </p:sp>
      <p:cxnSp>
        <p:nvCxnSpPr>
          <p:cNvPr id="11" name="Connector"/>
          <p:cNvCxnSpPr/>
          <p:nvPr/>
        </p:nvCxnSpPr>
        <p:spPr>
          <a:xfrm>
            <a:off x="4748212" y="2847975"/>
            <a:ext cx="442913" cy="0"/>
          </a:xfrm>
          <a:prstGeom prst="line">
            <a:avLst/>
          </a:prstGeom>
          <a:ln w="19050">
            <a:solidFill>
              <a:srgbClr val="2DD4BF"/>
            </a:solidFill>
            <a:tailEnd type="triangle"/>
          </a:ln>
        </p:spPr>
      </p:cxnSp>
      <p:sp>
        <p:nvSpPr>
          <p:cNvPr id="12" name="Book Appointment box"/>
          <p:cNvSpPr/>
          <p:nvPr/>
        </p:nvSpPr>
        <p:spPr>
          <a:xfrm>
            <a:off x="5191125" y="2552700"/>
            <a:ext cx="1809750" cy="590550"/>
          </a:xfrm>
          <a:prstGeom prst="roundRect">
            <a:avLst>
              <a:gd name="adj" fmla="val 19354"/>
            </a:avLst>
          </a:prstGeom>
          <a:solidFill>
            <a:srgbClr val="141C2E"/>
          </a:solidFill>
          <a:ln w="14287">
            <a:solidFill>
              <a:srgbClr val="28334A"/>
            </a:solidFill>
          </a:ln>
        </p:spPr>
        <p:txBody>
          <a:bodyPr rtlCol="0" anchor="ctr"/>
          <a:lstStyle/>
          <a:p>
            <a:pPr algn="ctr"/>
            <a:endParaRPr/>
          </a:p>
        </p:txBody>
      </p:sp>
      <p:sp>
        <p:nvSpPr>
          <p:cNvPr id="13" name="Book Appointment label"/>
          <p:cNvSpPr txBox="1"/>
          <p:nvPr/>
        </p:nvSpPr>
        <p:spPr>
          <a:xfrm>
            <a:off x="5267325" y="2743200"/>
            <a:ext cx="1657350" cy="209550"/>
          </a:xfrm>
          <a:prstGeom prst="rect">
            <a:avLst/>
          </a:prstGeom>
          <a:noFill/>
          <a:ln>
            <a:noFill/>
          </a:ln>
        </p:spPr>
        <p:txBody>
          <a:bodyPr wrap="square" lIns="0" tIns="0" rIns="0" bIns="0" anchor="t">
            <a:noAutofit/>
          </a:bodyPr>
          <a:lstStyle/>
          <a:p>
            <a:pPr algn="ctr">
              <a:lnSpc>
                <a:spcPts val="1155"/>
              </a:lnSpc>
              <a:spcBef>
                <a:spcPts val="0"/>
              </a:spcBef>
              <a:spcAft>
                <a:spcPts val="0"/>
              </a:spcAft>
            </a:pPr>
            <a:r>
              <a:rPr sz="1050" b="1" i="0" u="none">
                <a:solidFill>
                  <a:srgbClr val="F3F6FA"/>
                </a:solidFill>
                <a:latin typeface="Arial"/>
              </a:rPr>
              <a:t>Book Appointment</a:t>
            </a:r>
          </a:p>
        </p:txBody>
      </p:sp>
      <p:cxnSp>
        <p:nvCxnSpPr>
          <p:cNvPr id="14" name="Connector"/>
          <p:cNvCxnSpPr/>
          <p:nvPr/>
        </p:nvCxnSpPr>
        <p:spPr>
          <a:xfrm>
            <a:off x="7000875" y="2847975"/>
            <a:ext cx="442912" cy="0"/>
          </a:xfrm>
          <a:prstGeom prst="line">
            <a:avLst/>
          </a:prstGeom>
          <a:ln w="19050">
            <a:solidFill>
              <a:srgbClr val="2DD4BF"/>
            </a:solidFill>
            <a:tailEnd type="triangle"/>
          </a:ln>
        </p:spPr>
      </p:cxnSp>
      <p:sp>
        <p:nvSpPr>
          <p:cNvPr id="15" name="Stripe Payment box"/>
          <p:cNvSpPr/>
          <p:nvPr/>
        </p:nvSpPr>
        <p:spPr>
          <a:xfrm>
            <a:off x="7443787" y="2552700"/>
            <a:ext cx="1809750" cy="590550"/>
          </a:xfrm>
          <a:prstGeom prst="roundRect">
            <a:avLst>
              <a:gd name="adj" fmla="val 19354"/>
            </a:avLst>
          </a:prstGeom>
          <a:solidFill>
            <a:srgbClr val="141C2E"/>
          </a:solidFill>
          <a:ln w="14287">
            <a:solidFill>
              <a:srgbClr val="28334A"/>
            </a:solidFill>
          </a:ln>
        </p:spPr>
        <p:txBody>
          <a:bodyPr rtlCol="0" anchor="ctr"/>
          <a:lstStyle/>
          <a:p>
            <a:pPr algn="ctr"/>
            <a:endParaRPr/>
          </a:p>
        </p:txBody>
      </p:sp>
      <p:sp>
        <p:nvSpPr>
          <p:cNvPr id="16" name="Stripe Payment label"/>
          <p:cNvSpPr txBox="1"/>
          <p:nvPr/>
        </p:nvSpPr>
        <p:spPr>
          <a:xfrm>
            <a:off x="7519987" y="2743200"/>
            <a:ext cx="1657350" cy="209550"/>
          </a:xfrm>
          <a:prstGeom prst="rect">
            <a:avLst/>
          </a:prstGeom>
          <a:noFill/>
          <a:ln>
            <a:noFill/>
          </a:ln>
        </p:spPr>
        <p:txBody>
          <a:bodyPr wrap="square" lIns="0" tIns="0" rIns="0" bIns="0" anchor="t">
            <a:noAutofit/>
          </a:bodyPr>
          <a:lstStyle/>
          <a:p>
            <a:pPr algn="ctr">
              <a:lnSpc>
                <a:spcPts val="1155"/>
              </a:lnSpc>
              <a:spcBef>
                <a:spcPts val="0"/>
              </a:spcBef>
              <a:spcAft>
                <a:spcPts val="0"/>
              </a:spcAft>
            </a:pPr>
            <a:r>
              <a:rPr sz="1050" b="1" i="0" u="none">
                <a:solidFill>
                  <a:srgbClr val="F3F6FA"/>
                </a:solidFill>
                <a:latin typeface="Arial"/>
              </a:rPr>
              <a:t>Stripe Payment</a:t>
            </a:r>
          </a:p>
        </p:txBody>
      </p:sp>
      <p:cxnSp>
        <p:nvCxnSpPr>
          <p:cNvPr id="17" name="Connector"/>
          <p:cNvCxnSpPr/>
          <p:nvPr/>
        </p:nvCxnSpPr>
        <p:spPr>
          <a:xfrm>
            <a:off x="9253537" y="2847975"/>
            <a:ext cx="442913" cy="0"/>
          </a:xfrm>
          <a:prstGeom prst="line">
            <a:avLst/>
          </a:prstGeom>
          <a:ln w="19050">
            <a:solidFill>
              <a:srgbClr val="2DD4BF"/>
            </a:solidFill>
            <a:tailEnd type="triangle"/>
          </a:ln>
        </p:spPr>
      </p:cxnSp>
      <p:sp>
        <p:nvSpPr>
          <p:cNvPr id="18" name="Confirmation box"/>
          <p:cNvSpPr/>
          <p:nvPr/>
        </p:nvSpPr>
        <p:spPr>
          <a:xfrm>
            <a:off x="9696450" y="2552700"/>
            <a:ext cx="1809750" cy="590550"/>
          </a:xfrm>
          <a:prstGeom prst="roundRect">
            <a:avLst>
              <a:gd name="adj" fmla="val 19354"/>
            </a:avLst>
          </a:prstGeom>
          <a:solidFill>
            <a:srgbClr val="141C2E"/>
          </a:solidFill>
          <a:ln w="14287">
            <a:solidFill>
              <a:srgbClr val="28334A"/>
            </a:solidFill>
          </a:ln>
        </p:spPr>
        <p:txBody>
          <a:bodyPr rtlCol="0" anchor="ctr"/>
          <a:lstStyle/>
          <a:p>
            <a:pPr algn="ctr"/>
            <a:endParaRPr/>
          </a:p>
        </p:txBody>
      </p:sp>
      <p:sp>
        <p:nvSpPr>
          <p:cNvPr id="19" name="Confirmation label"/>
          <p:cNvSpPr txBox="1"/>
          <p:nvPr/>
        </p:nvSpPr>
        <p:spPr>
          <a:xfrm>
            <a:off x="9772650" y="2743200"/>
            <a:ext cx="1657350" cy="209550"/>
          </a:xfrm>
          <a:prstGeom prst="rect">
            <a:avLst/>
          </a:prstGeom>
          <a:noFill/>
          <a:ln>
            <a:noFill/>
          </a:ln>
        </p:spPr>
        <p:txBody>
          <a:bodyPr wrap="square" lIns="0" tIns="0" rIns="0" bIns="0" anchor="t">
            <a:noAutofit/>
          </a:bodyPr>
          <a:lstStyle/>
          <a:p>
            <a:pPr algn="ctr">
              <a:lnSpc>
                <a:spcPts val="1155"/>
              </a:lnSpc>
              <a:spcBef>
                <a:spcPts val="0"/>
              </a:spcBef>
              <a:spcAft>
                <a:spcPts val="0"/>
              </a:spcAft>
            </a:pPr>
            <a:r>
              <a:rPr sz="1050" b="1" i="0" u="none">
                <a:solidFill>
                  <a:srgbClr val="F3F6FA"/>
                </a:solidFill>
                <a:latin typeface="Arial"/>
              </a:rPr>
              <a:t>Confirmation</a:t>
            </a:r>
          </a:p>
        </p:txBody>
      </p:sp>
      <p:sp>
        <p:nvSpPr>
          <p:cNvPr id="20" name="Doctor Dashboard box"/>
          <p:cNvSpPr/>
          <p:nvPr/>
        </p:nvSpPr>
        <p:spPr>
          <a:xfrm>
            <a:off x="685800" y="4305300"/>
            <a:ext cx="1809750" cy="590550"/>
          </a:xfrm>
          <a:prstGeom prst="roundRect">
            <a:avLst>
              <a:gd name="adj" fmla="val 19354"/>
            </a:avLst>
          </a:prstGeom>
          <a:solidFill>
            <a:srgbClr val="141C2E"/>
          </a:solidFill>
          <a:ln w="14287">
            <a:solidFill>
              <a:srgbClr val="28334A"/>
            </a:solidFill>
          </a:ln>
        </p:spPr>
        <p:txBody>
          <a:bodyPr rtlCol="0" anchor="ctr"/>
          <a:lstStyle/>
          <a:p>
            <a:pPr algn="ctr"/>
            <a:endParaRPr/>
          </a:p>
        </p:txBody>
      </p:sp>
      <p:sp>
        <p:nvSpPr>
          <p:cNvPr id="21" name="Doctor Dashboard label"/>
          <p:cNvSpPr txBox="1"/>
          <p:nvPr/>
        </p:nvSpPr>
        <p:spPr>
          <a:xfrm>
            <a:off x="762000" y="4495800"/>
            <a:ext cx="1657350" cy="209550"/>
          </a:xfrm>
          <a:prstGeom prst="rect">
            <a:avLst/>
          </a:prstGeom>
          <a:noFill/>
          <a:ln>
            <a:noFill/>
          </a:ln>
        </p:spPr>
        <p:txBody>
          <a:bodyPr wrap="square" lIns="0" tIns="0" rIns="0" bIns="0" anchor="t">
            <a:noAutofit/>
          </a:bodyPr>
          <a:lstStyle/>
          <a:p>
            <a:pPr algn="ctr">
              <a:lnSpc>
                <a:spcPts val="1155"/>
              </a:lnSpc>
              <a:spcBef>
                <a:spcPts val="0"/>
              </a:spcBef>
              <a:spcAft>
                <a:spcPts val="0"/>
              </a:spcAft>
            </a:pPr>
            <a:r>
              <a:rPr sz="1050" b="1" i="0" u="none">
                <a:solidFill>
                  <a:srgbClr val="F3F6FA"/>
                </a:solidFill>
                <a:latin typeface="Arial"/>
              </a:rPr>
              <a:t>Doctor Dashboard</a:t>
            </a:r>
          </a:p>
        </p:txBody>
      </p:sp>
      <p:cxnSp>
        <p:nvCxnSpPr>
          <p:cNvPr id="22" name="Connector"/>
          <p:cNvCxnSpPr/>
          <p:nvPr/>
        </p:nvCxnSpPr>
        <p:spPr>
          <a:xfrm>
            <a:off x="2495550" y="4600575"/>
            <a:ext cx="442912" cy="0"/>
          </a:xfrm>
          <a:prstGeom prst="line">
            <a:avLst/>
          </a:prstGeom>
          <a:ln w="19050">
            <a:solidFill>
              <a:srgbClr val="2DD4BF"/>
            </a:solidFill>
            <a:tailEnd type="triangle"/>
          </a:ln>
        </p:spPr>
      </p:cxnSp>
      <p:sp>
        <p:nvSpPr>
          <p:cNvPr id="23" name="Complete Visit box"/>
          <p:cNvSpPr/>
          <p:nvPr/>
        </p:nvSpPr>
        <p:spPr>
          <a:xfrm>
            <a:off x="2938462" y="4305300"/>
            <a:ext cx="1809750" cy="590550"/>
          </a:xfrm>
          <a:prstGeom prst="roundRect">
            <a:avLst>
              <a:gd name="adj" fmla="val 19354"/>
            </a:avLst>
          </a:prstGeom>
          <a:solidFill>
            <a:srgbClr val="141C2E"/>
          </a:solidFill>
          <a:ln w="14287">
            <a:solidFill>
              <a:srgbClr val="28334A"/>
            </a:solidFill>
          </a:ln>
        </p:spPr>
        <p:txBody>
          <a:bodyPr rtlCol="0" anchor="ctr"/>
          <a:lstStyle/>
          <a:p>
            <a:pPr algn="ctr"/>
            <a:endParaRPr/>
          </a:p>
        </p:txBody>
      </p:sp>
      <p:sp>
        <p:nvSpPr>
          <p:cNvPr id="24" name="Complete Visit label"/>
          <p:cNvSpPr txBox="1"/>
          <p:nvPr/>
        </p:nvSpPr>
        <p:spPr>
          <a:xfrm>
            <a:off x="3014662" y="4495800"/>
            <a:ext cx="1657350" cy="209550"/>
          </a:xfrm>
          <a:prstGeom prst="rect">
            <a:avLst/>
          </a:prstGeom>
          <a:noFill/>
          <a:ln>
            <a:noFill/>
          </a:ln>
        </p:spPr>
        <p:txBody>
          <a:bodyPr wrap="square" lIns="0" tIns="0" rIns="0" bIns="0" anchor="t">
            <a:noAutofit/>
          </a:bodyPr>
          <a:lstStyle/>
          <a:p>
            <a:pPr algn="ctr">
              <a:lnSpc>
                <a:spcPts val="1155"/>
              </a:lnSpc>
              <a:spcBef>
                <a:spcPts val="0"/>
              </a:spcBef>
              <a:spcAft>
                <a:spcPts val="0"/>
              </a:spcAft>
            </a:pPr>
            <a:r>
              <a:rPr sz="1050" b="1" i="0" u="none">
                <a:solidFill>
                  <a:srgbClr val="F3F6FA"/>
                </a:solidFill>
                <a:latin typeface="Arial"/>
              </a:rPr>
              <a:t>Complete Visit</a:t>
            </a:r>
          </a:p>
        </p:txBody>
      </p:sp>
      <p:cxnSp>
        <p:nvCxnSpPr>
          <p:cNvPr id="25" name="Connector"/>
          <p:cNvCxnSpPr/>
          <p:nvPr/>
        </p:nvCxnSpPr>
        <p:spPr>
          <a:xfrm>
            <a:off x="4748212" y="4600575"/>
            <a:ext cx="442913" cy="0"/>
          </a:xfrm>
          <a:prstGeom prst="line">
            <a:avLst/>
          </a:prstGeom>
          <a:ln w="19050">
            <a:solidFill>
              <a:srgbClr val="2DD4BF"/>
            </a:solidFill>
            <a:tailEnd type="triangle"/>
          </a:ln>
        </p:spPr>
      </p:cxnSp>
      <p:sp>
        <p:nvSpPr>
          <p:cNvPr id="26" name="Patient Review box"/>
          <p:cNvSpPr/>
          <p:nvPr/>
        </p:nvSpPr>
        <p:spPr>
          <a:xfrm>
            <a:off x="5191125" y="4305300"/>
            <a:ext cx="1809750" cy="590550"/>
          </a:xfrm>
          <a:prstGeom prst="roundRect">
            <a:avLst>
              <a:gd name="adj" fmla="val 19354"/>
            </a:avLst>
          </a:prstGeom>
          <a:solidFill>
            <a:srgbClr val="141C2E"/>
          </a:solidFill>
          <a:ln w="14287">
            <a:solidFill>
              <a:srgbClr val="28334A"/>
            </a:solidFill>
          </a:ln>
        </p:spPr>
        <p:txBody>
          <a:bodyPr rtlCol="0" anchor="ctr"/>
          <a:lstStyle/>
          <a:p>
            <a:pPr algn="ctr"/>
            <a:endParaRPr/>
          </a:p>
        </p:txBody>
      </p:sp>
      <p:sp>
        <p:nvSpPr>
          <p:cNvPr id="27" name="Patient Review label"/>
          <p:cNvSpPr txBox="1"/>
          <p:nvPr/>
        </p:nvSpPr>
        <p:spPr>
          <a:xfrm>
            <a:off x="5267325" y="4495800"/>
            <a:ext cx="1657350" cy="209550"/>
          </a:xfrm>
          <a:prstGeom prst="rect">
            <a:avLst/>
          </a:prstGeom>
          <a:noFill/>
          <a:ln>
            <a:noFill/>
          </a:ln>
        </p:spPr>
        <p:txBody>
          <a:bodyPr wrap="square" lIns="0" tIns="0" rIns="0" bIns="0" anchor="t">
            <a:noAutofit/>
          </a:bodyPr>
          <a:lstStyle/>
          <a:p>
            <a:pPr algn="ctr">
              <a:lnSpc>
                <a:spcPts val="1155"/>
              </a:lnSpc>
              <a:spcBef>
                <a:spcPts val="0"/>
              </a:spcBef>
              <a:spcAft>
                <a:spcPts val="0"/>
              </a:spcAft>
            </a:pPr>
            <a:r>
              <a:rPr sz="1050" b="1" i="0" u="none">
                <a:solidFill>
                  <a:srgbClr val="F3F6FA"/>
                </a:solidFill>
                <a:latin typeface="Arial"/>
              </a:rPr>
              <a:t>Patient Review</a:t>
            </a:r>
          </a:p>
        </p:txBody>
      </p:sp>
      <p:cxnSp>
        <p:nvCxnSpPr>
          <p:cNvPr id="28" name="Connector"/>
          <p:cNvCxnSpPr/>
          <p:nvPr/>
        </p:nvCxnSpPr>
        <p:spPr>
          <a:xfrm>
            <a:off x="7000875" y="4600575"/>
            <a:ext cx="442912" cy="0"/>
          </a:xfrm>
          <a:prstGeom prst="line">
            <a:avLst/>
          </a:prstGeom>
          <a:ln w="19050">
            <a:solidFill>
              <a:srgbClr val="2DD4BF"/>
            </a:solidFill>
            <a:tailEnd type="triangle"/>
          </a:ln>
        </p:spPr>
      </p:cxnSp>
      <p:sp>
        <p:nvSpPr>
          <p:cNvPr id="29" name="Admin Dashboard box"/>
          <p:cNvSpPr/>
          <p:nvPr/>
        </p:nvSpPr>
        <p:spPr>
          <a:xfrm>
            <a:off x="7443787" y="4305300"/>
            <a:ext cx="1809750" cy="590550"/>
          </a:xfrm>
          <a:prstGeom prst="roundRect">
            <a:avLst>
              <a:gd name="adj" fmla="val 19354"/>
            </a:avLst>
          </a:prstGeom>
          <a:solidFill>
            <a:srgbClr val="141C2E"/>
          </a:solidFill>
          <a:ln w="14287">
            <a:solidFill>
              <a:srgbClr val="28334A"/>
            </a:solidFill>
          </a:ln>
        </p:spPr>
        <p:txBody>
          <a:bodyPr rtlCol="0" anchor="ctr"/>
          <a:lstStyle/>
          <a:p>
            <a:pPr algn="ctr"/>
            <a:endParaRPr/>
          </a:p>
        </p:txBody>
      </p:sp>
      <p:sp>
        <p:nvSpPr>
          <p:cNvPr id="30" name="Admin Dashboard label"/>
          <p:cNvSpPr txBox="1"/>
          <p:nvPr/>
        </p:nvSpPr>
        <p:spPr>
          <a:xfrm>
            <a:off x="7519987" y="4495800"/>
            <a:ext cx="1657350" cy="209550"/>
          </a:xfrm>
          <a:prstGeom prst="rect">
            <a:avLst/>
          </a:prstGeom>
          <a:noFill/>
          <a:ln>
            <a:noFill/>
          </a:ln>
        </p:spPr>
        <p:txBody>
          <a:bodyPr wrap="square" lIns="0" tIns="0" rIns="0" bIns="0" anchor="t">
            <a:noAutofit/>
          </a:bodyPr>
          <a:lstStyle/>
          <a:p>
            <a:pPr algn="ctr">
              <a:lnSpc>
                <a:spcPts val="1155"/>
              </a:lnSpc>
              <a:spcBef>
                <a:spcPts val="0"/>
              </a:spcBef>
              <a:spcAft>
                <a:spcPts val="0"/>
              </a:spcAft>
            </a:pPr>
            <a:r>
              <a:rPr sz="1050" b="1" i="0" u="none">
                <a:solidFill>
                  <a:srgbClr val="F3F6FA"/>
                </a:solidFill>
                <a:latin typeface="Arial"/>
              </a:rPr>
              <a:t>Admin Dashboard</a:t>
            </a:r>
          </a:p>
        </p:txBody>
      </p:sp>
      <p:cxnSp>
        <p:nvCxnSpPr>
          <p:cNvPr id="31" name="Connector"/>
          <p:cNvCxnSpPr/>
          <p:nvPr/>
        </p:nvCxnSpPr>
        <p:spPr>
          <a:xfrm>
            <a:off x="9253537" y="4600575"/>
            <a:ext cx="442913" cy="0"/>
          </a:xfrm>
          <a:prstGeom prst="line">
            <a:avLst/>
          </a:prstGeom>
          <a:ln w="19050">
            <a:solidFill>
              <a:srgbClr val="2DD4BF"/>
            </a:solidFill>
            <a:tailEnd type="triangle"/>
          </a:ln>
        </p:spPr>
      </p:cxnSp>
      <p:sp>
        <p:nvSpPr>
          <p:cNvPr id="32" name="Refund Workflow box"/>
          <p:cNvSpPr/>
          <p:nvPr/>
        </p:nvSpPr>
        <p:spPr>
          <a:xfrm>
            <a:off x="9696450" y="4305300"/>
            <a:ext cx="1809750" cy="590550"/>
          </a:xfrm>
          <a:prstGeom prst="roundRect">
            <a:avLst>
              <a:gd name="adj" fmla="val 19354"/>
            </a:avLst>
          </a:prstGeom>
          <a:solidFill>
            <a:srgbClr val="141C2E"/>
          </a:solidFill>
          <a:ln w="14287">
            <a:solidFill>
              <a:srgbClr val="28334A"/>
            </a:solidFill>
          </a:ln>
        </p:spPr>
        <p:txBody>
          <a:bodyPr rtlCol="0" anchor="ctr"/>
          <a:lstStyle/>
          <a:p>
            <a:pPr algn="ctr"/>
            <a:endParaRPr/>
          </a:p>
        </p:txBody>
      </p:sp>
      <p:sp>
        <p:nvSpPr>
          <p:cNvPr id="33" name="Refund Workflow label"/>
          <p:cNvSpPr txBox="1"/>
          <p:nvPr/>
        </p:nvSpPr>
        <p:spPr>
          <a:xfrm>
            <a:off x="9772650" y="4495800"/>
            <a:ext cx="1657350" cy="209550"/>
          </a:xfrm>
          <a:prstGeom prst="rect">
            <a:avLst/>
          </a:prstGeom>
          <a:noFill/>
          <a:ln>
            <a:noFill/>
          </a:ln>
        </p:spPr>
        <p:txBody>
          <a:bodyPr wrap="square" lIns="0" tIns="0" rIns="0" bIns="0" anchor="t">
            <a:noAutofit/>
          </a:bodyPr>
          <a:lstStyle/>
          <a:p>
            <a:pPr algn="ctr">
              <a:lnSpc>
                <a:spcPts val="1155"/>
              </a:lnSpc>
              <a:spcBef>
                <a:spcPts val="0"/>
              </a:spcBef>
              <a:spcAft>
                <a:spcPts val="0"/>
              </a:spcAft>
            </a:pPr>
            <a:r>
              <a:rPr sz="1050" b="1" i="0" u="none">
                <a:solidFill>
                  <a:srgbClr val="F3F6FA"/>
                </a:solidFill>
                <a:latin typeface="Arial"/>
              </a:rPr>
              <a:t>Refund Workflow</a:t>
            </a:r>
          </a:p>
        </p:txBody>
      </p:sp>
      <p:cxnSp>
        <p:nvCxnSpPr>
          <p:cNvPr id="34" name="Connector"/>
          <p:cNvCxnSpPr/>
          <p:nvPr/>
        </p:nvCxnSpPr>
        <p:spPr>
          <a:xfrm>
            <a:off x="10601325" y="3143250"/>
            <a:ext cx="0" cy="581025"/>
          </a:xfrm>
          <a:prstGeom prst="line">
            <a:avLst/>
          </a:prstGeom>
          <a:ln w="19050">
            <a:solidFill>
              <a:srgbClr val="2DD4BF"/>
            </a:solidFill>
          </a:ln>
        </p:spPr>
      </p:cxnSp>
      <p:cxnSp>
        <p:nvCxnSpPr>
          <p:cNvPr id="35" name="Connector"/>
          <p:cNvCxnSpPr/>
          <p:nvPr/>
        </p:nvCxnSpPr>
        <p:spPr>
          <a:xfrm flipH="1">
            <a:off x="1590675" y="3724275"/>
            <a:ext cx="9010650" cy="0"/>
          </a:xfrm>
          <a:prstGeom prst="line">
            <a:avLst/>
          </a:prstGeom>
          <a:ln w="19050">
            <a:solidFill>
              <a:srgbClr val="2DD4BF"/>
            </a:solidFill>
          </a:ln>
        </p:spPr>
      </p:cxnSp>
      <p:cxnSp>
        <p:nvCxnSpPr>
          <p:cNvPr id="36" name="Connector"/>
          <p:cNvCxnSpPr/>
          <p:nvPr/>
        </p:nvCxnSpPr>
        <p:spPr>
          <a:xfrm>
            <a:off x="1590675" y="3724275"/>
            <a:ext cx="0" cy="581025"/>
          </a:xfrm>
          <a:prstGeom prst="line">
            <a:avLst/>
          </a:prstGeom>
          <a:ln w="19050">
            <a:solidFill>
              <a:srgbClr val="2DD4BF"/>
            </a:solidFill>
            <a:tailEnd type="triangle"/>
          </a:ln>
        </p:spPr>
      </p:cxnSp>
      <p:sp>
        <p:nvSpPr>
          <p:cNvPr id="37" name="Page number"/>
          <p:cNvSpPr txBox="1"/>
          <p:nvPr/>
        </p:nvSpPr>
        <p:spPr>
          <a:xfrm>
            <a:off x="10934700" y="6477000"/>
            <a:ext cx="571500" cy="190500"/>
          </a:xfrm>
          <a:prstGeom prst="rect">
            <a:avLst/>
          </a:prstGeom>
          <a:noFill/>
          <a:ln>
            <a:noFill/>
          </a:ln>
        </p:spPr>
        <p:txBody>
          <a:bodyPr wrap="square" lIns="0" tIns="0" rIns="0" bIns="0" anchor="t">
            <a:noAutofit/>
          </a:bodyPr>
          <a:lstStyle/>
          <a:p>
            <a:pPr algn="r">
              <a:spcBef>
                <a:spcPts val="0"/>
              </a:spcBef>
              <a:spcAft>
                <a:spcPts val="0"/>
              </a:spcAft>
            </a:pPr>
            <a:r>
              <a:rPr sz="825" b="0" i="0" u="none">
                <a:solidFill>
                  <a:srgbClr val="93A3B8"/>
                </a:solidFill>
                <a:latin typeface="Arial"/>
              </a:rPr>
              <a:t>28 / 29</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Section label"/>
          <p:cNvSpPr txBox="1"/>
          <p:nvPr/>
        </p:nvSpPr>
        <p:spPr>
          <a:xfrm>
            <a:off x="0" y="876300"/>
            <a:ext cx="12192000" cy="247649"/>
          </a:xfrm>
          <a:prstGeom prst="rect">
            <a:avLst/>
          </a:prstGeom>
          <a:noFill/>
          <a:ln>
            <a:noFill/>
          </a:ln>
        </p:spPr>
        <p:txBody>
          <a:bodyPr wrap="square" lIns="0" tIns="0" rIns="0" bIns="0" anchor="t">
            <a:noAutofit/>
          </a:bodyPr>
          <a:lstStyle/>
          <a:p>
            <a:pPr algn="ctr">
              <a:lnSpc>
                <a:spcPts val="1218"/>
              </a:lnSpc>
              <a:spcBef>
                <a:spcPts val="0"/>
              </a:spcBef>
              <a:spcAft>
                <a:spcPts val="0"/>
              </a:spcAft>
            </a:pPr>
            <a:r>
              <a:rPr sz="1050" b="1" i="0" u="none">
                <a:solidFill>
                  <a:srgbClr val="93A3B8"/>
                </a:solidFill>
                <a:latin typeface="Arial"/>
              </a:rPr>
              <a:t>MEDICARE PRO — SMART HEALTHCARE MANAGEMENT SYSTEM</a:t>
            </a:r>
          </a:p>
        </p:txBody>
      </p:sp>
      <p:pic>
        <p:nvPicPr>
          <p:cNvPr id="3" name="Thank you logo" descr="logo.png"/>
          <p:cNvPicPr>
            <a:picLocks noChangeAspect="1"/>
          </p:cNvPicPr>
          <p:nvPr/>
        </p:nvPicPr>
        <p:blipFill>
          <a:blip r:embed="rId2"/>
          <a:stretch>
            <a:fillRect/>
          </a:stretch>
        </p:blipFill>
        <p:spPr>
          <a:xfrm>
            <a:off x="5572125" y="1428750"/>
            <a:ext cx="1047749" cy="1047749"/>
          </a:xfrm>
          <a:prstGeom prst="roundRect">
            <a:avLst>
              <a:gd name="adj" fmla="val 14545"/>
            </a:avLst>
          </a:prstGeom>
        </p:spPr>
      </p:pic>
      <p:sp>
        <p:nvSpPr>
          <p:cNvPr id="4" name="Thank you title"/>
          <p:cNvSpPr txBox="1"/>
          <p:nvPr/>
        </p:nvSpPr>
        <p:spPr>
          <a:xfrm>
            <a:off x="0" y="2743200"/>
            <a:ext cx="12192000" cy="857250"/>
          </a:xfrm>
          <a:prstGeom prst="rect">
            <a:avLst/>
          </a:prstGeom>
          <a:noFill/>
          <a:ln>
            <a:noFill/>
          </a:ln>
        </p:spPr>
        <p:txBody>
          <a:bodyPr wrap="square" lIns="0" tIns="0" rIns="0" bIns="0" anchor="t">
            <a:noAutofit/>
          </a:bodyPr>
          <a:lstStyle/>
          <a:p>
            <a:pPr algn="ctr">
              <a:lnSpc>
                <a:spcPts val="5045"/>
              </a:lnSpc>
              <a:spcBef>
                <a:spcPts val="0"/>
              </a:spcBef>
              <a:spcAft>
                <a:spcPts val="0"/>
              </a:spcAft>
            </a:pPr>
            <a:r>
              <a:rPr sz="4350" b="1" i="0" u="none">
                <a:solidFill>
                  <a:srgbClr val="F3F6FA"/>
                </a:solidFill>
                <a:latin typeface="Arial"/>
              </a:rPr>
              <a:t>Thank You</a:t>
            </a:r>
          </a:p>
        </p:txBody>
      </p:sp>
      <p:sp>
        <p:nvSpPr>
          <p:cNvPr id="5" name="Thank you meta"/>
          <p:cNvSpPr txBox="1"/>
          <p:nvPr/>
        </p:nvSpPr>
        <p:spPr>
          <a:xfrm>
            <a:off x="0" y="3771900"/>
            <a:ext cx="12192000" cy="266700"/>
          </a:xfrm>
          <a:prstGeom prst="rect">
            <a:avLst/>
          </a:prstGeom>
          <a:noFill/>
          <a:ln>
            <a:noFill/>
          </a:ln>
        </p:spPr>
        <p:txBody>
          <a:bodyPr wrap="square" lIns="0" tIns="0" rIns="0" bIns="0" anchor="t">
            <a:noAutofit/>
          </a:bodyPr>
          <a:lstStyle/>
          <a:p>
            <a:pPr algn="ctr">
              <a:lnSpc>
                <a:spcPts val="1565"/>
              </a:lnSpc>
              <a:spcBef>
                <a:spcPts val="0"/>
              </a:spcBef>
              <a:spcAft>
                <a:spcPts val="0"/>
              </a:spcAft>
            </a:pPr>
            <a:r>
              <a:rPr sz="1350" b="0" i="0" u="none">
                <a:solidFill>
                  <a:srgbClr val="93A3B8"/>
                </a:solidFill>
                <a:latin typeface="Arial"/>
              </a:rPr>
              <a:t>DEPI Graduation Project · 2026</a:t>
            </a:r>
          </a:p>
        </p:txBody>
      </p:sp>
      <p:sp>
        <p:nvSpPr>
          <p:cNvPr id="6" name="Thank you github link"/>
          <p:cNvSpPr txBox="1"/>
          <p:nvPr/>
        </p:nvSpPr>
        <p:spPr>
          <a:xfrm>
            <a:off x="0" y="4076699"/>
            <a:ext cx="12192000" cy="247649"/>
          </a:xfrm>
          <a:prstGeom prst="rect">
            <a:avLst/>
          </a:prstGeom>
          <a:noFill/>
          <a:ln>
            <a:noFill/>
          </a:ln>
        </p:spPr>
        <p:txBody>
          <a:bodyPr wrap="square" lIns="0" tIns="0" rIns="0" bIns="0" anchor="t">
            <a:noAutofit/>
          </a:bodyPr>
          <a:lstStyle/>
          <a:p>
            <a:pPr algn="ctr">
              <a:lnSpc>
                <a:spcPts val="1391"/>
              </a:lnSpc>
              <a:spcBef>
                <a:spcPts val="0"/>
              </a:spcBef>
              <a:spcAft>
                <a:spcPts val="0"/>
              </a:spcAft>
            </a:pPr>
            <a:r>
              <a:rPr sz="1200" b="1" i="0" u="none">
                <a:solidFill>
                  <a:srgbClr val="2DD4BF"/>
                </a:solidFill>
                <a:latin typeface="Arial"/>
              </a:rPr>
              <a:t>github.com/A200B5/smart-healthcare-system</a:t>
            </a:r>
          </a:p>
        </p:txBody>
      </p:sp>
      <p:sp>
        <p:nvSpPr>
          <p:cNvPr id="7" name="Thank you team"/>
          <p:cNvSpPr txBox="1"/>
          <p:nvPr/>
        </p:nvSpPr>
        <p:spPr>
          <a:xfrm>
            <a:off x="0" y="4438650"/>
            <a:ext cx="12192000" cy="228600"/>
          </a:xfrm>
          <a:prstGeom prst="rect">
            <a:avLst/>
          </a:prstGeom>
          <a:noFill/>
          <a:ln>
            <a:noFill/>
          </a:ln>
        </p:spPr>
        <p:txBody>
          <a:bodyPr wrap="square" lIns="0" tIns="0" rIns="0" bIns="0" anchor="t">
            <a:noAutofit/>
          </a:bodyPr>
          <a:lstStyle/>
          <a:p>
            <a:pPr algn="ctr">
              <a:lnSpc>
                <a:spcPts val="1218"/>
              </a:lnSpc>
              <a:spcBef>
                <a:spcPts val="0"/>
              </a:spcBef>
              <a:spcAft>
                <a:spcPts val="0"/>
              </a:spcAft>
            </a:pPr>
            <a:r>
              <a:rPr sz="1050" b="0" i="0" u="none">
                <a:solidFill>
                  <a:srgbClr val="93A3B8"/>
                </a:solidFill>
                <a:latin typeface="Arial"/>
              </a:rPr>
              <a:t>Ahmed Bakr · Ahmed Sabry · Ibrahim Mohamed · Ahmed Hany</a:t>
            </a:r>
          </a:p>
        </p:txBody>
      </p:sp>
      <p:sp>
        <p:nvSpPr>
          <p:cNvPr id="8" name="QR panel"/>
          <p:cNvSpPr/>
          <p:nvPr/>
        </p:nvSpPr>
        <p:spPr>
          <a:xfrm>
            <a:off x="10287000" y="4953000"/>
            <a:ext cx="1219200" cy="1219200"/>
          </a:xfrm>
          <a:prstGeom prst="roundRect">
            <a:avLst>
              <a:gd name="adj" fmla="val 9375"/>
            </a:avLst>
          </a:prstGeom>
          <a:solidFill>
            <a:srgbClr val="FFFFFF"/>
          </a:solidFill>
          <a:ln w="9525">
            <a:solidFill>
              <a:srgbClr val="28334A"/>
            </a:solidFill>
          </a:ln>
        </p:spPr>
        <p:txBody>
          <a:bodyPr rtlCol="0" anchor="ctr"/>
          <a:lstStyle/>
          <a:p>
            <a:pPr algn="ctr"/>
            <a:endParaRPr/>
          </a:p>
        </p:txBody>
      </p:sp>
      <p:pic>
        <p:nvPicPr>
          <p:cNvPr id="9" name="GitHub QR code" descr="qr_code.png"/>
          <p:cNvPicPr>
            <a:picLocks noChangeAspect="1"/>
          </p:cNvPicPr>
          <p:nvPr/>
        </p:nvPicPr>
        <p:blipFill>
          <a:blip r:embed="rId3"/>
          <a:stretch>
            <a:fillRect/>
          </a:stretch>
        </p:blipFill>
        <p:spPr>
          <a:xfrm>
            <a:off x="10401300" y="5067300"/>
            <a:ext cx="990599" cy="990599"/>
          </a:xfrm>
          <a:prstGeom prst="rect">
            <a:avLst/>
          </a:prstGeom>
        </p:spPr>
      </p:pic>
      <p:sp>
        <p:nvSpPr>
          <p:cNvPr id="10" name="QR caption"/>
          <p:cNvSpPr txBox="1"/>
          <p:nvPr/>
        </p:nvSpPr>
        <p:spPr>
          <a:xfrm>
            <a:off x="10096500" y="4743450"/>
            <a:ext cx="1600200" cy="171450"/>
          </a:xfrm>
          <a:prstGeom prst="rect">
            <a:avLst/>
          </a:prstGeom>
          <a:noFill/>
          <a:ln>
            <a:noFill/>
          </a:ln>
        </p:spPr>
        <p:txBody>
          <a:bodyPr wrap="square" lIns="0" tIns="0" rIns="0" bIns="0" anchor="t">
            <a:noAutofit/>
          </a:bodyPr>
          <a:lstStyle/>
          <a:p>
            <a:pPr algn="ctr">
              <a:lnSpc>
                <a:spcPts val="956"/>
              </a:lnSpc>
              <a:spcBef>
                <a:spcPts val="0"/>
              </a:spcBef>
              <a:spcAft>
                <a:spcPts val="0"/>
              </a:spcAft>
            </a:pPr>
            <a:r>
              <a:rPr sz="825" b="0" i="0" u="none">
                <a:solidFill>
                  <a:srgbClr val="93A3B8"/>
                </a:solidFill>
                <a:latin typeface="Arial"/>
              </a:rPr>
              <a:t>Scan for GitHub repo</a:t>
            </a:r>
          </a:p>
        </p:txBody>
      </p:sp>
      <p:sp>
        <p:nvSpPr>
          <p:cNvPr id="11" name="Page number"/>
          <p:cNvSpPr txBox="1"/>
          <p:nvPr/>
        </p:nvSpPr>
        <p:spPr>
          <a:xfrm>
            <a:off x="10934700" y="6477000"/>
            <a:ext cx="571500" cy="190500"/>
          </a:xfrm>
          <a:prstGeom prst="rect">
            <a:avLst/>
          </a:prstGeom>
          <a:noFill/>
          <a:ln>
            <a:noFill/>
          </a:ln>
        </p:spPr>
        <p:txBody>
          <a:bodyPr wrap="square" lIns="0" tIns="0" rIns="0" bIns="0" anchor="t">
            <a:noAutofit/>
          </a:bodyPr>
          <a:lstStyle/>
          <a:p>
            <a:pPr algn="r">
              <a:spcBef>
                <a:spcPts val="0"/>
              </a:spcBef>
              <a:spcAft>
                <a:spcPts val="0"/>
              </a:spcAft>
            </a:pPr>
            <a:r>
              <a:rPr sz="825" b="0" i="0" u="none">
                <a:solidFill>
                  <a:srgbClr val="93A3B8"/>
                </a:solidFill>
                <a:latin typeface="Arial"/>
              </a:rPr>
              <a:t>29 / 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TotalTime>
  <Words>1685</Words>
  <Application>Microsoft Office PowerPoint</Application>
  <DocSecurity>0</DocSecurity>
  <PresentationFormat>Widescreen</PresentationFormat>
  <Paragraphs>360</Paragraphs>
  <Slides>29</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MediCare Pro Presentation v3</dc:title>
  <dc:subject/>
  <dc:creator>Notion AI</dc:creator>
  <cp:keywords/>
  <dc:description>generated using python-pptx</dc:description>
  <cp:lastModifiedBy>Ahmed Bakr</cp:lastModifiedBy>
  <cp:revision>2</cp:revision>
  <dcterms:created xsi:type="dcterms:W3CDTF">2026-07-02T17:57:51Z</dcterms:created>
  <dcterms:modified xsi:type="dcterms:W3CDTF">2026-07-02T23:03:13Z</dcterms:modified>
  <cp:category/>
</cp:coreProperties>
</file>