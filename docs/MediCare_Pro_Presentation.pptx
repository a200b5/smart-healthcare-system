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33953F8-7B98-407E-B8B5-49FA6A01FE57}">
  <a:tblStyle styleId="{033953F8-7B98-407E-B8B5-49FA6A01FE5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" name="Google Shape;521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4" name="Google Shape;594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8" name="Google Shape;628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7" name="Google Shape;647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3f50882e100_0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3" name="Google Shape;663;g3f50882e100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6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3f50882e100_0_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3f50882e100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3" name="Google Shape;673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9" name="Google Shape;689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9" name="Google Shape;729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11" Type="http://schemas.openxmlformats.org/officeDocument/2006/relationships/image" Target="../media/image12.png"/><Relationship Id="rId10" Type="http://schemas.openxmlformats.org/officeDocument/2006/relationships/image" Target="../media/image13.png"/><Relationship Id="rId12" Type="http://schemas.openxmlformats.org/officeDocument/2006/relationships/image" Target="../media/image4.png"/><Relationship Id="rId9" Type="http://schemas.openxmlformats.org/officeDocument/2006/relationships/image" Target="../media/image9.png"/><Relationship Id="rId5" Type="http://schemas.openxmlformats.org/officeDocument/2006/relationships/image" Target="../media/image3.png"/><Relationship Id="rId6" Type="http://schemas.openxmlformats.org/officeDocument/2006/relationships/image" Target="../media/image20.png"/><Relationship Id="rId7" Type="http://schemas.openxmlformats.org/officeDocument/2006/relationships/image" Target="../media/image1.png"/><Relationship Id="rId8" Type="http://schemas.openxmlformats.org/officeDocument/2006/relationships/image" Target="../media/image1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Relationship Id="rId4" Type="http://schemas.openxmlformats.org/officeDocument/2006/relationships/image" Target="../media/image18.png"/><Relationship Id="rId5" Type="http://schemas.openxmlformats.org/officeDocument/2006/relationships/image" Target="../media/image6.png"/><Relationship Id="rId6" Type="http://schemas.openxmlformats.org/officeDocument/2006/relationships/image" Target="../media/image1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2.png"/><Relationship Id="rId4" Type="http://schemas.openxmlformats.org/officeDocument/2006/relationships/image" Target="../media/image15.png"/><Relationship Id="rId5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png"/><Relationship Id="rId4" Type="http://schemas.openxmlformats.org/officeDocument/2006/relationships/image" Target="../media/image17.png"/><Relationship Id="rId5" Type="http://schemas.openxmlformats.org/officeDocument/2006/relationships/image" Target="../media/image19.png"/><Relationship Id="rId6" Type="http://schemas.openxmlformats.org/officeDocument/2006/relationships/image" Target="../media/image21.png"/><Relationship Id="rId7" Type="http://schemas.openxmlformats.org/officeDocument/2006/relationships/image" Target="../media/image29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1.png"/><Relationship Id="rId4" Type="http://schemas.openxmlformats.org/officeDocument/2006/relationships/image" Target="../media/image27.png"/><Relationship Id="rId5" Type="http://schemas.openxmlformats.org/officeDocument/2006/relationships/image" Target="../media/image23.png"/><Relationship Id="rId6" Type="http://schemas.openxmlformats.org/officeDocument/2006/relationships/image" Target="../media/image2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4.png"/><Relationship Id="rId4" Type="http://schemas.openxmlformats.org/officeDocument/2006/relationships/image" Target="../media/image30.png"/><Relationship Id="rId5" Type="http://schemas.openxmlformats.org/officeDocument/2006/relationships/image" Target="../media/image26.png"/><Relationship Id="rId6" Type="http://schemas.openxmlformats.org/officeDocument/2006/relationships/image" Target="../media/image28.png"/><Relationship Id="rId7" Type="http://schemas.openxmlformats.org/officeDocument/2006/relationships/image" Target="../media/image3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4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5.jp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4.png"/><Relationship Id="rId4" Type="http://schemas.openxmlformats.org/officeDocument/2006/relationships/hyperlink" Target="http://github.com/A200B5/smart-healthcare-system" TargetMode="External"/><Relationship Id="rId5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685800" y="1047749"/>
            <a:ext cx="85725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DEPI GRADUATION PROJECT · 2026</a:t>
            </a:r>
            <a:endParaRPr/>
          </a:p>
        </p:txBody>
      </p:sp>
      <p:sp>
        <p:nvSpPr>
          <p:cNvPr id="85" name="Google Shape;85;p13"/>
          <p:cNvSpPr/>
          <p:nvPr/>
        </p:nvSpPr>
        <p:spPr>
          <a:xfrm>
            <a:off x="685800" y="3143250"/>
            <a:ext cx="533400" cy="476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685800" y="3390900"/>
            <a:ext cx="99060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9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MediCare Pro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685800" y="5124450"/>
            <a:ext cx="7810499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Smart Healthcare Management System — a full-stack platform for patients, doctors, and administrators.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8077200" y="6305550"/>
            <a:ext cx="3429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Ahmed Bakr · Ahmed Sabry · Ibrahim Mohamed · Ahmed Hany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PRESENTATION OUTLINE</a:t>
            </a:r>
            <a:endParaRPr/>
          </a:p>
        </p:txBody>
      </p:sp>
      <p:sp>
        <p:nvSpPr>
          <p:cNvPr id="94" name="Google Shape;94;p14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Agenda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685800" y="22479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1276350" y="2228850"/>
            <a:ext cx="3810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Foundations</a:t>
            </a:r>
            <a:endParaRPr/>
          </a:p>
        </p:txBody>
      </p:sp>
      <p:cxnSp>
        <p:nvCxnSpPr>
          <p:cNvPr id="98" name="Google Shape;98;p14"/>
          <p:cNvCxnSpPr/>
          <p:nvPr/>
        </p:nvCxnSpPr>
        <p:spPr>
          <a:xfrm>
            <a:off x="685800" y="2781300"/>
            <a:ext cx="5086350" cy="0"/>
          </a:xfrm>
          <a:prstGeom prst="straightConnector1">
            <a:avLst/>
          </a:prstGeom>
          <a:noFill/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" name="Google Shape;99;p14"/>
          <p:cNvSpPr txBox="1"/>
          <p:nvPr/>
        </p:nvSpPr>
        <p:spPr>
          <a:xfrm>
            <a:off x="685800" y="2971800"/>
            <a:ext cx="508635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9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01  Project Overview &amp; Problem Statement</a:t>
            </a:r>
            <a:b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02  Objectives &amp; Target Users</a:t>
            </a:r>
            <a:b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03  Main Features</a:t>
            </a:r>
            <a:b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04  Project Statistics</a:t>
            </a:r>
            <a:b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05  Tech Stack</a:t>
            </a:r>
            <a:b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06  System Architecture &amp; Database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6191250" y="22479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6781800" y="2228850"/>
            <a:ext cx="3810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Deep Dive &amp; Showcase</a:t>
            </a:r>
            <a:endParaRPr/>
          </a:p>
        </p:txBody>
      </p:sp>
      <p:cxnSp>
        <p:nvCxnSpPr>
          <p:cNvPr id="102" name="Google Shape;102;p14"/>
          <p:cNvCxnSpPr/>
          <p:nvPr/>
        </p:nvCxnSpPr>
        <p:spPr>
          <a:xfrm>
            <a:off x="6191250" y="2781300"/>
            <a:ext cx="5086350" cy="0"/>
          </a:xfrm>
          <a:prstGeom prst="straightConnector1">
            <a:avLst/>
          </a:prstGeom>
          <a:noFill/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3" name="Google Shape;103;p14"/>
          <p:cNvSpPr txBox="1"/>
          <p:nvPr/>
        </p:nvSpPr>
        <p:spPr>
          <a:xfrm>
            <a:off x="6191250" y="2971800"/>
            <a:ext cx="508635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9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07  Security &amp; Feature Breakdown</a:t>
            </a:r>
            <a:b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08  UI Showcase — All Modules</a:t>
            </a:r>
            <a:b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09  Demo Flow &amp; Live Demo</a:t>
            </a:r>
            <a:b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10  Challenges &amp; Solutions</a:t>
            </a:r>
            <a:b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11  Strengths &amp; Future Enhancements</a:t>
            </a:r>
            <a:b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12  Team &amp; Conclusion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2 / 29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5"/>
          <p:cNvSpPr txBox="1"/>
          <p:nvPr/>
        </p:nvSpPr>
        <p:spPr>
          <a:xfrm>
            <a:off x="685800" y="1047749"/>
            <a:ext cx="85725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WHAT IS MEDICARE PRO?</a:t>
            </a:r>
            <a:endParaRPr/>
          </a:p>
        </p:txBody>
      </p:sp>
      <p:sp>
        <p:nvSpPr>
          <p:cNvPr id="110" name="Google Shape;110;p15"/>
          <p:cNvSpPr/>
          <p:nvPr/>
        </p:nvSpPr>
        <p:spPr>
          <a:xfrm>
            <a:off x="685800" y="2381250"/>
            <a:ext cx="533400" cy="47625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5"/>
          <p:cNvSpPr txBox="1"/>
          <p:nvPr/>
        </p:nvSpPr>
        <p:spPr>
          <a:xfrm>
            <a:off x="685800" y="262890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10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One platform. Every appointment, secured.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685800" y="5295900"/>
            <a:ext cx="781049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Connecting patients, doctors, and admins on one platform.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3 / 29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WHY MEDICARE PRO WAS BUILT</a:t>
            </a:r>
            <a:endParaRPr/>
          </a:p>
        </p:txBody>
      </p:sp>
      <p:sp>
        <p:nvSpPr>
          <p:cNvPr id="119" name="Google Shape;119;p16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6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Problem Statement</a:t>
            </a: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685800" y="2381250"/>
            <a:ext cx="4953000" cy="1809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Manual scheduling doesn't scale.</a:t>
            </a:r>
            <a:endParaRPr/>
          </a:p>
        </p:txBody>
      </p:sp>
      <p:sp>
        <p:nvSpPr>
          <p:cNvPr id="122" name="Google Shape;122;p16"/>
          <p:cNvSpPr txBox="1"/>
          <p:nvPr/>
        </p:nvSpPr>
        <p:spPr>
          <a:xfrm>
            <a:off x="685800" y="4305300"/>
            <a:ext cx="4762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Clinics relying on phone bookings face conflicts, poor visibility, and no central oversight.</a:t>
            </a:r>
            <a:endParaRPr/>
          </a:p>
        </p:txBody>
      </p:sp>
      <p:sp>
        <p:nvSpPr>
          <p:cNvPr id="123" name="Google Shape;123;p16"/>
          <p:cNvSpPr txBox="1"/>
          <p:nvPr/>
        </p:nvSpPr>
        <p:spPr>
          <a:xfrm>
            <a:off x="6191250" y="23812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APPOINTMENT CONFLICTS</a:t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6191250" y="26289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Phone-based scheduling leads to double-bookings and time clashes across clinics.</a:t>
            </a:r>
            <a:endParaRPr/>
          </a:p>
        </p:txBody>
      </p:sp>
      <p:cxnSp>
        <p:nvCxnSpPr>
          <p:cNvPr id="125" name="Google Shape;125;p16"/>
          <p:cNvCxnSpPr/>
          <p:nvPr/>
        </p:nvCxnSpPr>
        <p:spPr>
          <a:xfrm>
            <a:off x="6191250" y="3238500"/>
            <a:ext cx="5314950" cy="0"/>
          </a:xfrm>
          <a:prstGeom prst="straightConnector1">
            <a:avLst/>
          </a:prstGeom>
          <a:noFill/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" name="Google Shape;126;p16"/>
          <p:cNvSpPr txBox="1"/>
          <p:nvPr/>
        </p:nvSpPr>
        <p:spPr>
          <a:xfrm>
            <a:off x="6191250" y="33718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POOR COMMUNICATION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6191250" y="36195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No direct digital channel between patients and doctors for updates or follow-ups.</a:t>
            </a:r>
            <a:endParaRPr/>
          </a:p>
        </p:txBody>
      </p:sp>
      <p:cxnSp>
        <p:nvCxnSpPr>
          <p:cNvPr id="128" name="Google Shape;128;p16"/>
          <p:cNvCxnSpPr/>
          <p:nvPr/>
        </p:nvCxnSpPr>
        <p:spPr>
          <a:xfrm>
            <a:off x="6191250" y="4229100"/>
            <a:ext cx="5314950" cy="0"/>
          </a:xfrm>
          <a:prstGeom prst="straightConnector1">
            <a:avLst/>
          </a:prstGeom>
          <a:noFill/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9" name="Google Shape;129;p16"/>
          <p:cNvSpPr txBox="1"/>
          <p:nvPr/>
        </p:nvSpPr>
        <p:spPr>
          <a:xfrm>
            <a:off x="6191250" y="43624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NO DISCOVERY</a:t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6191250" y="46101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Patients struggle to find verified specialists filtered by specialty and rating.</a:t>
            </a:r>
            <a:endParaRPr/>
          </a:p>
        </p:txBody>
      </p:sp>
      <p:cxnSp>
        <p:nvCxnSpPr>
          <p:cNvPr id="131" name="Google Shape;131;p16"/>
          <p:cNvCxnSpPr/>
          <p:nvPr/>
        </p:nvCxnSpPr>
        <p:spPr>
          <a:xfrm>
            <a:off x="6191250" y="5219700"/>
            <a:ext cx="5314950" cy="0"/>
          </a:xfrm>
          <a:prstGeom prst="straightConnector1">
            <a:avLst/>
          </a:prstGeom>
          <a:noFill/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2" name="Google Shape;132;p16"/>
          <p:cNvSpPr txBox="1"/>
          <p:nvPr/>
        </p:nvSpPr>
        <p:spPr>
          <a:xfrm>
            <a:off x="6191250" y="53530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NO CENTRALIZATION</a:t>
            </a:r>
            <a:endParaRPr/>
          </a:p>
        </p:txBody>
      </p:sp>
      <p:sp>
        <p:nvSpPr>
          <p:cNvPr id="133" name="Google Shape;133;p16"/>
          <p:cNvSpPr txBox="1"/>
          <p:nvPr/>
        </p:nvSpPr>
        <p:spPr>
          <a:xfrm>
            <a:off x="6191250" y="56007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Scattered records make platform-wide monitoring and analytics impossible.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4 / 29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7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WHAT MEDICARE PRO AIMS TO ACHIEVE</a:t>
            </a:r>
            <a:endParaRPr/>
          </a:p>
        </p:txBody>
      </p:sp>
      <p:sp>
        <p:nvSpPr>
          <p:cNvPr id="140" name="Google Shape;140;p17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Project Objectives</a:t>
            </a: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685800" y="215265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1600200" y="2133600"/>
            <a:ext cx="9906000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2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Digitize Healthcare — move phone bookings online.</a:t>
            </a:r>
            <a:endParaRPr/>
          </a:p>
        </p:txBody>
      </p:sp>
      <p:cxnSp>
        <p:nvCxnSpPr>
          <p:cNvPr id="144" name="Google Shape;144;p17"/>
          <p:cNvCxnSpPr/>
          <p:nvPr/>
        </p:nvCxnSpPr>
        <p:spPr>
          <a:xfrm>
            <a:off x="685800" y="2667000"/>
            <a:ext cx="10820400" cy="0"/>
          </a:xfrm>
          <a:prstGeom prst="straightConnector1">
            <a:avLst/>
          </a:prstGeom>
          <a:noFill/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5" name="Google Shape;145;p17"/>
          <p:cNvSpPr txBox="1"/>
          <p:nvPr/>
        </p:nvSpPr>
        <p:spPr>
          <a:xfrm>
            <a:off x="685800" y="297180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146" name="Google Shape;146;p17"/>
          <p:cNvSpPr txBox="1"/>
          <p:nvPr/>
        </p:nvSpPr>
        <p:spPr>
          <a:xfrm>
            <a:off x="1600200" y="2952750"/>
            <a:ext cx="9906000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2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Improve Communication — direct doctor-patient contact.</a:t>
            </a:r>
            <a:endParaRPr/>
          </a:p>
        </p:txBody>
      </p:sp>
      <p:cxnSp>
        <p:nvCxnSpPr>
          <p:cNvPr id="147" name="Google Shape;147;p17"/>
          <p:cNvCxnSpPr/>
          <p:nvPr/>
        </p:nvCxnSpPr>
        <p:spPr>
          <a:xfrm>
            <a:off x="685800" y="3486150"/>
            <a:ext cx="10820400" cy="0"/>
          </a:xfrm>
          <a:prstGeom prst="straightConnector1">
            <a:avLst/>
          </a:prstGeom>
          <a:noFill/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" name="Google Shape;148;p17"/>
          <p:cNvSpPr txBox="1"/>
          <p:nvPr/>
        </p:nvSpPr>
        <p:spPr>
          <a:xfrm>
            <a:off x="685800" y="3790949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149" name="Google Shape;149;p17"/>
          <p:cNvSpPr txBox="1"/>
          <p:nvPr/>
        </p:nvSpPr>
        <p:spPr>
          <a:xfrm>
            <a:off x="1600200" y="3771900"/>
            <a:ext cx="9906000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2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Reduce Conflicts — prevent automatic double-bookings.</a:t>
            </a:r>
            <a:endParaRPr/>
          </a:p>
        </p:txBody>
      </p:sp>
      <p:cxnSp>
        <p:nvCxnSpPr>
          <p:cNvPr id="150" name="Google Shape;150;p17"/>
          <p:cNvCxnSpPr/>
          <p:nvPr/>
        </p:nvCxnSpPr>
        <p:spPr>
          <a:xfrm>
            <a:off x="685800" y="4305300"/>
            <a:ext cx="10820400" cy="0"/>
          </a:xfrm>
          <a:prstGeom prst="straightConnector1">
            <a:avLst/>
          </a:prstGeom>
          <a:noFill/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1" name="Google Shape;151;p17"/>
          <p:cNvSpPr txBox="1"/>
          <p:nvPr/>
        </p:nvSpPr>
        <p:spPr>
          <a:xfrm>
            <a:off x="685800" y="461010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  <p:sp>
        <p:nvSpPr>
          <p:cNvPr id="152" name="Google Shape;152;p17"/>
          <p:cNvSpPr txBox="1"/>
          <p:nvPr/>
        </p:nvSpPr>
        <p:spPr>
          <a:xfrm>
            <a:off x="1600200" y="4591050"/>
            <a:ext cx="9906000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2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Centralize Management — one platform, three roles.</a:t>
            </a:r>
            <a:endParaRPr/>
          </a:p>
        </p:txBody>
      </p:sp>
      <p:cxnSp>
        <p:nvCxnSpPr>
          <p:cNvPr id="153" name="Google Shape;153;p17"/>
          <p:cNvCxnSpPr/>
          <p:nvPr/>
        </p:nvCxnSpPr>
        <p:spPr>
          <a:xfrm>
            <a:off x="685800" y="5124450"/>
            <a:ext cx="10820400" cy="0"/>
          </a:xfrm>
          <a:prstGeom prst="straightConnector1">
            <a:avLst/>
          </a:prstGeom>
          <a:noFill/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4" name="Google Shape;154;p17"/>
          <p:cNvSpPr txBox="1"/>
          <p:nvPr/>
        </p:nvSpPr>
        <p:spPr>
          <a:xfrm>
            <a:off x="685800" y="542925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/>
          </a:p>
        </p:txBody>
      </p:sp>
      <p:sp>
        <p:nvSpPr>
          <p:cNvPr id="155" name="Google Shape;155;p17"/>
          <p:cNvSpPr txBox="1"/>
          <p:nvPr/>
        </p:nvSpPr>
        <p:spPr>
          <a:xfrm>
            <a:off x="1600200" y="5410200"/>
            <a:ext cx="9906000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2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Responsive UX — consistent experience on every device.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5 / 29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8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THREE DISTINCT ROLES</a:t>
            </a:r>
            <a:endParaRPr/>
          </a:p>
        </p:txBody>
      </p:sp>
      <p:sp>
        <p:nvSpPr>
          <p:cNvPr id="162" name="Google Shape;162;p18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8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Target Users</a:t>
            </a:r>
            <a:endParaRPr/>
          </a:p>
        </p:txBody>
      </p:sp>
      <p:sp>
        <p:nvSpPr>
          <p:cNvPr id="164" name="Google Shape;164;p18"/>
          <p:cNvSpPr txBox="1"/>
          <p:nvPr/>
        </p:nvSpPr>
        <p:spPr>
          <a:xfrm>
            <a:off x="685800" y="22479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165" name="Google Shape;165;p18"/>
          <p:cNvSpPr txBox="1"/>
          <p:nvPr/>
        </p:nvSpPr>
        <p:spPr>
          <a:xfrm>
            <a:off x="1276350" y="2228850"/>
            <a:ext cx="3810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Patients &amp; Doctors</a:t>
            </a:r>
            <a:endParaRPr/>
          </a:p>
        </p:txBody>
      </p:sp>
      <p:cxnSp>
        <p:nvCxnSpPr>
          <p:cNvPr id="166" name="Google Shape;166;p18"/>
          <p:cNvCxnSpPr/>
          <p:nvPr/>
        </p:nvCxnSpPr>
        <p:spPr>
          <a:xfrm>
            <a:off x="685800" y="2781300"/>
            <a:ext cx="5086350" cy="0"/>
          </a:xfrm>
          <a:prstGeom prst="straightConnector1">
            <a:avLst/>
          </a:prstGeom>
          <a:noFill/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7" name="Google Shape;167;p18"/>
          <p:cNvSpPr txBox="1"/>
          <p:nvPr/>
        </p:nvSpPr>
        <p:spPr>
          <a:xfrm>
            <a:off x="685800" y="2971800"/>
            <a:ext cx="508635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9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Patients register, search and filter verified doctors, book and cancel appointments, pay securely, and leave reviews.</a:t>
            </a:r>
            <a:b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Doctors register for approval, manage their weekly schedule, accept or complete appointments, and maintain their professional profile.</a:t>
            </a:r>
            <a:endParaRPr/>
          </a:p>
        </p:txBody>
      </p:sp>
      <p:sp>
        <p:nvSpPr>
          <p:cNvPr id="168" name="Google Shape;168;p18"/>
          <p:cNvSpPr txBox="1"/>
          <p:nvPr/>
        </p:nvSpPr>
        <p:spPr>
          <a:xfrm>
            <a:off x="6191250" y="22479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169" name="Google Shape;169;p18"/>
          <p:cNvSpPr txBox="1"/>
          <p:nvPr/>
        </p:nvSpPr>
        <p:spPr>
          <a:xfrm>
            <a:off x="6781800" y="2228850"/>
            <a:ext cx="3810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Administrators</a:t>
            </a:r>
            <a:endParaRPr/>
          </a:p>
        </p:txBody>
      </p:sp>
      <p:cxnSp>
        <p:nvCxnSpPr>
          <p:cNvPr id="170" name="Google Shape;170;p18"/>
          <p:cNvCxnSpPr/>
          <p:nvPr/>
        </p:nvCxnSpPr>
        <p:spPr>
          <a:xfrm>
            <a:off x="6191250" y="2781300"/>
            <a:ext cx="5086350" cy="0"/>
          </a:xfrm>
          <a:prstGeom prst="straightConnector1">
            <a:avLst/>
          </a:prstGeom>
          <a:noFill/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18"/>
          <p:cNvSpPr txBox="1"/>
          <p:nvPr/>
        </p:nvSpPr>
        <p:spPr>
          <a:xfrm>
            <a:off x="6191250" y="2971800"/>
            <a:ext cx="508635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9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Administrators manage all users, approve doctor registrations, monitor every appointment platform-wide, and track revenue and system health through analytics dashboards.</a:t>
            </a:r>
            <a:endParaRPr/>
          </a:p>
        </p:txBody>
      </p:sp>
      <p:sp>
        <p:nvSpPr>
          <p:cNvPr id="172" name="Google Shape;172;p18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6 / 29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9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CORE FUNCTIONALITIES OF THE PLATFORM</a:t>
            </a:r>
            <a:endParaRPr/>
          </a:p>
        </p:txBody>
      </p:sp>
      <p:sp>
        <p:nvSpPr>
          <p:cNvPr id="178" name="Google Shape;178;p19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9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Main Features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685800" y="2381250"/>
            <a:ext cx="4953000" cy="1809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5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Six core capabilities, one platform.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685800" y="4305300"/>
            <a:ext cx="4762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Every feature is built around the three-role experience.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6191250" y="23812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AUTHENTICATION</a:t>
            </a:r>
            <a:endParaRPr/>
          </a:p>
        </p:txBody>
      </p:sp>
      <p:sp>
        <p:nvSpPr>
          <p:cNvPr id="183" name="Google Shape;183;p19"/>
          <p:cNvSpPr txBox="1"/>
          <p:nvPr/>
        </p:nvSpPr>
        <p:spPr>
          <a:xfrm>
            <a:off x="6191250" y="26289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JWT tokens, bcrypt password hashing, protected routes, and role-based sessions.</a:t>
            </a:r>
            <a:endParaRPr/>
          </a:p>
        </p:txBody>
      </p:sp>
      <p:cxnSp>
        <p:nvCxnSpPr>
          <p:cNvPr id="184" name="Google Shape;184;p19"/>
          <p:cNvCxnSpPr/>
          <p:nvPr/>
        </p:nvCxnSpPr>
        <p:spPr>
          <a:xfrm>
            <a:off x="6191250" y="3238500"/>
            <a:ext cx="5314950" cy="0"/>
          </a:xfrm>
          <a:prstGeom prst="straightConnector1">
            <a:avLst/>
          </a:prstGeom>
          <a:noFill/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5" name="Google Shape;185;p19"/>
          <p:cNvSpPr txBox="1"/>
          <p:nvPr/>
        </p:nvSpPr>
        <p:spPr>
          <a:xfrm>
            <a:off x="6191250" y="33718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DOCTOR DISCOVERY &amp; BOOKING</a:t>
            </a:r>
            <a:endParaRPr/>
          </a:p>
        </p:txBody>
      </p:sp>
      <p:sp>
        <p:nvSpPr>
          <p:cNvPr id="186" name="Google Shape;186;p19"/>
          <p:cNvSpPr txBox="1"/>
          <p:nvPr/>
        </p:nvSpPr>
        <p:spPr>
          <a:xfrm>
            <a:off x="6191250" y="36195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Search by name or specialty, filter by rating, and book available time slots instantly.</a:t>
            </a:r>
            <a:endParaRPr/>
          </a:p>
        </p:txBody>
      </p:sp>
      <p:cxnSp>
        <p:nvCxnSpPr>
          <p:cNvPr id="187" name="Google Shape;187;p19"/>
          <p:cNvCxnSpPr/>
          <p:nvPr/>
        </p:nvCxnSpPr>
        <p:spPr>
          <a:xfrm>
            <a:off x="6191250" y="4229100"/>
            <a:ext cx="5314950" cy="0"/>
          </a:xfrm>
          <a:prstGeom prst="straightConnector1">
            <a:avLst/>
          </a:prstGeom>
          <a:noFill/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8" name="Google Shape;188;p19"/>
          <p:cNvSpPr txBox="1"/>
          <p:nvPr/>
        </p:nvSpPr>
        <p:spPr>
          <a:xfrm>
            <a:off x="6191250" y="43624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SCHEDULE &amp; PRACTICE MANAGEMENT</a:t>
            </a:r>
            <a:endParaRPr/>
          </a:p>
        </p:txBody>
      </p:sp>
      <p:sp>
        <p:nvSpPr>
          <p:cNvPr id="189" name="Google Shape;189;p19"/>
          <p:cNvSpPr txBox="1"/>
          <p:nvPr/>
        </p:nvSpPr>
        <p:spPr>
          <a:xfrm>
            <a:off x="6191250" y="46101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Doctors configure weekly availability and slot duration, and accept or complete appointments.</a:t>
            </a:r>
            <a:endParaRPr/>
          </a:p>
        </p:txBody>
      </p:sp>
      <p:cxnSp>
        <p:nvCxnSpPr>
          <p:cNvPr id="190" name="Google Shape;190;p19"/>
          <p:cNvCxnSpPr/>
          <p:nvPr/>
        </p:nvCxnSpPr>
        <p:spPr>
          <a:xfrm>
            <a:off x="6191250" y="5219700"/>
            <a:ext cx="5314950" cy="0"/>
          </a:xfrm>
          <a:prstGeom prst="straightConnector1">
            <a:avLst/>
          </a:prstGeom>
          <a:noFill/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1" name="Google Shape;191;p19"/>
          <p:cNvSpPr txBox="1"/>
          <p:nvPr/>
        </p:nvSpPr>
        <p:spPr>
          <a:xfrm>
            <a:off x="6191250" y="53530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ANALYTICS &amp; REVIEWS</a:t>
            </a:r>
            <a:endParaRPr/>
          </a:p>
        </p:txBody>
      </p:sp>
      <p:sp>
        <p:nvSpPr>
          <p:cNvPr id="192" name="Google Shape;192;p19"/>
          <p:cNvSpPr txBox="1"/>
          <p:nvPr/>
        </p:nvSpPr>
        <p:spPr>
          <a:xfrm>
            <a:off x="6191250" y="56007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Admin revenue dashboards, appointment breakdowns, and a star-rating review system.</a:t>
            </a:r>
            <a:endParaRPr/>
          </a:p>
        </p:txBody>
      </p:sp>
      <p:sp>
        <p:nvSpPr>
          <p:cNvPr id="193" name="Google Shape;193;p19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7 / 29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0"/>
          <p:cNvSpPr txBox="1"/>
          <p:nvPr/>
        </p:nvSpPr>
        <p:spPr>
          <a:xfrm>
            <a:off x="685800" y="685800"/>
            <a:ext cx="95250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MEDICARE PRO BY THE NUMBERS</a:t>
            </a:r>
            <a:endParaRPr/>
          </a:p>
        </p:txBody>
      </p:sp>
      <p:sp>
        <p:nvSpPr>
          <p:cNvPr id="199" name="Google Shape;199;p20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0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Project Statistics</a:t>
            </a:r>
            <a:endParaRPr/>
          </a:p>
        </p:txBody>
      </p:sp>
      <p:sp>
        <p:nvSpPr>
          <p:cNvPr id="201" name="Google Shape;201;p20"/>
          <p:cNvSpPr/>
          <p:nvPr/>
        </p:nvSpPr>
        <p:spPr>
          <a:xfrm>
            <a:off x="685800" y="2171700"/>
            <a:ext cx="3479800" cy="1828800"/>
          </a:xfrm>
          <a:prstGeom prst="roundRect">
            <a:avLst>
              <a:gd fmla="val 6250" name="adj"/>
            </a:avLst>
          </a:prstGeom>
          <a:solidFill>
            <a:srgbClr val="2DD4BF"/>
          </a:solidFill>
          <a:ln cap="flat" cmpd="sng" w="9525">
            <a:solidFill>
              <a:srgbClr val="2DD4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0"/>
          <p:cNvSpPr txBox="1"/>
          <p:nvPr/>
        </p:nvSpPr>
        <p:spPr>
          <a:xfrm>
            <a:off x="914400" y="2343150"/>
            <a:ext cx="30226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📄</a:t>
            </a:r>
            <a:endParaRPr/>
          </a:p>
        </p:txBody>
      </p:sp>
      <p:sp>
        <p:nvSpPr>
          <p:cNvPr id="203" name="Google Shape;203;p20"/>
          <p:cNvSpPr txBox="1"/>
          <p:nvPr/>
        </p:nvSpPr>
        <p:spPr>
          <a:xfrm>
            <a:off x="914400" y="2667000"/>
            <a:ext cx="30226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  <a:endParaRPr/>
          </a:p>
        </p:txBody>
      </p:sp>
      <p:sp>
        <p:nvSpPr>
          <p:cNvPr id="204" name="Google Shape;204;p20"/>
          <p:cNvSpPr txBox="1"/>
          <p:nvPr/>
        </p:nvSpPr>
        <p:spPr>
          <a:xfrm>
            <a:off x="914400" y="3238500"/>
            <a:ext cx="3022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Total Pages</a:t>
            </a:r>
            <a:endParaRPr/>
          </a:p>
        </p:txBody>
      </p:sp>
      <p:sp>
        <p:nvSpPr>
          <p:cNvPr id="205" name="Google Shape;205;p20"/>
          <p:cNvSpPr txBox="1"/>
          <p:nvPr/>
        </p:nvSpPr>
        <p:spPr>
          <a:xfrm>
            <a:off x="914400" y="3486150"/>
            <a:ext cx="30226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9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Patient, doctor, admin &amp; public</a:t>
            </a:r>
            <a:endParaRPr/>
          </a:p>
        </p:txBody>
      </p:sp>
      <p:sp>
        <p:nvSpPr>
          <p:cNvPr id="206" name="Google Shape;206;p20"/>
          <p:cNvSpPr/>
          <p:nvPr/>
        </p:nvSpPr>
        <p:spPr>
          <a:xfrm>
            <a:off x="4356100" y="2171700"/>
            <a:ext cx="3479800" cy="1828800"/>
          </a:xfrm>
          <a:prstGeom prst="roundRect">
            <a:avLst>
              <a:gd fmla="val 6250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0"/>
          <p:cNvSpPr txBox="1"/>
          <p:nvPr/>
        </p:nvSpPr>
        <p:spPr>
          <a:xfrm>
            <a:off x="4584700" y="2343150"/>
            <a:ext cx="30226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🔌</a:t>
            </a:r>
            <a:endParaRPr/>
          </a:p>
        </p:txBody>
      </p:sp>
      <p:sp>
        <p:nvSpPr>
          <p:cNvPr id="208" name="Google Shape;208;p20"/>
          <p:cNvSpPr txBox="1"/>
          <p:nvPr/>
        </p:nvSpPr>
        <p:spPr>
          <a:xfrm>
            <a:off x="4584700" y="2667000"/>
            <a:ext cx="30226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5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  <a:endParaRPr/>
          </a:p>
        </p:txBody>
      </p:sp>
      <p:sp>
        <p:nvSpPr>
          <p:cNvPr id="209" name="Google Shape;209;p20"/>
          <p:cNvSpPr txBox="1"/>
          <p:nvPr/>
        </p:nvSpPr>
        <p:spPr>
          <a:xfrm>
            <a:off x="4584700" y="3238500"/>
            <a:ext cx="3022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REST API Routes</a:t>
            </a:r>
            <a:endParaRPr/>
          </a:p>
        </p:txBody>
      </p:sp>
      <p:sp>
        <p:nvSpPr>
          <p:cNvPr id="210" name="Google Shape;210;p20"/>
          <p:cNvSpPr txBox="1"/>
          <p:nvPr/>
        </p:nvSpPr>
        <p:spPr>
          <a:xfrm>
            <a:off x="4584700" y="3486150"/>
            <a:ext cx="30226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9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41 endpoints across 8 modules</a:t>
            </a:r>
            <a:endParaRPr/>
          </a:p>
        </p:txBody>
      </p:sp>
      <p:sp>
        <p:nvSpPr>
          <p:cNvPr id="211" name="Google Shape;211;p20"/>
          <p:cNvSpPr/>
          <p:nvPr/>
        </p:nvSpPr>
        <p:spPr>
          <a:xfrm>
            <a:off x="8026399" y="2171700"/>
            <a:ext cx="3479800" cy="1828800"/>
          </a:xfrm>
          <a:prstGeom prst="roundRect">
            <a:avLst>
              <a:gd fmla="val 6250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0"/>
          <p:cNvSpPr txBox="1"/>
          <p:nvPr/>
        </p:nvSpPr>
        <p:spPr>
          <a:xfrm>
            <a:off x="8254999" y="2343150"/>
            <a:ext cx="30226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🗄️</a:t>
            </a:r>
            <a:endParaRPr/>
          </a:p>
        </p:txBody>
      </p:sp>
      <p:sp>
        <p:nvSpPr>
          <p:cNvPr id="213" name="Google Shape;213;p20"/>
          <p:cNvSpPr txBox="1"/>
          <p:nvPr/>
        </p:nvSpPr>
        <p:spPr>
          <a:xfrm>
            <a:off x="8254999" y="2667000"/>
            <a:ext cx="30226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5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/>
          </a:p>
        </p:txBody>
      </p:sp>
      <p:sp>
        <p:nvSpPr>
          <p:cNvPr id="214" name="Google Shape;214;p20"/>
          <p:cNvSpPr txBox="1"/>
          <p:nvPr/>
        </p:nvSpPr>
        <p:spPr>
          <a:xfrm>
            <a:off x="8254999" y="3238500"/>
            <a:ext cx="3022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Database Tables</a:t>
            </a:r>
            <a:endParaRPr/>
          </a:p>
        </p:txBody>
      </p:sp>
      <p:sp>
        <p:nvSpPr>
          <p:cNvPr id="215" name="Google Shape;215;p20"/>
          <p:cNvSpPr txBox="1"/>
          <p:nvPr/>
        </p:nvSpPr>
        <p:spPr>
          <a:xfrm>
            <a:off x="8254999" y="3486150"/>
            <a:ext cx="30226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9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SQL Server, fully relational</a:t>
            </a:r>
            <a:endParaRPr/>
          </a:p>
        </p:txBody>
      </p:sp>
      <p:sp>
        <p:nvSpPr>
          <p:cNvPr id="216" name="Google Shape;216;p20"/>
          <p:cNvSpPr/>
          <p:nvPr/>
        </p:nvSpPr>
        <p:spPr>
          <a:xfrm>
            <a:off x="685800" y="4190999"/>
            <a:ext cx="3479800" cy="1828800"/>
          </a:xfrm>
          <a:prstGeom prst="roundRect">
            <a:avLst>
              <a:gd fmla="val 6250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0"/>
          <p:cNvSpPr txBox="1"/>
          <p:nvPr/>
        </p:nvSpPr>
        <p:spPr>
          <a:xfrm>
            <a:off x="914400" y="4362450"/>
            <a:ext cx="30226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👥</a:t>
            </a:r>
            <a:endParaRPr/>
          </a:p>
        </p:txBody>
      </p:sp>
      <p:sp>
        <p:nvSpPr>
          <p:cNvPr id="218" name="Google Shape;218;p20"/>
          <p:cNvSpPr txBox="1"/>
          <p:nvPr/>
        </p:nvSpPr>
        <p:spPr>
          <a:xfrm>
            <a:off x="914400" y="4686300"/>
            <a:ext cx="30226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5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219" name="Google Shape;219;p20"/>
          <p:cNvSpPr txBox="1"/>
          <p:nvPr/>
        </p:nvSpPr>
        <p:spPr>
          <a:xfrm>
            <a:off x="914400" y="5257800"/>
            <a:ext cx="3022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User Roles</a:t>
            </a:r>
            <a:endParaRPr/>
          </a:p>
        </p:txBody>
      </p:sp>
      <p:sp>
        <p:nvSpPr>
          <p:cNvPr id="220" name="Google Shape;220;p20"/>
          <p:cNvSpPr txBox="1"/>
          <p:nvPr/>
        </p:nvSpPr>
        <p:spPr>
          <a:xfrm>
            <a:off x="914400" y="5505450"/>
            <a:ext cx="30226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9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Patient · Doctor · Admin</a:t>
            </a:r>
            <a:endParaRPr/>
          </a:p>
        </p:txBody>
      </p:sp>
      <p:sp>
        <p:nvSpPr>
          <p:cNvPr id="221" name="Google Shape;221;p20"/>
          <p:cNvSpPr/>
          <p:nvPr/>
        </p:nvSpPr>
        <p:spPr>
          <a:xfrm>
            <a:off x="4356100" y="4190999"/>
            <a:ext cx="3479800" cy="1828800"/>
          </a:xfrm>
          <a:prstGeom prst="roundRect">
            <a:avLst>
              <a:gd fmla="val 6250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0"/>
          <p:cNvSpPr txBox="1"/>
          <p:nvPr/>
        </p:nvSpPr>
        <p:spPr>
          <a:xfrm>
            <a:off x="4584700" y="4362450"/>
            <a:ext cx="30226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💳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4584700" y="4686300"/>
            <a:ext cx="30226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5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/>
          </a:p>
        </p:txBody>
      </p:sp>
      <p:sp>
        <p:nvSpPr>
          <p:cNvPr id="224" name="Google Shape;224;p20"/>
          <p:cNvSpPr txBox="1"/>
          <p:nvPr/>
        </p:nvSpPr>
        <p:spPr>
          <a:xfrm>
            <a:off x="4584700" y="5257800"/>
            <a:ext cx="3022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Stripe Integrated</a:t>
            </a:r>
            <a:endParaRPr/>
          </a:p>
        </p:txBody>
      </p:sp>
      <p:sp>
        <p:nvSpPr>
          <p:cNvPr id="225" name="Google Shape;225;p20"/>
          <p:cNvSpPr txBox="1"/>
          <p:nvPr/>
        </p:nvSpPr>
        <p:spPr>
          <a:xfrm>
            <a:off x="4584700" y="5505450"/>
            <a:ext cx="30226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9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Checkout, refunds &amp; sync</a:t>
            </a:r>
            <a:endParaRPr/>
          </a:p>
        </p:txBody>
      </p:sp>
      <p:sp>
        <p:nvSpPr>
          <p:cNvPr id="226" name="Google Shape;226;p20"/>
          <p:cNvSpPr/>
          <p:nvPr/>
        </p:nvSpPr>
        <p:spPr>
          <a:xfrm>
            <a:off x="8026399" y="4190999"/>
            <a:ext cx="3479800" cy="1828800"/>
          </a:xfrm>
          <a:prstGeom prst="roundRect">
            <a:avLst>
              <a:gd fmla="val 6250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0"/>
          <p:cNvSpPr txBox="1"/>
          <p:nvPr/>
        </p:nvSpPr>
        <p:spPr>
          <a:xfrm>
            <a:off x="8254999" y="4362450"/>
            <a:ext cx="30226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🔐</a:t>
            </a:r>
            <a:endParaRPr/>
          </a:p>
        </p:txBody>
      </p:sp>
      <p:sp>
        <p:nvSpPr>
          <p:cNvPr id="228" name="Google Shape;228;p20"/>
          <p:cNvSpPr txBox="1"/>
          <p:nvPr/>
        </p:nvSpPr>
        <p:spPr>
          <a:xfrm>
            <a:off x="8254999" y="4686300"/>
            <a:ext cx="30226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5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/>
          </a:p>
        </p:txBody>
      </p:sp>
      <p:sp>
        <p:nvSpPr>
          <p:cNvPr id="229" name="Google Shape;229;p20"/>
          <p:cNvSpPr txBox="1"/>
          <p:nvPr/>
        </p:nvSpPr>
        <p:spPr>
          <a:xfrm>
            <a:off x="8254999" y="5257800"/>
            <a:ext cx="3022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JWT Secured</a:t>
            </a:r>
            <a:endParaRPr/>
          </a:p>
        </p:txBody>
      </p:sp>
      <p:sp>
        <p:nvSpPr>
          <p:cNvPr id="230" name="Google Shape;230;p20"/>
          <p:cNvSpPr txBox="1"/>
          <p:nvPr/>
        </p:nvSpPr>
        <p:spPr>
          <a:xfrm>
            <a:off x="8254999" y="5505450"/>
            <a:ext cx="30226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9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Stateless, role-based auth</a:t>
            </a:r>
            <a:endParaRPr/>
          </a:p>
        </p:txBody>
      </p:sp>
      <p:sp>
        <p:nvSpPr>
          <p:cNvPr id="231" name="Google Shape;231;p20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8 / 29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1"/>
          <p:cNvSpPr txBox="1"/>
          <p:nvPr/>
        </p:nvSpPr>
        <p:spPr>
          <a:xfrm>
            <a:off x="685800" y="685800"/>
            <a:ext cx="95250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MODERN, INDUSTRY-STANDARD TECHNOLOGIES</a:t>
            </a:r>
            <a:endParaRPr/>
          </a:p>
        </p:txBody>
      </p:sp>
      <p:sp>
        <p:nvSpPr>
          <p:cNvPr id="237" name="Google Shape;237;p21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1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Tech Stack</a:t>
            </a:r>
            <a:endParaRPr/>
          </a:p>
        </p:txBody>
      </p:sp>
      <p:sp>
        <p:nvSpPr>
          <p:cNvPr id="239" name="Google Shape;239;p21"/>
          <p:cNvSpPr/>
          <p:nvPr/>
        </p:nvSpPr>
        <p:spPr>
          <a:xfrm>
            <a:off x="685800" y="2400300"/>
            <a:ext cx="1981199" cy="1143000"/>
          </a:xfrm>
          <a:prstGeom prst="roundRect">
            <a:avLst>
              <a:gd fmla="val 10000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react_teal.png" id="240" name="Google Shape;24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09700" y="2571750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21"/>
          <p:cNvSpPr txBox="1"/>
          <p:nvPr/>
        </p:nvSpPr>
        <p:spPr>
          <a:xfrm>
            <a:off x="762000" y="3200400"/>
            <a:ext cx="18288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React 19</a:t>
            </a:r>
            <a:endParaRPr/>
          </a:p>
        </p:txBody>
      </p:sp>
      <p:sp>
        <p:nvSpPr>
          <p:cNvPr id="242" name="Google Shape;242;p21"/>
          <p:cNvSpPr/>
          <p:nvPr/>
        </p:nvSpPr>
        <p:spPr>
          <a:xfrm>
            <a:off x="2895600" y="2400300"/>
            <a:ext cx="1981199" cy="1143000"/>
          </a:xfrm>
          <a:prstGeom prst="roundRect">
            <a:avLst>
              <a:gd fmla="val 10000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vite_teal.png" id="243" name="Google Shape;243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19500" y="2571750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1"/>
          <p:cNvSpPr txBox="1"/>
          <p:nvPr/>
        </p:nvSpPr>
        <p:spPr>
          <a:xfrm>
            <a:off x="2971800" y="3200400"/>
            <a:ext cx="18288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Vite</a:t>
            </a:r>
            <a:endParaRPr/>
          </a:p>
        </p:txBody>
      </p:sp>
      <p:sp>
        <p:nvSpPr>
          <p:cNvPr id="245" name="Google Shape;245;p21"/>
          <p:cNvSpPr/>
          <p:nvPr/>
        </p:nvSpPr>
        <p:spPr>
          <a:xfrm>
            <a:off x="5105400" y="2400300"/>
            <a:ext cx="1981199" cy="1143000"/>
          </a:xfrm>
          <a:prstGeom prst="roundRect">
            <a:avLst>
              <a:gd fmla="val 10000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nodejs_teal.png" id="246" name="Google Shape;246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29300" y="2571750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1"/>
          <p:cNvSpPr txBox="1"/>
          <p:nvPr/>
        </p:nvSpPr>
        <p:spPr>
          <a:xfrm>
            <a:off x="5181600" y="3200400"/>
            <a:ext cx="18288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Node.js</a:t>
            </a:r>
            <a:endParaRPr/>
          </a:p>
        </p:txBody>
      </p:sp>
      <p:sp>
        <p:nvSpPr>
          <p:cNvPr id="248" name="Google Shape;248;p21"/>
          <p:cNvSpPr/>
          <p:nvPr/>
        </p:nvSpPr>
        <p:spPr>
          <a:xfrm>
            <a:off x="7315200" y="2400300"/>
            <a:ext cx="1981199" cy="1143000"/>
          </a:xfrm>
          <a:prstGeom prst="roundRect">
            <a:avLst>
              <a:gd fmla="val 10000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express_teal.png" id="249" name="Google Shape;249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39099" y="2571750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1"/>
          <p:cNvSpPr txBox="1"/>
          <p:nvPr/>
        </p:nvSpPr>
        <p:spPr>
          <a:xfrm>
            <a:off x="7391400" y="3200400"/>
            <a:ext cx="18288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Express.js</a:t>
            </a:r>
            <a:endParaRPr/>
          </a:p>
        </p:txBody>
      </p:sp>
      <p:sp>
        <p:nvSpPr>
          <p:cNvPr id="251" name="Google Shape;251;p21"/>
          <p:cNvSpPr/>
          <p:nvPr/>
        </p:nvSpPr>
        <p:spPr>
          <a:xfrm>
            <a:off x="9525000" y="2400300"/>
            <a:ext cx="1981199" cy="1143000"/>
          </a:xfrm>
          <a:prstGeom prst="roundRect">
            <a:avLst>
              <a:gd fmla="val 10000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qlserver_teal.png" id="252" name="Google Shape;252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248900" y="2571750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1"/>
          <p:cNvSpPr txBox="1"/>
          <p:nvPr/>
        </p:nvSpPr>
        <p:spPr>
          <a:xfrm>
            <a:off x="9601200" y="3200400"/>
            <a:ext cx="18288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SQL Server</a:t>
            </a:r>
            <a:endParaRPr/>
          </a:p>
        </p:txBody>
      </p:sp>
      <p:sp>
        <p:nvSpPr>
          <p:cNvPr id="254" name="Google Shape;254;p21"/>
          <p:cNvSpPr/>
          <p:nvPr/>
        </p:nvSpPr>
        <p:spPr>
          <a:xfrm>
            <a:off x="685800" y="3810000"/>
            <a:ext cx="1981199" cy="1143000"/>
          </a:xfrm>
          <a:prstGeom prst="roundRect">
            <a:avLst>
              <a:gd fmla="val 10000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tripe_teal.png" id="255" name="Google Shape;255;p2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409700" y="3981450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21"/>
          <p:cNvSpPr txBox="1"/>
          <p:nvPr/>
        </p:nvSpPr>
        <p:spPr>
          <a:xfrm>
            <a:off x="762000" y="4610100"/>
            <a:ext cx="18288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Stripe</a:t>
            </a:r>
            <a:endParaRPr/>
          </a:p>
        </p:txBody>
      </p:sp>
      <p:sp>
        <p:nvSpPr>
          <p:cNvPr id="257" name="Google Shape;257;p21"/>
          <p:cNvSpPr/>
          <p:nvPr/>
        </p:nvSpPr>
        <p:spPr>
          <a:xfrm>
            <a:off x="2895600" y="3810000"/>
            <a:ext cx="1981199" cy="1143000"/>
          </a:xfrm>
          <a:prstGeom prst="roundRect">
            <a:avLst>
              <a:gd fmla="val 10000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jwt_teal.png" id="258" name="Google Shape;258;p2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3619500" y="3981450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1"/>
          <p:cNvSpPr txBox="1"/>
          <p:nvPr/>
        </p:nvSpPr>
        <p:spPr>
          <a:xfrm>
            <a:off x="2971800" y="4610100"/>
            <a:ext cx="18288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JWT</a:t>
            </a:r>
            <a:endParaRPr/>
          </a:p>
        </p:txBody>
      </p:sp>
      <p:sp>
        <p:nvSpPr>
          <p:cNvPr id="260" name="Google Shape;260;p21"/>
          <p:cNvSpPr/>
          <p:nvPr/>
        </p:nvSpPr>
        <p:spPr>
          <a:xfrm>
            <a:off x="5105400" y="3810000"/>
            <a:ext cx="1981199" cy="1143000"/>
          </a:xfrm>
          <a:prstGeom prst="roundRect">
            <a:avLst>
              <a:gd fmla="val 10000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it_teal.png" id="261" name="Google Shape;261;p21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829300" y="3981450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21"/>
          <p:cNvSpPr txBox="1"/>
          <p:nvPr/>
        </p:nvSpPr>
        <p:spPr>
          <a:xfrm>
            <a:off x="5181600" y="4610100"/>
            <a:ext cx="18288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Git</a:t>
            </a:r>
            <a:endParaRPr/>
          </a:p>
        </p:txBody>
      </p:sp>
      <p:sp>
        <p:nvSpPr>
          <p:cNvPr id="263" name="Google Shape;263;p21"/>
          <p:cNvSpPr/>
          <p:nvPr/>
        </p:nvSpPr>
        <p:spPr>
          <a:xfrm>
            <a:off x="7315200" y="3810000"/>
            <a:ext cx="1981199" cy="1143000"/>
          </a:xfrm>
          <a:prstGeom prst="roundRect">
            <a:avLst>
              <a:gd fmla="val 10000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ithub_teal.png" id="264" name="Google Shape;264;p21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8039099" y="3981450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21"/>
          <p:cNvSpPr txBox="1"/>
          <p:nvPr/>
        </p:nvSpPr>
        <p:spPr>
          <a:xfrm>
            <a:off x="7391400" y="4610100"/>
            <a:ext cx="18288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GitHub</a:t>
            </a:r>
            <a:endParaRPr/>
          </a:p>
        </p:txBody>
      </p:sp>
      <p:sp>
        <p:nvSpPr>
          <p:cNvPr id="266" name="Google Shape;266;p21"/>
          <p:cNvSpPr/>
          <p:nvPr/>
        </p:nvSpPr>
        <p:spPr>
          <a:xfrm>
            <a:off x="9525000" y="3810000"/>
            <a:ext cx="1981199" cy="1143000"/>
          </a:xfrm>
          <a:prstGeom prst="roundRect">
            <a:avLst>
              <a:gd fmla="val 10000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xios_teal.png" id="267" name="Google Shape;267;p21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0248900" y="3981450"/>
            <a:ext cx="533400" cy="533400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21"/>
          <p:cNvSpPr txBox="1"/>
          <p:nvPr/>
        </p:nvSpPr>
        <p:spPr>
          <a:xfrm>
            <a:off x="9601200" y="4610100"/>
            <a:ext cx="18288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Axios</a:t>
            </a:r>
            <a:endParaRPr/>
          </a:p>
        </p:txBody>
      </p:sp>
      <p:sp>
        <p:nvSpPr>
          <p:cNvPr id="269" name="Google Shape;269;p21"/>
          <p:cNvSpPr txBox="1"/>
          <p:nvPr/>
        </p:nvSpPr>
        <p:spPr>
          <a:xfrm>
            <a:off x="685800" y="5334000"/>
            <a:ext cx="108204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Also powered by React Context API for global state and Bootstrap 5 for responsive styling.</a:t>
            </a:r>
            <a:endParaRPr/>
          </a:p>
        </p:txBody>
      </p:sp>
      <p:sp>
        <p:nvSpPr>
          <p:cNvPr id="270" name="Google Shape;270;p21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9 / 29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2"/>
          <p:cNvSpPr txBox="1"/>
          <p:nvPr/>
        </p:nvSpPr>
        <p:spPr>
          <a:xfrm>
            <a:off x="685800" y="685800"/>
            <a:ext cx="95250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HOW THE LAYERS CONNECT</a:t>
            </a:r>
            <a:endParaRPr/>
          </a:p>
        </p:txBody>
      </p:sp>
      <p:sp>
        <p:nvSpPr>
          <p:cNvPr id="276" name="Google Shape;276;p22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2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System Architecture</a:t>
            </a:r>
            <a:endParaRPr/>
          </a:p>
        </p:txBody>
      </p:sp>
      <p:sp>
        <p:nvSpPr>
          <p:cNvPr id="278" name="Google Shape;278;p22"/>
          <p:cNvSpPr txBox="1"/>
          <p:nvPr/>
        </p:nvSpPr>
        <p:spPr>
          <a:xfrm>
            <a:off x="685800" y="2133600"/>
            <a:ext cx="108204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The React frontend calls the Express API over authenticated REST requests, which reads/writes SQL Server and coordinates Stripe payments.</a:t>
            </a:r>
            <a:endParaRPr/>
          </a:p>
        </p:txBody>
      </p:sp>
      <p:sp>
        <p:nvSpPr>
          <p:cNvPr id="279" name="Google Shape;279;p22"/>
          <p:cNvSpPr/>
          <p:nvPr/>
        </p:nvSpPr>
        <p:spPr>
          <a:xfrm>
            <a:off x="685800" y="3238500"/>
            <a:ext cx="1428750" cy="609600"/>
          </a:xfrm>
          <a:prstGeom prst="roundRect">
            <a:avLst>
              <a:gd fmla="val 18750" name="adj"/>
            </a:avLst>
          </a:prstGeom>
          <a:solidFill>
            <a:srgbClr val="FFFFFF"/>
          </a:solidFill>
          <a:ln cap="flat" cmpd="sng" w="1427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2"/>
          <p:cNvSpPr txBox="1"/>
          <p:nvPr/>
        </p:nvSpPr>
        <p:spPr>
          <a:xfrm>
            <a:off x="762000" y="3333750"/>
            <a:ext cx="1276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React + Vite</a:t>
            </a:r>
            <a:endParaRPr/>
          </a:p>
        </p:txBody>
      </p:sp>
      <p:sp>
        <p:nvSpPr>
          <p:cNvPr id="281" name="Google Shape;281;p22"/>
          <p:cNvSpPr txBox="1"/>
          <p:nvPr/>
        </p:nvSpPr>
        <p:spPr>
          <a:xfrm>
            <a:off x="762000" y="3638550"/>
            <a:ext cx="12763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UI Layer</a:t>
            </a:r>
            <a:endParaRPr/>
          </a:p>
        </p:txBody>
      </p:sp>
      <p:cxnSp>
        <p:nvCxnSpPr>
          <p:cNvPr id="282" name="Google Shape;282;p22"/>
          <p:cNvCxnSpPr/>
          <p:nvPr/>
        </p:nvCxnSpPr>
        <p:spPr>
          <a:xfrm>
            <a:off x="2114550" y="3543300"/>
            <a:ext cx="449580" cy="0"/>
          </a:xfrm>
          <a:prstGeom prst="straightConnector1">
            <a:avLst/>
          </a:prstGeom>
          <a:noFill/>
          <a:ln cap="flat" cmpd="sng" w="19050">
            <a:solidFill>
              <a:srgbClr val="0D948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83" name="Google Shape;283;p22"/>
          <p:cNvSpPr/>
          <p:nvPr/>
        </p:nvSpPr>
        <p:spPr>
          <a:xfrm>
            <a:off x="2564130" y="3238500"/>
            <a:ext cx="1428750" cy="609600"/>
          </a:xfrm>
          <a:prstGeom prst="roundRect">
            <a:avLst>
              <a:gd fmla="val 18750" name="adj"/>
            </a:avLst>
          </a:prstGeom>
          <a:solidFill>
            <a:srgbClr val="FFFFFF"/>
          </a:solidFill>
          <a:ln cap="flat" cmpd="sng" w="1427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2"/>
          <p:cNvSpPr txBox="1"/>
          <p:nvPr/>
        </p:nvSpPr>
        <p:spPr>
          <a:xfrm>
            <a:off x="2640329" y="3333750"/>
            <a:ext cx="1276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Context API</a:t>
            </a:r>
            <a:endParaRPr/>
          </a:p>
        </p:txBody>
      </p:sp>
      <p:sp>
        <p:nvSpPr>
          <p:cNvPr id="285" name="Google Shape;285;p22"/>
          <p:cNvSpPr txBox="1"/>
          <p:nvPr/>
        </p:nvSpPr>
        <p:spPr>
          <a:xfrm>
            <a:off x="2640329" y="3638550"/>
            <a:ext cx="12763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/>
          </a:p>
        </p:txBody>
      </p:sp>
      <p:cxnSp>
        <p:nvCxnSpPr>
          <p:cNvPr id="286" name="Google Shape;286;p22"/>
          <p:cNvCxnSpPr/>
          <p:nvPr/>
        </p:nvCxnSpPr>
        <p:spPr>
          <a:xfrm>
            <a:off x="3992879" y="3543300"/>
            <a:ext cx="449581" cy="0"/>
          </a:xfrm>
          <a:prstGeom prst="straightConnector1">
            <a:avLst/>
          </a:prstGeom>
          <a:noFill/>
          <a:ln cap="flat" cmpd="sng" w="19050">
            <a:solidFill>
              <a:srgbClr val="0D948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87" name="Google Shape;287;p22"/>
          <p:cNvSpPr/>
          <p:nvPr/>
        </p:nvSpPr>
        <p:spPr>
          <a:xfrm>
            <a:off x="4442460" y="3238500"/>
            <a:ext cx="1428750" cy="609600"/>
          </a:xfrm>
          <a:prstGeom prst="roundRect">
            <a:avLst>
              <a:gd fmla="val 18750" name="adj"/>
            </a:avLst>
          </a:prstGeom>
          <a:solidFill>
            <a:srgbClr val="FFFFFF"/>
          </a:solidFill>
          <a:ln cap="flat" cmpd="sng" w="1427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2"/>
          <p:cNvSpPr txBox="1"/>
          <p:nvPr/>
        </p:nvSpPr>
        <p:spPr>
          <a:xfrm>
            <a:off x="4518660" y="3333750"/>
            <a:ext cx="1276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Axios</a:t>
            </a:r>
            <a:endParaRPr/>
          </a:p>
        </p:txBody>
      </p:sp>
      <p:sp>
        <p:nvSpPr>
          <p:cNvPr id="289" name="Google Shape;289;p22"/>
          <p:cNvSpPr txBox="1"/>
          <p:nvPr/>
        </p:nvSpPr>
        <p:spPr>
          <a:xfrm>
            <a:off x="4518660" y="3638550"/>
            <a:ext cx="12763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HTTP Client</a:t>
            </a:r>
            <a:endParaRPr/>
          </a:p>
        </p:txBody>
      </p:sp>
      <p:cxnSp>
        <p:nvCxnSpPr>
          <p:cNvPr id="290" name="Google Shape;290;p22"/>
          <p:cNvCxnSpPr/>
          <p:nvPr/>
        </p:nvCxnSpPr>
        <p:spPr>
          <a:xfrm>
            <a:off x="5871210" y="3543300"/>
            <a:ext cx="449579" cy="0"/>
          </a:xfrm>
          <a:prstGeom prst="straightConnector1">
            <a:avLst/>
          </a:prstGeom>
          <a:noFill/>
          <a:ln cap="flat" cmpd="sng" w="19050">
            <a:solidFill>
              <a:srgbClr val="0D948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91" name="Google Shape;291;p22"/>
          <p:cNvSpPr/>
          <p:nvPr/>
        </p:nvSpPr>
        <p:spPr>
          <a:xfrm>
            <a:off x="6320789" y="3238500"/>
            <a:ext cx="1428750" cy="609600"/>
          </a:xfrm>
          <a:prstGeom prst="roundRect">
            <a:avLst>
              <a:gd fmla="val 18750" name="adj"/>
            </a:avLst>
          </a:prstGeom>
          <a:solidFill>
            <a:srgbClr val="FFFFFF"/>
          </a:solidFill>
          <a:ln cap="flat" cmpd="sng" w="1427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2"/>
          <p:cNvSpPr txBox="1"/>
          <p:nvPr/>
        </p:nvSpPr>
        <p:spPr>
          <a:xfrm>
            <a:off x="6396989" y="3333750"/>
            <a:ext cx="1276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Express.js API</a:t>
            </a:r>
            <a:endParaRPr/>
          </a:p>
        </p:txBody>
      </p:sp>
      <p:sp>
        <p:nvSpPr>
          <p:cNvPr id="293" name="Google Shape;293;p22"/>
          <p:cNvSpPr txBox="1"/>
          <p:nvPr/>
        </p:nvSpPr>
        <p:spPr>
          <a:xfrm>
            <a:off x="6396989" y="3638550"/>
            <a:ext cx="12763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34 Routes</a:t>
            </a:r>
            <a:endParaRPr/>
          </a:p>
        </p:txBody>
      </p:sp>
      <p:cxnSp>
        <p:nvCxnSpPr>
          <p:cNvPr id="294" name="Google Shape;294;p22"/>
          <p:cNvCxnSpPr/>
          <p:nvPr/>
        </p:nvCxnSpPr>
        <p:spPr>
          <a:xfrm>
            <a:off x="7749540" y="3543300"/>
            <a:ext cx="449580" cy="0"/>
          </a:xfrm>
          <a:prstGeom prst="straightConnector1">
            <a:avLst/>
          </a:prstGeom>
          <a:noFill/>
          <a:ln cap="flat" cmpd="sng" w="19050">
            <a:solidFill>
              <a:srgbClr val="0D948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95" name="Google Shape;295;p22"/>
          <p:cNvSpPr/>
          <p:nvPr/>
        </p:nvSpPr>
        <p:spPr>
          <a:xfrm>
            <a:off x="8199120" y="3238500"/>
            <a:ext cx="1428750" cy="609600"/>
          </a:xfrm>
          <a:prstGeom prst="roundRect">
            <a:avLst>
              <a:gd fmla="val 18750" name="adj"/>
            </a:avLst>
          </a:prstGeom>
          <a:solidFill>
            <a:srgbClr val="FFFFFF"/>
          </a:solidFill>
          <a:ln cap="flat" cmpd="sng" w="1427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2"/>
          <p:cNvSpPr txBox="1"/>
          <p:nvPr/>
        </p:nvSpPr>
        <p:spPr>
          <a:xfrm>
            <a:off x="8275319" y="3333750"/>
            <a:ext cx="1276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SQL Server</a:t>
            </a:r>
            <a:endParaRPr/>
          </a:p>
        </p:txBody>
      </p:sp>
      <p:sp>
        <p:nvSpPr>
          <p:cNvPr id="297" name="Google Shape;297;p22"/>
          <p:cNvSpPr txBox="1"/>
          <p:nvPr/>
        </p:nvSpPr>
        <p:spPr>
          <a:xfrm>
            <a:off x="8275319" y="3638550"/>
            <a:ext cx="12763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7 Tables</a:t>
            </a:r>
            <a:endParaRPr/>
          </a:p>
        </p:txBody>
      </p:sp>
      <p:cxnSp>
        <p:nvCxnSpPr>
          <p:cNvPr id="298" name="Google Shape;298;p22"/>
          <p:cNvCxnSpPr/>
          <p:nvPr/>
        </p:nvCxnSpPr>
        <p:spPr>
          <a:xfrm>
            <a:off x="9627870" y="3543300"/>
            <a:ext cx="449580" cy="0"/>
          </a:xfrm>
          <a:prstGeom prst="straightConnector1">
            <a:avLst/>
          </a:prstGeom>
          <a:noFill/>
          <a:ln cap="flat" cmpd="sng" w="19050">
            <a:solidFill>
              <a:srgbClr val="0D948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99" name="Google Shape;299;p22"/>
          <p:cNvSpPr/>
          <p:nvPr/>
        </p:nvSpPr>
        <p:spPr>
          <a:xfrm>
            <a:off x="10077450" y="3238500"/>
            <a:ext cx="1428750" cy="609600"/>
          </a:xfrm>
          <a:prstGeom prst="roundRect">
            <a:avLst>
              <a:gd fmla="val 18750" name="adj"/>
            </a:avLst>
          </a:prstGeom>
          <a:solidFill>
            <a:srgbClr val="FFFFFF"/>
          </a:solidFill>
          <a:ln cap="flat" cmpd="sng" w="1427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2"/>
          <p:cNvSpPr txBox="1"/>
          <p:nvPr/>
        </p:nvSpPr>
        <p:spPr>
          <a:xfrm>
            <a:off x="10153650" y="3333750"/>
            <a:ext cx="1276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Stripe</a:t>
            </a:r>
            <a:endParaRPr/>
          </a:p>
        </p:txBody>
      </p:sp>
      <p:sp>
        <p:nvSpPr>
          <p:cNvPr id="301" name="Google Shape;301;p22"/>
          <p:cNvSpPr txBox="1"/>
          <p:nvPr/>
        </p:nvSpPr>
        <p:spPr>
          <a:xfrm>
            <a:off x="10153650" y="3638550"/>
            <a:ext cx="12763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Payments</a:t>
            </a:r>
            <a:endParaRPr/>
          </a:p>
        </p:txBody>
      </p:sp>
      <p:cxnSp>
        <p:nvCxnSpPr>
          <p:cNvPr id="302" name="Google Shape;302;p22"/>
          <p:cNvCxnSpPr/>
          <p:nvPr/>
        </p:nvCxnSpPr>
        <p:spPr>
          <a:xfrm>
            <a:off x="6096000" y="2914650"/>
            <a:ext cx="0" cy="285750"/>
          </a:xfrm>
          <a:prstGeom prst="straightConnector1">
            <a:avLst/>
          </a:prstGeom>
          <a:noFill/>
          <a:ln cap="flat" cmpd="sng" w="19050">
            <a:solidFill>
              <a:srgbClr val="0D948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03" name="Google Shape;303;p22"/>
          <p:cNvSpPr/>
          <p:nvPr/>
        </p:nvSpPr>
        <p:spPr>
          <a:xfrm>
            <a:off x="5219700" y="2571750"/>
            <a:ext cx="1752600" cy="342900"/>
          </a:xfrm>
          <a:prstGeom prst="roundRect">
            <a:avLst>
              <a:gd fmla="val 50000" name="adj"/>
            </a:avLst>
          </a:prstGeom>
          <a:solidFill>
            <a:srgbClr val="E3F7F5"/>
          </a:solidFill>
          <a:ln cap="flat" cmpd="sng" w="14275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2"/>
          <p:cNvSpPr txBox="1"/>
          <p:nvPr/>
        </p:nvSpPr>
        <p:spPr>
          <a:xfrm>
            <a:off x="5219700" y="2657475"/>
            <a:ext cx="17526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🔐 JWT Authentication</a:t>
            </a:r>
            <a:endParaRPr/>
          </a:p>
        </p:txBody>
      </p:sp>
      <p:sp>
        <p:nvSpPr>
          <p:cNvPr id="305" name="Google Shape;305;p22"/>
          <p:cNvSpPr txBox="1"/>
          <p:nvPr/>
        </p:nvSpPr>
        <p:spPr>
          <a:xfrm>
            <a:off x="685800" y="4267200"/>
            <a:ext cx="4381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Frontend (React + Vite · Context API · Axios)</a:t>
            </a:r>
            <a:endParaRPr/>
          </a:p>
        </p:txBody>
      </p:sp>
      <p:sp>
        <p:nvSpPr>
          <p:cNvPr id="306" name="Google Shape;306;p22"/>
          <p:cNvSpPr txBox="1"/>
          <p:nvPr/>
        </p:nvSpPr>
        <p:spPr>
          <a:xfrm>
            <a:off x="6320789" y="4267200"/>
            <a:ext cx="4381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Backend (Express.js · SQL Server · Stripe)</a:t>
            </a:r>
            <a:endParaRPr/>
          </a:p>
        </p:txBody>
      </p:sp>
      <p:sp>
        <p:nvSpPr>
          <p:cNvPr id="307" name="Google Shape;307;p22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10 / 29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23"/>
          <p:cNvSpPr txBox="1"/>
          <p:nvPr/>
        </p:nvSpPr>
        <p:spPr>
          <a:xfrm>
            <a:off x="685800" y="685800"/>
            <a:ext cx="95250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SQL SERVER SCHEMA — KEY ENTITIES &amp; RELATIONSHIPS</a:t>
            </a:r>
            <a:endParaRPr/>
          </a:p>
        </p:txBody>
      </p:sp>
      <p:sp>
        <p:nvSpPr>
          <p:cNvPr id="313" name="Google Shape;313;p23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3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Database Design</a:t>
            </a:r>
            <a:endParaRPr/>
          </a:p>
        </p:txBody>
      </p:sp>
      <p:cxnSp>
        <p:nvCxnSpPr>
          <p:cNvPr id="315" name="Google Shape;315;p23"/>
          <p:cNvCxnSpPr/>
          <p:nvPr/>
        </p:nvCxnSpPr>
        <p:spPr>
          <a:xfrm>
            <a:off x="2495550" y="2324100"/>
            <a:ext cx="533400" cy="0"/>
          </a:xfrm>
          <a:prstGeom prst="straightConnector1">
            <a:avLst/>
          </a:prstGeom>
          <a:noFill/>
          <a:ln cap="flat" cmpd="sng" w="19050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6" name="Google Shape;316;p23"/>
          <p:cNvCxnSpPr/>
          <p:nvPr/>
        </p:nvCxnSpPr>
        <p:spPr>
          <a:xfrm>
            <a:off x="4838700" y="2324100"/>
            <a:ext cx="533400" cy="0"/>
          </a:xfrm>
          <a:prstGeom prst="straightConnector1">
            <a:avLst/>
          </a:prstGeom>
          <a:noFill/>
          <a:ln cap="flat" cmpd="sng" w="19050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7" name="Google Shape;317;p23"/>
          <p:cNvCxnSpPr/>
          <p:nvPr/>
        </p:nvCxnSpPr>
        <p:spPr>
          <a:xfrm>
            <a:off x="7181850" y="2324100"/>
            <a:ext cx="533400" cy="0"/>
          </a:xfrm>
          <a:prstGeom prst="straightConnector1">
            <a:avLst/>
          </a:prstGeom>
          <a:noFill/>
          <a:ln cap="flat" cmpd="sng" w="19050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8" name="Google Shape;318;p23"/>
          <p:cNvCxnSpPr/>
          <p:nvPr/>
        </p:nvCxnSpPr>
        <p:spPr>
          <a:xfrm>
            <a:off x="9525000" y="2324100"/>
            <a:ext cx="533400" cy="0"/>
          </a:xfrm>
          <a:prstGeom prst="straightConnector1">
            <a:avLst/>
          </a:prstGeom>
          <a:noFill/>
          <a:ln cap="flat" cmpd="sng" w="19050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9" name="Google Shape;319;p23"/>
          <p:cNvCxnSpPr/>
          <p:nvPr/>
        </p:nvCxnSpPr>
        <p:spPr>
          <a:xfrm>
            <a:off x="1590675" y="2590800"/>
            <a:ext cx="0" cy="266700"/>
          </a:xfrm>
          <a:prstGeom prst="straightConnector1">
            <a:avLst/>
          </a:prstGeom>
          <a:noFill/>
          <a:ln cap="flat" cmpd="sng" w="1905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20" name="Google Shape;320;p23"/>
          <p:cNvCxnSpPr/>
          <p:nvPr/>
        </p:nvCxnSpPr>
        <p:spPr>
          <a:xfrm>
            <a:off x="1590675" y="2857500"/>
            <a:ext cx="4686300" cy="0"/>
          </a:xfrm>
          <a:prstGeom prst="straightConnector1">
            <a:avLst/>
          </a:prstGeom>
          <a:noFill/>
          <a:ln cap="flat" cmpd="sng" w="1905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21" name="Google Shape;321;p23"/>
          <p:cNvCxnSpPr/>
          <p:nvPr/>
        </p:nvCxnSpPr>
        <p:spPr>
          <a:xfrm rot="10800000">
            <a:off x="6276975" y="2590800"/>
            <a:ext cx="0" cy="266700"/>
          </a:xfrm>
          <a:prstGeom prst="straightConnector1">
            <a:avLst/>
          </a:prstGeom>
          <a:noFill/>
          <a:ln cap="flat" cmpd="sng" w="19050">
            <a:solidFill>
              <a:srgbClr val="0D948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322" name="Google Shape;322;p23"/>
          <p:cNvCxnSpPr/>
          <p:nvPr/>
        </p:nvCxnSpPr>
        <p:spPr>
          <a:xfrm>
            <a:off x="3933824" y="2590800"/>
            <a:ext cx="28575" cy="1028700"/>
          </a:xfrm>
          <a:prstGeom prst="straightConnector1">
            <a:avLst/>
          </a:prstGeom>
          <a:noFill/>
          <a:ln cap="flat" cmpd="sng" w="19050">
            <a:solidFill>
              <a:srgbClr val="DCE3EE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323" name="Google Shape;323;p23"/>
          <p:cNvCxnSpPr/>
          <p:nvPr/>
        </p:nvCxnSpPr>
        <p:spPr>
          <a:xfrm flipH="1">
            <a:off x="2381250" y="2590800"/>
            <a:ext cx="647700" cy="1028700"/>
          </a:xfrm>
          <a:prstGeom prst="straightConnector1">
            <a:avLst/>
          </a:prstGeom>
          <a:noFill/>
          <a:ln cap="flat" cmpd="sng" w="19050">
            <a:solidFill>
              <a:srgbClr val="DCE3EE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324" name="Google Shape;324;p23"/>
          <p:cNvCxnSpPr/>
          <p:nvPr/>
        </p:nvCxnSpPr>
        <p:spPr>
          <a:xfrm>
            <a:off x="1400175" y="2590800"/>
            <a:ext cx="314325" cy="1028700"/>
          </a:xfrm>
          <a:prstGeom prst="straightConnector1">
            <a:avLst/>
          </a:prstGeom>
          <a:noFill/>
          <a:ln cap="flat" cmpd="sng" w="19050">
            <a:solidFill>
              <a:srgbClr val="DCE3EE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25" name="Google Shape;325;p23"/>
          <p:cNvSpPr/>
          <p:nvPr/>
        </p:nvSpPr>
        <p:spPr>
          <a:xfrm>
            <a:off x="685800" y="2057400"/>
            <a:ext cx="1809750" cy="533400"/>
          </a:xfrm>
          <a:prstGeom prst="roundRect">
            <a:avLst>
              <a:gd fmla="val 21428" name="adj"/>
            </a:avLst>
          </a:prstGeom>
          <a:solidFill>
            <a:srgbClr val="FFFFFF"/>
          </a:solidFill>
          <a:ln cap="flat" cmpd="sng" w="1427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23"/>
          <p:cNvSpPr txBox="1"/>
          <p:nvPr/>
        </p:nvSpPr>
        <p:spPr>
          <a:xfrm>
            <a:off x="762000" y="2152650"/>
            <a:ext cx="1657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Users</a:t>
            </a:r>
            <a:endParaRPr/>
          </a:p>
        </p:txBody>
      </p:sp>
      <p:sp>
        <p:nvSpPr>
          <p:cNvPr id="327" name="Google Shape;327;p23"/>
          <p:cNvSpPr txBox="1"/>
          <p:nvPr/>
        </p:nvSpPr>
        <p:spPr>
          <a:xfrm>
            <a:off x="762000" y="2381250"/>
            <a:ext cx="16573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Patient &amp; Doctor roles</a:t>
            </a:r>
            <a:endParaRPr/>
          </a:p>
        </p:txBody>
      </p:sp>
      <p:sp>
        <p:nvSpPr>
          <p:cNvPr id="328" name="Google Shape;328;p23"/>
          <p:cNvSpPr/>
          <p:nvPr/>
        </p:nvSpPr>
        <p:spPr>
          <a:xfrm>
            <a:off x="3028950" y="2057400"/>
            <a:ext cx="1809750" cy="533400"/>
          </a:xfrm>
          <a:prstGeom prst="roundRect">
            <a:avLst>
              <a:gd fmla="val 21428" name="adj"/>
            </a:avLst>
          </a:prstGeom>
          <a:solidFill>
            <a:srgbClr val="FFFFFF"/>
          </a:solidFill>
          <a:ln cap="flat" cmpd="sng" w="1427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3"/>
          <p:cNvSpPr txBox="1"/>
          <p:nvPr/>
        </p:nvSpPr>
        <p:spPr>
          <a:xfrm>
            <a:off x="3105150" y="2152650"/>
            <a:ext cx="1657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Doctors</a:t>
            </a:r>
            <a:endParaRPr/>
          </a:p>
        </p:txBody>
      </p:sp>
      <p:sp>
        <p:nvSpPr>
          <p:cNvPr id="330" name="Google Shape;330;p23"/>
          <p:cNvSpPr txBox="1"/>
          <p:nvPr/>
        </p:nvSpPr>
        <p:spPr>
          <a:xfrm>
            <a:off x="3105150" y="2381250"/>
            <a:ext cx="16573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Doctor profile</a:t>
            </a:r>
            <a:endParaRPr/>
          </a:p>
        </p:txBody>
      </p:sp>
      <p:sp>
        <p:nvSpPr>
          <p:cNvPr id="331" name="Google Shape;331;p23"/>
          <p:cNvSpPr/>
          <p:nvPr/>
        </p:nvSpPr>
        <p:spPr>
          <a:xfrm>
            <a:off x="5372100" y="2057400"/>
            <a:ext cx="1809750" cy="533400"/>
          </a:xfrm>
          <a:prstGeom prst="roundRect">
            <a:avLst>
              <a:gd fmla="val 21428" name="adj"/>
            </a:avLst>
          </a:prstGeom>
          <a:solidFill>
            <a:srgbClr val="FFFFFF"/>
          </a:solidFill>
          <a:ln cap="flat" cmpd="sng" w="1427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3"/>
          <p:cNvSpPr txBox="1"/>
          <p:nvPr/>
        </p:nvSpPr>
        <p:spPr>
          <a:xfrm>
            <a:off x="5448300" y="2152650"/>
            <a:ext cx="1657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Appointments</a:t>
            </a:r>
            <a:endParaRPr/>
          </a:p>
        </p:txBody>
      </p:sp>
      <p:sp>
        <p:nvSpPr>
          <p:cNvPr id="333" name="Google Shape;333;p23"/>
          <p:cNvSpPr txBox="1"/>
          <p:nvPr/>
        </p:nvSpPr>
        <p:spPr>
          <a:xfrm>
            <a:off x="5448300" y="2381250"/>
            <a:ext cx="16573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Bookings</a:t>
            </a:r>
            <a:endParaRPr/>
          </a:p>
        </p:txBody>
      </p:sp>
      <p:sp>
        <p:nvSpPr>
          <p:cNvPr id="334" name="Google Shape;334;p23"/>
          <p:cNvSpPr/>
          <p:nvPr/>
        </p:nvSpPr>
        <p:spPr>
          <a:xfrm>
            <a:off x="7715250" y="2057400"/>
            <a:ext cx="1809750" cy="533400"/>
          </a:xfrm>
          <a:prstGeom prst="roundRect">
            <a:avLst>
              <a:gd fmla="val 21428" name="adj"/>
            </a:avLst>
          </a:prstGeom>
          <a:solidFill>
            <a:srgbClr val="FFFFFF"/>
          </a:solidFill>
          <a:ln cap="flat" cmpd="sng" w="1427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23"/>
          <p:cNvSpPr txBox="1"/>
          <p:nvPr/>
        </p:nvSpPr>
        <p:spPr>
          <a:xfrm>
            <a:off x="7791450" y="2152650"/>
            <a:ext cx="1657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Payments</a:t>
            </a:r>
            <a:endParaRPr/>
          </a:p>
        </p:txBody>
      </p:sp>
      <p:sp>
        <p:nvSpPr>
          <p:cNvPr id="336" name="Google Shape;336;p23"/>
          <p:cNvSpPr txBox="1"/>
          <p:nvPr/>
        </p:nvSpPr>
        <p:spPr>
          <a:xfrm>
            <a:off x="7791450" y="2381250"/>
            <a:ext cx="16573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Stripe records</a:t>
            </a:r>
            <a:endParaRPr/>
          </a:p>
        </p:txBody>
      </p:sp>
      <p:sp>
        <p:nvSpPr>
          <p:cNvPr id="337" name="Google Shape;337;p23"/>
          <p:cNvSpPr/>
          <p:nvPr/>
        </p:nvSpPr>
        <p:spPr>
          <a:xfrm>
            <a:off x="10058400" y="2057400"/>
            <a:ext cx="1447800" cy="533400"/>
          </a:xfrm>
          <a:prstGeom prst="roundRect">
            <a:avLst>
              <a:gd fmla="val 21428" name="adj"/>
            </a:avLst>
          </a:prstGeom>
          <a:solidFill>
            <a:srgbClr val="FFFFFF"/>
          </a:solidFill>
          <a:ln cap="flat" cmpd="sng" w="1427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3"/>
          <p:cNvSpPr txBox="1"/>
          <p:nvPr/>
        </p:nvSpPr>
        <p:spPr>
          <a:xfrm>
            <a:off x="10134600" y="2152650"/>
            <a:ext cx="12954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Refunds</a:t>
            </a:r>
            <a:endParaRPr/>
          </a:p>
        </p:txBody>
      </p:sp>
      <p:sp>
        <p:nvSpPr>
          <p:cNvPr id="339" name="Google Shape;339;p23"/>
          <p:cNvSpPr txBox="1"/>
          <p:nvPr/>
        </p:nvSpPr>
        <p:spPr>
          <a:xfrm>
            <a:off x="10134600" y="2381250"/>
            <a:ext cx="12954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Cancellations</a:t>
            </a:r>
            <a:endParaRPr/>
          </a:p>
        </p:txBody>
      </p:sp>
      <p:sp>
        <p:nvSpPr>
          <p:cNvPr id="340" name="Google Shape;340;p23"/>
          <p:cNvSpPr/>
          <p:nvPr/>
        </p:nvSpPr>
        <p:spPr>
          <a:xfrm>
            <a:off x="857250" y="3619500"/>
            <a:ext cx="1714500" cy="533400"/>
          </a:xfrm>
          <a:prstGeom prst="roundRect">
            <a:avLst>
              <a:gd fmla="val 21428" name="adj"/>
            </a:avLst>
          </a:prstGeom>
          <a:solidFill>
            <a:srgbClr val="FFFFFF"/>
          </a:solidFill>
          <a:ln cap="flat" cmpd="sng" w="1427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3"/>
          <p:cNvSpPr txBox="1"/>
          <p:nvPr/>
        </p:nvSpPr>
        <p:spPr>
          <a:xfrm>
            <a:off x="933449" y="3714750"/>
            <a:ext cx="15621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Reviews</a:t>
            </a:r>
            <a:endParaRPr/>
          </a:p>
        </p:txBody>
      </p:sp>
      <p:sp>
        <p:nvSpPr>
          <p:cNvPr id="342" name="Google Shape;342;p23"/>
          <p:cNvSpPr txBox="1"/>
          <p:nvPr/>
        </p:nvSpPr>
        <p:spPr>
          <a:xfrm>
            <a:off x="933449" y="3943350"/>
            <a:ext cx="15621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Ratings</a:t>
            </a:r>
            <a:endParaRPr/>
          </a:p>
        </p:txBody>
      </p:sp>
      <p:sp>
        <p:nvSpPr>
          <p:cNvPr id="343" name="Google Shape;343;p23"/>
          <p:cNvSpPr/>
          <p:nvPr/>
        </p:nvSpPr>
        <p:spPr>
          <a:xfrm>
            <a:off x="3009900" y="3619500"/>
            <a:ext cx="1905000" cy="533400"/>
          </a:xfrm>
          <a:prstGeom prst="roundRect">
            <a:avLst>
              <a:gd fmla="val 21428" name="adj"/>
            </a:avLst>
          </a:prstGeom>
          <a:solidFill>
            <a:srgbClr val="FFFFFF"/>
          </a:solidFill>
          <a:ln cap="flat" cmpd="sng" w="1427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3"/>
          <p:cNvSpPr txBox="1"/>
          <p:nvPr/>
        </p:nvSpPr>
        <p:spPr>
          <a:xfrm>
            <a:off x="3086100" y="3714750"/>
            <a:ext cx="17526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DoctorAvailability</a:t>
            </a:r>
            <a:endParaRPr/>
          </a:p>
        </p:txBody>
      </p:sp>
      <p:sp>
        <p:nvSpPr>
          <p:cNvPr id="345" name="Google Shape;345;p23"/>
          <p:cNvSpPr txBox="1"/>
          <p:nvPr/>
        </p:nvSpPr>
        <p:spPr>
          <a:xfrm>
            <a:off x="3086100" y="3943350"/>
            <a:ext cx="17526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Weekly slots</a:t>
            </a:r>
            <a:endParaRPr/>
          </a:p>
        </p:txBody>
      </p:sp>
      <p:sp>
        <p:nvSpPr>
          <p:cNvPr id="346" name="Google Shape;346;p23"/>
          <p:cNvSpPr txBox="1"/>
          <p:nvPr/>
        </p:nvSpPr>
        <p:spPr>
          <a:xfrm>
            <a:off x="685800" y="5334000"/>
            <a:ext cx="108204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Patients and Doctors are both Users, distinguished by role. 7 tables · 6 views · 13 stored procedures · 2 triggers.</a:t>
            </a:r>
            <a:endParaRPr/>
          </a:p>
        </p:txBody>
      </p:sp>
      <p:sp>
        <p:nvSpPr>
          <p:cNvPr id="347" name="Google Shape;347;p23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11 / 29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24"/>
          <p:cNvSpPr txBox="1"/>
          <p:nvPr/>
        </p:nvSpPr>
        <p:spPr>
          <a:xfrm>
            <a:off x="685800" y="685800"/>
            <a:ext cx="95250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41 ENDPOINTS ACROSS 8 MODULES — 34 UNIQUE ROUTES</a:t>
            </a:r>
            <a:endParaRPr/>
          </a:p>
        </p:txBody>
      </p:sp>
      <p:sp>
        <p:nvSpPr>
          <p:cNvPr id="353" name="Google Shape;353;p24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4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API Architecture</a:t>
            </a:r>
            <a:endParaRPr/>
          </a:p>
        </p:txBody>
      </p:sp>
      <p:sp>
        <p:nvSpPr>
          <p:cNvPr id="355" name="Google Shape;355;p24"/>
          <p:cNvSpPr/>
          <p:nvPr/>
        </p:nvSpPr>
        <p:spPr>
          <a:xfrm>
            <a:off x="685800" y="2171700"/>
            <a:ext cx="2562225" cy="1638300"/>
          </a:xfrm>
          <a:prstGeom prst="roundRect">
            <a:avLst>
              <a:gd fmla="val 6976" name="adj"/>
            </a:avLst>
          </a:prstGeom>
          <a:solidFill>
            <a:srgbClr val="FFFFFF"/>
          </a:solidFill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4"/>
          <p:cNvSpPr/>
          <p:nvPr/>
        </p:nvSpPr>
        <p:spPr>
          <a:xfrm>
            <a:off x="685800" y="2171700"/>
            <a:ext cx="2562225" cy="47625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4"/>
          <p:cNvSpPr txBox="1"/>
          <p:nvPr/>
        </p:nvSpPr>
        <p:spPr>
          <a:xfrm>
            <a:off x="876300" y="2362200"/>
            <a:ext cx="2181225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5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358" name="Google Shape;358;p24"/>
          <p:cNvSpPr txBox="1"/>
          <p:nvPr/>
        </p:nvSpPr>
        <p:spPr>
          <a:xfrm>
            <a:off x="876300" y="2762250"/>
            <a:ext cx="2181225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Authentication</a:t>
            </a:r>
            <a:endParaRPr/>
          </a:p>
        </p:txBody>
      </p:sp>
      <p:sp>
        <p:nvSpPr>
          <p:cNvPr id="359" name="Google Shape;359;p24"/>
          <p:cNvSpPr txBox="1"/>
          <p:nvPr/>
        </p:nvSpPr>
        <p:spPr>
          <a:xfrm>
            <a:off x="876300" y="3048000"/>
            <a:ext cx="21812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Register, login, get &amp; update profile</a:t>
            </a:r>
            <a:endParaRPr/>
          </a:p>
        </p:txBody>
      </p:sp>
      <p:sp>
        <p:nvSpPr>
          <p:cNvPr id="360" name="Google Shape;360;p24"/>
          <p:cNvSpPr/>
          <p:nvPr/>
        </p:nvSpPr>
        <p:spPr>
          <a:xfrm>
            <a:off x="3438525" y="2171700"/>
            <a:ext cx="2562225" cy="1638300"/>
          </a:xfrm>
          <a:prstGeom prst="roundRect">
            <a:avLst>
              <a:gd fmla="val 6976" name="adj"/>
            </a:avLst>
          </a:prstGeom>
          <a:solidFill>
            <a:srgbClr val="FFFFFF"/>
          </a:solidFill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4"/>
          <p:cNvSpPr/>
          <p:nvPr/>
        </p:nvSpPr>
        <p:spPr>
          <a:xfrm>
            <a:off x="3438525" y="2171700"/>
            <a:ext cx="2562225" cy="47625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4"/>
          <p:cNvSpPr txBox="1"/>
          <p:nvPr/>
        </p:nvSpPr>
        <p:spPr>
          <a:xfrm>
            <a:off x="3629025" y="2362200"/>
            <a:ext cx="2181225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5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/>
          </a:p>
        </p:txBody>
      </p:sp>
      <p:sp>
        <p:nvSpPr>
          <p:cNvPr id="363" name="Google Shape;363;p24"/>
          <p:cNvSpPr txBox="1"/>
          <p:nvPr/>
        </p:nvSpPr>
        <p:spPr>
          <a:xfrm>
            <a:off x="3629025" y="2762250"/>
            <a:ext cx="2181225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  <a:endParaRPr/>
          </a:p>
        </p:txBody>
      </p:sp>
      <p:sp>
        <p:nvSpPr>
          <p:cNvPr id="364" name="Google Shape;364;p24"/>
          <p:cNvSpPr txBox="1"/>
          <p:nvPr/>
        </p:nvSpPr>
        <p:spPr>
          <a:xfrm>
            <a:off x="3629025" y="3048000"/>
            <a:ext cx="21812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List, view, update, create, delete</a:t>
            </a:r>
            <a:endParaRPr/>
          </a:p>
        </p:txBody>
      </p:sp>
      <p:sp>
        <p:nvSpPr>
          <p:cNvPr id="365" name="Google Shape;365;p24"/>
          <p:cNvSpPr/>
          <p:nvPr/>
        </p:nvSpPr>
        <p:spPr>
          <a:xfrm>
            <a:off x="6191250" y="2171700"/>
            <a:ext cx="2562225" cy="1638300"/>
          </a:xfrm>
          <a:prstGeom prst="roundRect">
            <a:avLst>
              <a:gd fmla="val 6976" name="adj"/>
            </a:avLst>
          </a:prstGeom>
          <a:solidFill>
            <a:srgbClr val="FFFFFF"/>
          </a:solidFill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4"/>
          <p:cNvSpPr/>
          <p:nvPr/>
        </p:nvSpPr>
        <p:spPr>
          <a:xfrm>
            <a:off x="6191250" y="2171700"/>
            <a:ext cx="2562225" cy="47625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4"/>
          <p:cNvSpPr txBox="1"/>
          <p:nvPr/>
        </p:nvSpPr>
        <p:spPr>
          <a:xfrm>
            <a:off x="6381750" y="2362200"/>
            <a:ext cx="2181225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5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368" name="Google Shape;368;p24"/>
          <p:cNvSpPr txBox="1"/>
          <p:nvPr/>
        </p:nvSpPr>
        <p:spPr>
          <a:xfrm>
            <a:off x="6381750" y="2762250"/>
            <a:ext cx="2181225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Patient / User</a:t>
            </a:r>
            <a:endParaRPr/>
          </a:p>
        </p:txBody>
      </p:sp>
      <p:sp>
        <p:nvSpPr>
          <p:cNvPr id="369" name="Google Shape;369;p24"/>
          <p:cNvSpPr txBox="1"/>
          <p:nvPr/>
        </p:nvSpPr>
        <p:spPr>
          <a:xfrm>
            <a:off x="6381750" y="3048000"/>
            <a:ext cx="21812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Profile &amp; user statistics</a:t>
            </a:r>
            <a:endParaRPr/>
          </a:p>
        </p:txBody>
      </p:sp>
      <p:sp>
        <p:nvSpPr>
          <p:cNvPr id="370" name="Google Shape;370;p24"/>
          <p:cNvSpPr/>
          <p:nvPr/>
        </p:nvSpPr>
        <p:spPr>
          <a:xfrm>
            <a:off x="8943975" y="2171700"/>
            <a:ext cx="2562225" cy="1638300"/>
          </a:xfrm>
          <a:prstGeom prst="roundRect">
            <a:avLst>
              <a:gd fmla="val 6976" name="adj"/>
            </a:avLst>
          </a:prstGeom>
          <a:solidFill>
            <a:srgbClr val="FFFFFF"/>
          </a:solidFill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4"/>
          <p:cNvSpPr/>
          <p:nvPr/>
        </p:nvSpPr>
        <p:spPr>
          <a:xfrm>
            <a:off x="8943975" y="2171700"/>
            <a:ext cx="2562225" cy="47625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4"/>
          <p:cNvSpPr txBox="1"/>
          <p:nvPr/>
        </p:nvSpPr>
        <p:spPr>
          <a:xfrm>
            <a:off x="9134475" y="2362200"/>
            <a:ext cx="2181225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5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/>
          </a:p>
        </p:txBody>
      </p:sp>
      <p:sp>
        <p:nvSpPr>
          <p:cNvPr id="373" name="Google Shape;373;p24"/>
          <p:cNvSpPr txBox="1"/>
          <p:nvPr/>
        </p:nvSpPr>
        <p:spPr>
          <a:xfrm>
            <a:off x="9134475" y="2762250"/>
            <a:ext cx="2181225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Appointments</a:t>
            </a:r>
            <a:endParaRPr/>
          </a:p>
        </p:txBody>
      </p:sp>
      <p:sp>
        <p:nvSpPr>
          <p:cNvPr id="374" name="Google Shape;374;p24"/>
          <p:cNvSpPr txBox="1"/>
          <p:nvPr/>
        </p:nvSpPr>
        <p:spPr>
          <a:xfrm>
            <a:off x="9134475" y="3048000"/>
            <a:ext cx="21812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Book, list, update, cancel, delete</a:t>
            </a:r>
            <a:endParaRPr/>
          </a:p>
        </p:txBody>
      </p:sp>
      <p:sp>
        <p:nvSpPr>
          <p:cNvPr id="375" name="Google Shape;375;p24"/>
          <p:cNvSpPr/>
          <p:nvPr/>
        </p:nvSpPr>
        <p:spPr>
          <a:xfrm>
            <a:off x="685800" y="4000500"/>
            <a:ext cx="2562225" cy="1638300"/>
          </a:xfrm>
          <a:prstGeom prst="roundRect">
            <a:avLst>
              <a:gd fmla="val 6976" name="adj"/>
            </a:avLst>
          </a:prstGeom>
          <a:solidFill>
            <a:srgbClr val="FFFFFF"/>
          </a:solidFill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24"/>
          <p:cNvSpPr/>
          <p:nvPr/>
        </p:nvSpPr>
        <p:spPr>
          <a:xfrm>
            <a:off x="685800" y="4000500"/>
            <a:ext cx="2562225" cy="47625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4"/>
          <p:cNvSpPr txBox="1"/>
          <p:nvPr/>
        </p:nvSpPr>
        <p:spPr>
          <a:xfrm>
            <a:off x="876300" y="4190999"/>
            <a:ext cx="2181225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5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378" name="Google Shape;378;p24"/>
          <p:cNvSpPr txBox="1"/>
          <p:nvPr/>
        </p:nvSpPr>
        <p:spPr>
          <a:xfrm>
            <a:off x="876300" y="4591050"/>
            <a:ext cx="2181225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Availability</a:t>
            </a:r>
            <a:endParaRPr/>
          </a:p>
        </p:txBody>
      </p:sp>
      <p:sp>
        <p:nvSpPr>
          <p:cNvPr id="379" name="Google Shape;379;p24"/>
          <p:cNvSpPr txBox="1"/>
          <p:nvPr/>
        </p:nvSpPr>
        <p:spPr>
          <a:xfrm>
            <a:off x="876300" y="4876800"/>
            <a:ext cx="21812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Slots, weekly schedule, updates</a:t>
            </a:r>
            <a:endParaRPr/>
          </a:p>
        </p:txBody>
      </p:sp>
      <p:sp>
        <p:nvSpPr>
          <p:cNvPr id="380" name="Google Shape;380;p24"/>
          <p:cNvSpPr/>
          <p:nvPr/>
        </p:nvSpPr>
        <p:spPr>
          <a:xfrm>
            <a:off x="3438525" y="4000500"/>
            <a:ext cx="2562225" cy="1638300"/>
          </a:xfrm>
          <a:prstGeom prst="roundRect">
            <a:avLst>
              <a:gd fmla="val 6976" name="adj"/>
            </a:avLst>
          </a:prstGeom>
          <a:solidFill>
            <a:srgbClr val="FFFFFF"/>
          </a:solidFill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24"/>
          <p:cNvSpPr/>
          <p:nvPr/>
        </p:nvSpPr>
        <p:spPr>
          <a:xfrm>
            <a:off x="3438525" y="4000500"/>
            <a:ext cx="2562225" cy="47625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24"/>
          <p:cNvSpPr txBox="1"/>
          <p:nvPr/>
        </p:nvSpPr>
        <p:spPr>
          <a:xfrm>
            <a:off x="3629025" y="4190999"/>
            <a:ext cx="2181225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5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383" name="Google Shape;383;p24"/>
          <p:cNvSpPr txBox="1"/>
          <p:nvPr/>
        </p:nvSpPr>
        <p:spPr>
          <a:xfrm>
            <a:off x="3629025" y="4591050"/>
            <a:ext cx="2181225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Payments</a:t>
            </a:r>
            <a:endParaRPr/>
          </a:p>
        </p:txBody>
      </p:sp>
      <p:sp>
        <p:nvSpPr>
          <p:cNvPr id="384" name="Google Shape;384;p24"/>
          <p:cNvSpPr txBox="1"/>
          <p:nvPr/>
        </p:nvSpPr>
        <p:spPr>
          <a:xfrm>
            <a:off x="3629025" y="4876800"/>
            <a:ext cx="21812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Stripe checkout, verify, refund, history</a:t>
            </a:r>
            <a:endParaRPr/>
          </a:p>
        </p:txBody>
      </p:sp>
      <p:sp>
        <p:nvSpPr>
          <p:cNvPr id="385" name="Google Shape;385;p24"/>
          <p:cNvSpPr/>
          <p:nvPr/>
        </p:nvSpPr>
        <p:spPr>
          <a:xfrm>
            <a:off x="6191250" y="4000500"/>
            <a:ext cx="2562225" cy="1638300"/>
          </a:xfrm>
          <a:prstGeom prst="roundRect">
            <a:avLst>
              <a:gd fmla="val 6976" name="adj"/>
            </a:avLst>
          </a:prstGeom>
          <a:solidFill>
            <a:srgbClr val="FFFFFF"/>
          </a:solidFill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24"/>
          <p:cNvSpPr/>
          <p:nvPr/>
        </p:nvSpPr>
        <p:spPr>
          <a:xfrm>
            <a:off x="6191250" y="4000500"/>
            <a:ext cx="2562225" cy="47625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4"/>
          <p:cNvSpPr txBox="1"/>
          <p:nvPr/>
        </p:nvSpPr>
        <p:spPr>
          <a:xfrm>
            <a:off x="6381750" y="4190999"/>
            <a:ext cx="2181225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5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388" name="Google Shape;388;p24"/>
          <p:cNvSpPr txBox="1"/>
          <p:nvPr/>
        </p:nvSpPr>
        <p:spPr>
          <a:xfrm>
            <a:off x="6381750" y="4591050"/>
            <a:ext cx="2181225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Reviews</a:t>
            </a:r>
            <a:endParaRPr/>
          </a:p>
        </p:txBody>
      </p:sp>
      <p:sp>
        <p:nvSpPr>
          <p:cNvPr id="389" name="Google Shape;389;p24"/>
          <p:cNvSpPr txBox="1"/>
          <p:nvPr/>
        </p:nvSpPr>
        <p:spPr>
          <a:xfrm>
            <a:off x="6381750" y="4876800"/>
            <a:ext cx="21812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Add, list, check, delete</a:t>
            </a:r>
            <a:endParaRPr/>
          </a:p>
        </p:txBody>
      </p:sp>
      <p:sp>
        <p:nvSpPr>
          <p:cNvPr id="390" name="Google Shape;390;p24"/>
          <p:cNvSpPr/>
          <p:nvPr/>
        </p:nvSpPr>
        <p:spPr>
          <a:xfrm>
            <a:off x="8943975" y="4000500"/>
            <a:ext cx="2562225" cy="1638300"/>
          </a:xfrm>
          <a:prstGeom prst="roundRect">
            <a:avLst>
              <a:gd fmla="val 6976" name="adj"/>
            </a:avLst>
          </a:prstGeom>
          <a:solidFill>
            <a:srgbClr val="FFFFFF"/>
          </a:solidFill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4"/>
          <p:cNvSpPr/>
          <p:nvPr/>
        </p:nvSpPr>
        <p:spPr>
          <a:xfrm>
            <a:off x="8943975" y="4000500"/>
            <a:ext cx="2562225" cy="47625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4"/>
          <p:cNvSpPr txBox="1"/>
          <p:nvPr/>
        </p:nvSpPr>
        <p:spPr>
          <a:xfrm>
            <a:off x="9134475" y="4190999"/>
            <a:ext cx="2181225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5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/>
          </a:p>
        </p:txBody>
      </p:sp>
      <p:sp>
        <p:nvSpPr>
          <p:cNvPr id="393" name="Google Shape;393;p24"/>
          <p:cNvSpPr txBox="1"/>
          <p:nvPr/>
        </p:nvSpPr>
        <p:spPr>
          <a:xfrm>
            <a:off x="9134475" y="4591050"/>
            <a:ext cx="2181225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Admin</a:t>
            </a:r>
            <a:endParaRPr/>
          </a:p>
        </p:txBody>
      </p:sp>
      <p:sp>
        <p:nvSpPr>
          <p:cNvPr id="394" name="Google Shape;394;p24"/>
          <p:cNvSpPr txBox="1"/>
          <p:nvPr/>
        </p:nvSpPr>
        <p:spPr>
          <a:xfrm>
            <a:off x="9134475" y="4876800"/>
            <a:ext cx="2181225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Stats, revenue, approvals, management</a:t>
            </a:r>
            <a:endParaRPr/>
          </a:p>
        </p:txBody>
      </p:sp>
      <p:sp>
        <p:nvSpPr>
          <p:cNvPr id="395" name="Google Shape;395;p24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12 / 29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25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ENTERPRISE-GRADE SECURITY FROM DAY ONE</a:t>
            </a:r>
            <a:endParaRPr/>
          </a:p>
        </p:txBody>
      </p:sp>
      <p:sp>
        <p:nvSpPr>
          <p:cNvPr id="401" name="Google Shape;401;p25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25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Security</a:t>
            </a:r>
            <a:endParaRPr/>
          </a:p>
        </p:txBody>
      </p:sp>
      <p:sp>
        <p:nvSpPr>
          <p:cNvPr id="403" name="Google Shape;403;p25"/>
          <p:cNvSpPr txBox="1"/>
          <p:nvPr/>
        </p:nvSpPr>
        <p:spPr>
          <a:xfrm>
            <a:off x="685800" y="2381250"/>
            <a:ext cx="4953000" cy="1809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Security built in, not bolted on.</a:t>
            </a:r>
            <a:endParaRPr/>
          </a:p>
        </p:txBody>
      </p:sp>
      <p:sp>
        <p:nvSpPr>
          <p:cNvPr id="404" name="Google Shape;404;p25"/>
          <p:cNvSpPr txBox="1"/>
          <p:nvPr/>
        </p:nvSpPr>
        <p:spPr>
          <a:xfrm>
            <a:off x="685800" y="4305300"/>
            <a:ext cx="4762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Every layer of MediCare Pro enforces authentication and data protection.</a:t>
            </a:r>
            <a:endParaRPr/>
          </a:p>
        </p:txBody>
      </p:sp>
      <p:sp>
        <p:nvSpPr>
          <p:cNvPr id="405" name="Google Shape;405;p25"/>
          <p:cNvSpPr txBox="1"/>
          <p:nvPr/>
        </p:nvSpPr>
        <p:spPr>
          <a:xfrm>
            <a:off x="6191250" y="23812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JWT AUTHENTICATION</a:t>
            </a:r>
            <a:endParaRPr/>
          </a:p>
        </p:txBody>
      </p:sp>
      <p:sp>
        <p:nvSpPr>
          <p:cNvPr id="406" name="Google Shape;406;p25"/>
          <p:cNvSpPr txBox="1"/>
          <p:nvPr/>
        </p:nvSpPr>
        <p:spPr>
          <a:xfrm>
            <a:off x="6191250" y="26289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Stateless, signed tokens with role claims secure every session.</a:t>
            </a:r>
            <a:endParaRPr/>
          </a:p>
        </p:txBody>
      </p:sp>
      <p:cxnSp>
        <p:nvCxnSpPr>
          <p:cNvPr id="407" name="Google Shape;407;p25"/>
          <p:cNvCxnSpPr/>
          <p:nvPr/>
        </p:nvCxnSpPr>
        <p:spPr>
          <a:xfrm>
            <a:off x="6191250" y="3238500"/>
            <a:ext cx="5314950" cy="0"/>
          </a:xfrm>
          <a:prstGeom prst="straightConnector1">
            <a:avLst/>
          </a:prstGeom>
          <a:noFill/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8" name="Google Shape;408;p25"/>
          <p:cNvSpPr txBox="1"/>
          <p:nvPr/>
        </p:nvSpPr>
        <p:spPr>
          <a:xfrm>
            <a:off x="6191250" y="33718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PASSWORD HASHING</a:t>
            </a:r>
            <a:endParaRPr/>
          </a:p>
        </p:txBody>
      </p:sp>
      <p:sp>
        <p:nvSpPr>
          <p:cNvPr id="409" name="Google Shape;409;p25"/>
          <p:cNvSpPr txBox="1"/>
          <p:nvPr/>
        </p:nvSpPr>
        <p:spPr>
          <a:xfrm>
            <a:off x="6191250" y="36195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bcrypt with salt rounds — passwords are never stored in plain text.</a:t>
            </a:r>
            <a:endParaRPr/>
          </a:p>
        </p:txBody>
      </p:sp>
      <p:cxnSp>
        <p:nvCxnSpPr>
          <p:cNvPr id="410" name="Google Shape;410;p25"/>
          <p:cNvCxnSpPr/>
          <p:nvPr/>
        </p:nvCxnSpPr>
        <p:spPr>
          <a:xfrm>
            <a:off x="6191250" y="4229100"/>
            <a:ext cx="5314950" cy="0"/>
          </a:xfrm>
          <a:prstGeom prst="straightConnector1">
            <a:avLst/>
          </a:prstGeom>
          <a:noFill/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1" name="Google Shape;411;p25"/>
          <p:cNvSpPr txBox="1"/>
          <p:nvPr/>
        </p:nvSpPr>
        <p:spPr>
          <a:xfrm>
            <a:off x="6191250" y="43624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PROTECTED ROUTES &amp; RBAC</a:t>
            </a:r>
            <a:endParaRPr/>
          </a:p>
        </p:txBody>
      </p:sp>
      <p:sp>
        <p:nvSpPr>
          <p:cNvPr id="412" name="Google Shape;412;p25"/>
          <p:cNvSpPr txBox="1"/>
          <p:nvPr/>
        </p:nvSpPr>
        <p:spPr>
          <a:xfrm>
            <a:off x="6191250" y="46101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Frontend route guards and backend middleware isolate Patient, Doctor, and Admin access.</a:t>
            </a:r>
            <a:endParaRPr/>
          </a:p>
        </p:txBody>
      </p:sp>
      <p:cxnSp>
        <p:nvCxnSpPr>
          <p:cNvPr id="413" name="Google Shape;413;p25"/>
          <p:cNvCxnSpPr/>
          <p:nvPr/>
        </p:nvCxnSpPr>
        <p:spPr>
          <a:xfrm>
            <a:off x="6191250" y="5219700"/>
            <a:ext cx="5314950" cy="0"/>
          </a:xfrm>
          <a:prstGeom prst="straightConnector1">
            <a:avLst/>
          </a:prstGeom>
          <a:noFill/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4" name="Google Shape;414;p25"/>
          <p:cNvSpPr txBox="1"/>
          <p:nvPr/>
        </p:nvSpPr>
        <p:spPr>
          <a:xfrm>
            <a:off x="6191250" y="5353050"/>
            <a:ext cx="2857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SECURE STRIPE PAYMENTS</a:t>
            </a:r>
            <a:endParaRPr/>
          </a:p>
        </p:txBody>
      </p:sp>
      <p:sp>
        <p:nvSpPr>
          <p:cNvPr id="415" name="Google Shape;415;p25"/>
          <p:cNvSpPr txBox="1"/>
          <p:nvPr/>
        </p:nvSpPr>
        <p:spPr>
          <a:xfrm>
            <a:off x="6191250" y="56007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Checkout sessions and idempotent verification keep every transaction safe.</a:t>
            </a:r>
            <a:endParaRPr/>
          </a:p>
        </p:txBody>
      </p:sp>
      <p:sp>
        <p:nvSpPr>
          <p:cNvPr id="416" name="Google Shape;416;p25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13 / 29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26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WHAT EACH ROLE CAN DO</a:t>
            </a:r>
            <a:endParaRPr/>
          </a:p>
        </p:txBody>
      </p:sp>
      <p:sp>
        <p:nvSpPr>
          <p:cNvPr id="422" name="Google Shape;422;p26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26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Features by User Role</a:t>
            </a:r>
            <a:endParaRPr/>
          </a:p>
        </p:txBody>
      </p:sp>
      <p:sp>
        <p:nvSpPr>
          <p:cNvPr id="424" name="Google Shape;424;p26"/>
          <p:cNvSpPr txBox="1"/>
          <p:nvPr/>
        </p:nvSpPr>
        <p:spPr>
          <a:xfrm>
            <a:off x="685800" y="2133600"/>
            <a:ext cx="9525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One codebase, three purpose-built experiences.</a:t>
            </a:r>
            <a:endParaRPr/>
          </a:p>
        </p:txBody>
      </p:sp>
      <p:graphicFrame>
        <p:nvGraphicFramePr>
          <p:cNvPr id="425" name="Google Shape;425;p26"/>
          <p:cNvGraphicFramePr/>
          <p:nvPr/>
        </p:nvGraphicFramePr>
        <p:xfrm>
          <a:off x="685800" y="2667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{033953F8-7B98-407E-B8B5-49FA6A01FE57}</a:tableStyleId>
              </a:tblPr>
              <a:tblGrid>
                <a:gridCol w="2705100"/>
                <a:gridCol w="2705100"/>
                <a:gridCol w="2705100"/>
                <a:gridCol w="2705100"/>
              </a:tblGrid>
              <a:tr h="444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00" u="none" cap="none" strike="noStrike">
                          <a:solidFill>
                            <a:srgbClr val="6B686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Feature</a:t>
                      </a:r>
                      <a:endParaRPr/>
                    </a:p>
                  </a:txBody>
                  <a:tcPr marT="95250" marB="95250" marR="57150" marL="571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00" u="none" cap="none" strike="noStrike">
                          <a:solidFill>
                            <a:srgbClr val="6B686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Patient</a:t>
                      </a:r>
                      <a:endParaRPr/>
                    </a:p>
                  </a:txBody>
                  <a:tcPr marT="95250" marB="95250" marR="57150" marL="571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00" u="none" cap="none" strike="noStrike">
                          <a:solidFill>
                            <a:srgbClr val="6B686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Doctor</a:t>
                      </a:r>
                      <a:endParaRPr/>
                    </a:p>
                  </a:txBody>
                  <a:tcPr marT="95250" marB="95250" marR="57150" marL="571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00" u="none" cap="none" strike="noStrike">
                          <a:solidFill>
                            <a:srgbClr val="6B686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Admin</a:t>
                      </a:r>
                      <a:endParaRPr/>
                    </a:p>
                  </a:txBody>
                  <a:tcPr marT="95250" marB="95250" marR="57150" marL="57150" anchor="ctr"/>
                </a:tc>
              </a:tr>
              <a:tr h="444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C2C2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Doctor Discovery &amp; Appointments</a:t>
                      </a:r>
                      <a:endParaRPr/>
                    </a:p>
                  </a:txBody>
                  <a:tcPr marT="95250" marB="95250" marR="57150" marL="571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C2C2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✓ Search, book &amp; cancel</a:t>
                      </a:r>
                      <a:endParaRPr/>
                    </a:p>
                  </a:txBody>
                  <a:tcPr marT="95250" marB="95250" marR="57150" marL="571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C2C2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✓ Accept &amp; complete</a:t>
                      </a:r>
                      <a:endParaRPr/>
                    </a:p>
                  </a:txBody>
                  <a:tcPr marT="95250" marB="95250" marR="57150" marL="571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C2C2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✓ Monitor all</a:t>
                      </a:r>
                      <a:endParaRPr/>
                    </a:p>
                  </a:txBody>
                  <a:tcPr marT="95250" marB="95250" marR="57150" marL="57150" anchor="ctr"/>
                </a:tc>
              </a:tr>
              <a:tr h="444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C2C2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Payments &amp; Refunds</a:t>
                      </a:r>
                      <a:endParaRPr/>
                    </a:p>
                  </a:txBody>
                  <a:tcPr marT="95250" marB="95250" marR="57150" marL="571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C2C2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✓ Pay &amp; view history</a:t>
                      </a:r>
                      <a:endParaRPr/>
                    </a:p>
                  </a:txBody>
                  <a:tcPr marT="95250" marB="95250" marR="57150" marL="571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C2C2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–</a:t>
                      </a:r>
                      <a:endParaRPr/>
                    </a:p>
                  </a:txBody>
                  <a:tcPr marT="95250" marB="95250" marR="57150" marL="571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C2C2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✓ Manual refunds</a:t>
                      </a:r>
                      <a:endParaRPr/>
                    </a:p>
                  </a:txBody>
                  <a:tcPr marT="95250" marB="95250" marR="57150" marL="57150" anchor="ctr"/>
                </a:tc>
              </a:tr>
              <a:tr h="444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C2C2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Scheduling &amp; Availability</a:t>
                      </a:r>
                      <a:endParaRPr/>
                    </a:p>
                  </a:txBody>
                  <a:tcPr marT="95250" marB="95250" marR="57150" marL="571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C2C2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✓ View open slots</a:t>
                      </a:r>
                      <a:endParaRPr/>
                    </a:p>
                  </a:txBody>
                  <a:tcPr marT="95250" marB="95250" marR="57150" marL="571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C2C2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✓ Set weekly hours</a:t>
                      </a:r>
                      <a:endParaRPr/>
                    </a:p>
                  </a:txBody>
                  <a:tcPr marT="95250" marB="95250" marR="57150" marL="571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C2C2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–</a:t>
                      </a:r>
                      <a:endParaRPr/>
                    </a:p>
                  </a:txBody>
                  <a:tcPr marT="95250" marB="95250" marR="57150" marL="57150" anchor="ctr"/>
                </a:tc>
              </a:tr>
              <a:tr h="444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C2C2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Reviews &amp; Verification</a:t>
                      </a:r>
                      <a:endParaRPr/>
                    </a:p>
                  </a:txBody>
                  <a:tcPr marT="95250" marB="95250" marR="57150" marL="571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C2C2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✓ Leave reviews</a:t>
                      </a:r>
                      <a:endParaRPr/>
                    </a:p>
                  </a:txBody>
                  <a:tcPr marT="95250" marB="95250" marR="57150" marL="571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C2C2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✓ Get verified</a:t>
                      </a:r>
                      <a:endParaRPr/>
                    </a:p>
                  </a:txBody>
                  <a:tcPr marT="95250" marB="95250" marR="57150" marL="571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C2C2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✓ Approve doctors</a:t>
                      </a:r>
                      <a:endParaRPr/>
                    </a:p>
                  </a:txBody>
                  <a:tcPr marT="95250" marB="95250" marR="57150" marL="57150" anchor="ctr"/>
                </a:tc>
              </a:tr>
              <a:tr h="444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C2C2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Analytics &amp; User Management</a:t>
                      </a:r>
                      <a:endParaRPr/>
                    </a:p>
                  </a:txBody>
                  <a:tcPr marT="95250" marB="95250" marR="57150" marL="571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C2C2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–</a:t>
                      </a:r>
                      <a:endParaRPr/>
                    </a:p>
                  </a:txBody>
                  <a:tcPr marT="95250" marB="95250" marR="57150" marL="571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C2C2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–</a:t>
                      </a:r>
                      <a:endParaRPr/>
                    </a:p>
                  </a:txBody>
                  <a:tcPr marT="95250" marB="95250" marR="57150" marL="571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C2C2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✓ Dashboards &amp; users</a:t>
                      </a:r>
                      <a:endParaRPr/>
                    </a:p>
                  </a:txBody>
                  <a:tcPr marT="95250" marB="95250" marR="57150" marL="57150" anchor="ctr"/>
                </a:tc>
              </a:tr>
            </a:tbl>
          </a:graphicData>
        </a:graphic>
      </p:graphicFrame>
      <p:sp>
        <p:nvSpPr>
          <p:cNvPr id="426" name="Google Shape;426;p26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14 / 29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27"/>
          <p:cNvSpPr/>
          <p:nvPr/>
        </p:nvSpPr>
        <p:spPr>
          <a:xfrm>
            <a:off x="685800" y="1143000"/>
            <a:ext cx="4457700" cy="3771900"/>
          </a:xfrm>
          <a:prstGeom prst="roundRect">
            <a:avLst>
              <a:gd fmla="val 3030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432" name="Google Shape;432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143000"/>
            <a:ext cx="4476750" cy="3829050"/>
          </a:xfrm>
          <a:prstGeom prst="roundRect">
            <a:avLst>
              <a:gd fmla="val 3030" name="adj"/>
            </a:avLst>
          </a:prstGeom>
          <a:noFill/>
          <a:ln>
            <a:noFill/>
          </a:ln>
        </p:spPr>
      </p:pic>
      <p:sp>
        <p:nvSpPr>
          <p:cNvPr id="433" name="Google Shape;433;p27"/>
          <p:cNvSpPr txBox="1"/>
          <p:nvPr/>
        </p:nvSpPr>
        <p:spPr>
          <a:xfrm>
            <a:off x="685800" y="5048250"/>
            <a:ext cx="44577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MediCare Pro logo</a:t>
            </a:r>
            <a:endParaRPr/>
          </a:p>
        </p:txBody>
      </p:sp>
      <p:sp>
        <p:nvSpPr>
          <p:cNvPr id="434" name="Google Shape;434;p27"/>
          <p:cNvSpPr txBox="1"/>
          <p:nvPr/>
        </p:nvSpPr>
        <p:spPr>
          <a:xfrm>
            <a:off x="6191250" y="1143000"/>
            <a:ext cx="4391025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BRAND IDENTITY</a:t>
            </a:r>
            <a:endParaRPr/>
          </a:p>
        </p:txBody>
      </p:sp>
      <p:sp>
        <p:nvSpPr>
          <p:cNvPr id="435" name="Google Shape;435;p27"/>
          <p:cNvSpPr/>
          <p:nvPr/>
        </p:nvSpPr>
        <p:spPr>
          <a:xfrm>
            <a:off x="6191250" y="1447800"/>
            <a:ext cx="419100" cy="38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27"/>
          <p:cNvSpPr txBox="1"/>
          <p:nvPr/>
        </p:nvSpPr>
        <p:spPr>
          <a:xfrm>
            <a:off x="6191250" y="1619250"/>
            <a:ext cx="4476750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A Trusted Digital Health Mark</a:t>
            </a:r>
            <a:endParaRPr/>
          </a:p>
        </p:txBody>
      </p:sp>
      <p:sp>
        <p:nvSpPr>
          <p:cNvPr id="437" name="Google Shape;437;p27"/>
          <p:cNvSpPr txBox="1"/>
          <p:nvPr/>
        </p:nvSpPr>
        <p:spPr>
          <a:xfrm>
            <a:off x="6191250" y="3009900"/>
            <a:ext cx="447675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9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7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The MediCare Pro mark pairs a medical cross with a heartbeat pulse — a simple symbol of care and vitality. A dark, teal-accented interface carries that identity across every patient, doctor, and admin experience.</a:t>
            </a:r>
            <a:endParaRPr/>
          </a:p>
        </p:txBody>
      </p:sp>
      <p:sp>
        <p:nvSpPr>
          <p:cNvPr id="438" name="Google Shape;438;p27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15 / 29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28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EGYPT'S #1 HEALTHCARE PLATFORM</a:t>
            </a:r>
            <a:endParaRPr/>
          </a:p>
        </p:txBody>
      </p:sp>
      <p:sp>
        <p:nvSpPr>
          <p:cNvPr id="444" name="Google Shape;444;p28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28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UI Showcase — Landing Page</a:t>
            </a:r>
            <a:endParaRPr/>
          </a:p>
        </p:txBody>
      </p:sp>
      <p:sp>
        <p:nvSpPr>
          <p:cNvPr id="446" name="Google Shape;446;p28"/>
          <p:cNvSpPr/>
          <p:nvPr/>
        </p:nvSpPr>
        <p:spPr>
          <a:xfrm>
            <a:off x="685800" y="2247900"/>
            <a:ext cx="5314950" cy="1590675"/>
          </a:xfrm>
          <a:prstGeom prst="roundRect">
            <a:avLst>
              <a:gd fmla="val 7185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anding_1.png" id="447" name="Google Shape;447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14910" y="2247900"/>
            <a:ext cx="3456728" cy="1590675"/>
          </a:xfrm>
          <a:prstGeom prst="roundRect">
            <a:avLst>
              <a:gd fmla="val 7185" name="adj"/>
            </a:avLst>
          </a:prstGeom>
          <a:noFill/>
          <a:ln>
            <a:noFill/>
          </a:ln>
        </p:spPr>
      </p:pic>
      <p:sp>
        <p:nvSpPr>
          <p:cNvPr id="448" name="Google Shape;448;p28"/>
          <p:cNvSpPr txBox="1"/>
          <p:nvPr/>
        </p:nvSpPr>
        <p:spPr>
          <a:xfrm>
            <a:off x="704850" y="3895725"/>
            <a:ext cx="52768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Hero Section</a:t>
            </a:r>
            <a:endParaRPr/>
          </a:p>
        </p:txBody>
      </p:sp>
      <p:sp>
        <p:nvSpPr>
          <p:cNvPr id="449" name="Google Shape;449;p28"/>
          <p:cNvSpPr/>
          <p:nvPr/>
        </p:nvSpPr>
        <p:spPr>
          <a:xfrm>
            <a:off x="6191250" y="2247900"/>
            <a:ext cx="5314950" cy="1590675"/>
          </a:xfrm>
          <a:prstGeom prst="roundRect">
            <a:avLst>
              <a:gd fmla="val 7185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anding_2.png" id="450" name="Google Shape;450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94288" y="2247900"/>
            <a:ext cx="5108873" cy="1590675"/>
          </a:xfrm>
          <a:prstGeom prst="roundRect">
            <a:avLst>
              <a:gd fmla="val 7185" name="adj"/>
            </a:avLst>
          </a:prstGeom>
          <a:noFill/>
          <a:ln>
            <a:noFill/>
          </a:ln>
        </p:spPr>
      </p:pic>
      <p:sp>
        <p:nvSpPr>
          <p:cNvPr id="451" name="Google Shape;451;p28"/>
          <p:cNvSpPr txBox="1"/>
          <p:nvPr/>
        </p:nvSpPr>
        <p:spPr>
          <a:xfrm>
            <a:off x="6210300" y="3895725"/>
            <a:ext cx="52768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Medical Specialties</a:t>
            </a:r>
            <a:endParaRPr/>
          </a:p>
        </p:txBody>
      </p:sp>
      <p:sp>
        <p:nvSpPr>
          <p:cNvPr id="452" name="Google Shape;452;p28"/>
          <p:cNvSpPr/>
          <p:nvPr/>
        </p:nvSpPr>
        <p:spPr>
          <a:xfrm>
            <a:off x="685800" y="4314825"/>
            <a:ext cx="5314950" cy="1590675"/>
          </a:xfrm>
          <a:prstGeom prst="roundRect">
            <a:avLst>
              <a:gd fmla="val 7185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anding_3.png" id="453" name="Google Shape;453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97473" y="4314825"/>
            <a:ext cx="3691602" cy="1590675"/>
          </a:xfrm>
          <a:prstGeom prst="roundRect">
            <a:avLst>
              <a:gd fmla="val 7185" name="adj"/>
            </a:avLst>
          </a:prstGeom>
          <a:noFill/>
          <a:ln>
            <a:noFill/>
          </a:ln>
        </p:spPr>
      </p:pic>
      <p:sp>
        <p:nvSpPr>
          <p:cNvPr id="454" name="Google Shape;454;p28"/>
          <p:cNvSpPr txBox="1"/>
          <p:nvPr/>
        </p:nvSpPr>
        <p:spPr>
          <a:xfrm>
            <a:off x="704850" y="5962650"/>
            <a:ext cx="52768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How It Works</a:t>
            </a:r>
            <a:endParaRPr/>
          </a:p>
        </p:txBody>
      </p:sp>
      <p:sp>
        <p:nvSpPr>
          <p:cNvPr id="455" name="Google Shape;455;p28"/>
          <p:cNvSpPr/>
          <p:nvPr/>
        </p:nvSpPr>
        <p:spPr>
          <a:xfrm>
            <a:off x="6191250" y="4314825"/>
            <a:ext cx="5314950" cy="1590675"/>
          </a:xfrm>
          <a:prstGeom prst="roundRect">
            <a:avLst>
              <a:gd fmla="val 7185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anding_4.png" id="456" name="Google Shape;456;p2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73459" y="4314825"/>
            <a:ext cx="4150531" cy="1590675"/>
          </a:xfrm>
          <a:prstGeom prst="roundRect">
            <a:avLst>
              <a:gd fmla="val 7185" name="adj"/>
            </a:avLst>
          </a:prstGeom>
          <a:noFill/>
          <a:ln>
            <a:noFill/>
          </a:ln>
        </p:spPr>
      </p:pic>
      <p:sp>
        <p:nvSpPr>
          <p:cNvPr id="457" name="Google Shape;457;p28"/>
          <p:cNvSpPr txBox="1"/>
          <p:nvPr/>
        </p:nvSpPr>
        <p:spPr>
          <a:xfrm>
            <a:off x="6210300" y="5962650"/>
            <a:ext cx="52768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Call to Action &amp; Footer</a:t>
            </a:r>
            <a:endParaRPr/>
          </a:p>
        </p:txBody>
      </p:sp>
      <p:sp>
        <p:nvSpPr>
          <p:cNvPr id="458" name="Google Shape;458;p28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16 / 29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29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SECURE LOGIN &amp; MULTI-STEP REGISTRATION</a:t>
            </a:r>
            <a:endParaRPr/>
          </a:p>
        </p:txBody>
      </p:sp>
      <p:sp>
        <p:nvSpPr>
          <p:cNvPr id="464" name="Google Shape;464;p29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29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UI Showcase — Authentication</a:t>
            </a:r>
            <a:endParaRPr/>
          </a:p>
        </p:txBody>
      </p:sp>
      <p:sp>
        <p:nvSpPr>
          <p:cNvPr id="466" name="Google Shape;466;p29"/>
          <p:cNvSpPr/>
          <p:nvPr/>
        </p:nvSpPr>
        <p:spPr>
          <a:xfrm>
            <a:off x="685800" y="2247900"/>
            <a:ext cx="3479800" cy="3657600"/>
          </a:xfrm>
          <a:prstGeom prst="roundRect">
            <a:avLst>
              <a:gd fmla="val 3284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in.png" id="467" name="Google Shape;467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3235520"/>
            <a:ext cx="3479800" cy="1682359"/>
          </a:xfrm>
          <a:prstGeom prst="roundRect">
            <a:avLst>
              <a:gd fmla="val 6794" name="adj"/>
            </a:avLst>
          </a:prstGeom>
          <a:noFill/>
          <a:ln>
            <a:noFill/>
          </a:ln>
        </p:spPr>
      </p:pic>
      <p:sp>
        <p:nvSpPr>
          <p:cNvPr id="468" name="Google Shape;468;p29"/>
          <p:cNvSpPr txBox="1"/>
          <p:nvPr/>
        </p:nvSpPr>
        <p:spPr>
          <a:xfrm>
            <a:off x="704850" y="5962650"/>
            <a:ext cx="34417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Login</a:t>
            </a:r>
            <a:endParaRPr/>
          </a:p>
        </p:txBody>
      </p:sp>
      <p:sp>
        <p:nvSpPr>
          <p:cNvPr id="469" name="Google Shape;469;p29"/>
          <p:cNvSpPr/>
          <p:nvPr/>
        </p:nvSpPr>
        <p:spPr>
          <a:xfrm>
            <a:off x="4356100" y="2247900"/>
            <a:ext cx="3479800" cy="3657600"/>
          </a:xfrm>
          <a:prstGeom prst="roundRect">
            <a:avLst>
              <a:gd fmla="val 3284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ignup_patient.png" id="470" name="Google Shape;470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56100" y="3236842"/>
            <a:ext cx="3479800" cy="1679714"/>
          </a:xfrm>
          <a:prstGeom prst="roundRect">
            <a:avLst>
              <a:gd fmla="val 6804" name="adj"/>
            </a:avLst>
          </a:prstGeom>
          <a:noFill/>
          <a:ln>
            <a:noFill/>
          </a:ln>
        </p:spPr>
      </p:pic>
      <p:sp>
        <p:nvSpPr>
          <p:cNvPr id="471" name="Google Shape;471;p29"/>
          <p:cNvSpPr txBox="1"/>
          <p:nvPr/>
        </p:nvSpPr>
        <p:spPr>
          <a:xfrm>
            <a:off x="4375150" y="5962650"/>
            <a:ext cx="34417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Patient Sign Up</a:t>
            </a:r>
            <a:endParaRPr/>
          </a:p>
        </p:txBody>
      </p:sp>
      <p:sp>
        <p:nvSpPr>
          <p:cNvPr id="472" name="Google Shape;472;p29"/>
          <p:cNvSpPr/>
          <p:nvPr/>
        </p:nvSpPr>
        <p:spPr>
          <a:xfrm>
            <a:off x="8026399" y="2247900"/>
            <a:ext cx="3479800" cy="3657600"/>
          </a:xfrm>
          <a:prstGeom prst="roundRect">
            <a:avLst>
              <a:gd fmla="val 3284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ignup_doctor.png" id="473" name="Google Shape;473;p2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26399" y="3240964"/>
            <a:ext cx="3479800" cy="1671471"/>
          </a:xfrm>
          <a:prstGeom prst="roundRect">
            <a:avLst>
              <a:gd fmla="val 6838" name="adj"/>
            </a:avLst>
          </a:prstGeom>
          <a:noFill/>
          <a:ln>
            <a:noFill/>
          </a:ln>
        </p:spPr>
      </p:pic>
      <p:sp>
        <p:nvSpPr>
          <p:cNvPr id="474" name="Google Shape;474;p29"/>
          <p:cNvSpPr txBox="1"/>
          <p:nvPr/>
        </p:nvSpPr>
        <p:spPr>
          <a:xfrm>
            <a:off x="8045450" y="5962650"/>
            <a:ext cx="34417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Doctor Sign Up</a:t>
            </a:r>
            <a:endParaRPr/>
          </a:p>
        </p:txBody>
      </p:sp>
      <p:sp>
        <p:nvSpPr>
          <p:cNvPr id="475" name="Google Shape;475;p29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17 / 29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30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DASHBOARD, DISCOVERY, BOOKING &amp; PAYMENTS</a:t>
            </a:r>
            <a:endParaRPr/>
          </a:p>
        </p:txBody>
      </p:sp>
      <p:sp>
        <p:nvSpPr>
          <p:cNvPr id="481" name="Google Shape;481;p30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30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UI Showcase — Patient Module</a:t>
            </a:r>
            <a:endParaRPr/>
          </a:p>
        </p:txBody>
      </p:sp>
      <p:sp>
        <p:nvSpPr>
          <p:cNvPr id="483" name="Google Shape;483;p30"/>
          <p:cNvSpPr/>
          <p:nvPr/>
        </p:nvSpPr>
        <p:spPr>
          <a:xfrm>
            <a:off x="685800" y="2247900"/>
            <a:ext cx="3479800" cy="1590675"/>
          </a:xfrm>
          <a:prstGeom prst="roundRect">
            <a:avLst>
              <a:gd fmla="val 7185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atient_home.png" id="484" name="Google Shape;484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0083" y="2247900"/>
            <a:ext cx="3291232" cy="1590675"/>
          </a:xfrm>
          <a:prstGeom prst="roundRect">
            <a:avLst>
              <a:gd fmla="val 7185" name="adj"/>
            </a:avLst>
          </a:prstGeom>
          <a:noFill/>
          <a:ln>
            <a:noFill/>
          </a:ln>
        </p:spPr>
      </p:pic>
      <p:sp>
        <p:nvSpPr>
          <p:cNvPr id="485" name="Google Shape;485;p30"/>
          <p:cNvSpPr txBox="1"/>
          <p:nvPr/>
        </p:nvSpPr>
        <p:spPr>
          <a:xfrm>
            <a:off x="704850" y="3895725"/>
            <a:ext cx="34417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Patient Home</a:t>
            </a:r>
            <a:endParaRPr/>
          </a:p>
        </p:txBody>
      </p:sp>
      <p:sp>
        <p:nvSpPr>
          <p:cNvPr id="486" name="Google Shape;486;p30"/>
          <p:cNvSpPr/>
          <p:nvPr/>
        </p:nvSpPr>
        <p:spPr>
          <a:xfrm>
            <a:off x="4356100" y="2247900"/>
            <a:ext cx="3479800" cy="1590675"/>
          </a:xfrm>
          <a:prstGeom prst="roundRect">
            <a:avLst>
              <a:gd fmla="val 7185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atient_profile.png" id="487" name="Google Shape;487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41142" y="2247900"/>
            <a:ext cx="3309714" cy="1590675"/>
          </a:xfrm>
          <a:prstGeom prst="roundRect">
            <a:avLst>
              <a:gd fmla="val 7185" name="adj"/>
            </a:avLst>
          </a:prstGeom>
          <a:noFill/>
          <a:ln>
            <a:noFill/>
          </a:ln>
        </p:spPr>
      </p:pic>
      <p:sp>
        <p:nvSpPr>
          <p:cNvPr id="488" name="Google Shape;488;p30"/>
          <p:cNvSpPr txBox="1"/>
          <p:nvPr/>
        </p:nvSpPr>
        <p:spPr>
          <a:xfrm>
            <a:off x="4375150" y="3895725"/>
            <a:ext cx="34417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My Profile</a:t>
            </a:r>
            <a:endParaRPr/>
          </a:p>
        </p:txBody>
      </p:sp>
      <p:sp>
        <p:nvSpPr>
          <p:cNvPr id="489" name="Google Shape;489;p30"/>
          <p:cNvSpPr/>
          <p:nvPr/>
        </p:nvSpPr>
        <p:spPr>
          <a:xfrm>
            <a:off x="8026399" y="2247900"/>
            <a:ext cx="3479800" cy="1590675"/>
          </a:xfrm>
          <a:prstGeom prst="roundRect">
            <a:avLst>
              <a:gd fmla="val 7185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atient_find_doctor.png" id="490" name="Google Shape;490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29656" y="2247900"/>
            <a:ext cx="3273286" cy="1590675"/>
          </a:xfrm>
          <a:prstGeom prst="roundRect">
            <a:avLst>
              <a:gd fmla="val 7185" name="adj"/>
            </a:avLst>
          </a:prstGeom>
          <a:noFill/>
          <a:ln>
            <a:noFill/>
          </a:ln>
        </p:spPr>
      </p:pic>
      <p:sp>
        <p:nvSpPr>
          <p:cNvPr id="491" name="Google Shape;491;p30"/>
          <p:cNvSpPr txBox="1"/>
          <p:nvPr/>
        </p:nvSpPr>
        <p:spPr>
          <a:xfrm>
            <a:off x="8045450" y="3895725"/>
            <a:ext cx="34417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Find Doctors</a:t>
            </a:r>
            <a:endParaRPr/>
          </a:p>
        </p:txBody>
      </p:sp>
      <p:sp>
        <p:nvSpPr>
          <p:cNvPr id="492" name="Google Shape;492;p30"/>
          <p:cNvSpPr/>
          <p:nvPr/>
        </p:nvSpPr>
        <p:spPr>
          <a:xfrm>
            <a:off x="685800" y="4314825"/>
            <a:ext cx="3479800" cy="1590675"/>
          </a:xfrm>
          <a:prstGeom prst="roundRect">
            <a:avLst>
              <a:gd fmla="val 7185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atient_book_appointment.png" id="493" name="Google Shape;493;p3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919392" y="4314825"/>
            <a:ext cx="1012615" cy="1590675"/>
          </a:xfrm>
          <a:prstGeom prst="roundRect">
            <a:avLst>
              <a:gd fmla="val 11287" name="adj"/>
            </a:avLst>
          </a:prstGeom>
          <a:noFill/>
          <a:ln>
            <a:noFill/>
          </a:ln>
        </p:spPr>
      </p:pic>
      <p:sp>
        <p:nvSpPr>
          <p:cNvPr id="494" name="Google Shape;494;p30"/>
          <p:cNvSpPr txBox="1"/>
          <p:nvPr/>
        </p:nvSpPr>
        <p:spPr>
          <a:xfrm>
            <a:off x="704850" y="5962650"/>
            <a:ext cx="34417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Book Appointment</a:t>
            </a:r>
            <a:endParaRPr/>
          </a:p>
        </p:txBody>
      </p:sp>
      <p:sp>
        <p:nvSpPr>
          <p:cNvPr id="495" name="Google Shape;495;p30"/>
          <p:cNvSpPr/>
          <p:nvPr/>
        </p:nvSpPr>
        <p:spPr>
          <a:xfrm>
            <a:off x="4356100" y="4314825"/>
            <a:ext cx="3479800" cy="1590675"/>
          </a:xfrm>
          <a:prstGeom prst="roundRect">
            <a:avLst>
              <a:gd fmla="val 7185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atient_payment.png" id="496" name="Google Shape;496;p3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451726" y="4314825"/>
            <a:ext cx="3288547" cy="1590675"/>
          </a:xfrm>
          <a:prstGeom prst="roundRect">
            <a:avLst>
              <a:gd fmla="val 7185" name="adj"/>
            </a:avLst>
          </a:prstGeom>
          <a:noFill/>
          <a:ln>
            <a:noFill/>
          </a:ln>
        </p:spPr>
      </p:pic>
      <p:sp>
        <p:nvSpPr>
          <p:cNvPr id="497" name="Google Shape;497;p30"/>
          <p:cNvSpPr txBox="1"/>
          <p:nvPr/>
        </p:nvSpPr>
        <p:spPr>
          <a:xfrm>
            <a:off x="4375150" y="5962650"/>
            <a:ext cx="34417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My Payments</a:t>
            </a:r>
            <a:endParaRPr/>
          </a:p>
        </p:txBody>
      </p:sp>
      <p:sp>
        <p:nvSpPr>
          <p:cNvPr id="498" name="Google Shape;498;p30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18 / 29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31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DASHBOARD, PROFILE &amp; SCHEDULE MANAGEMENT</a:t>
            </a:r>
            <a:endParaRPr/>
          </a:p>
        </p:txBody>
      </p:sp>
      <p:sp>
        <p:nvSpPr>
          <p:cNvPr id="504" name="Google Shape;504;p31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31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UI Showcase — Doctor Module</a:t>
            </a:r>
            <a:endParaRPr/>
          </a:p>
        </p:txBody>
      </p:sp>
      <p:sp>
        <p:nvSpPr>
          <p:cNvPr id="506" name="Google Shape;506;p31"/>
          <p:cNvSpPr/>
          <p:nvPr/>
        </p:nvSpPr>
        <p:spPr>
          <a:xfrm>
            <a:off x="685800" y="2247900"/>
            <a:ext cx="5314950" cy="1590675"/>
          </a:xfrm>
          <a:prstGeom prst="roundRect">
            <a:avLst>
              <a:gd fmla="val 7185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octor_dashboard_1.png" id="507" name="Google Shape;507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99001" y="2247900"/>
            <a:ext cx="3288547" cy="1590675"/>
          </a:xfrm>
          <a:prstGeom prst="roundRect">
            <a:avLst>
              <a:gd fmla="val 7185" name="adj"/>
            </a:avLst>
          </a:prstGeom>
          <a:noFill/>
          <a:ln>
            <a:noFill/>
          </a:ln>
        </p:spPr>
      </p:pic>
      <p:sp>
        <p:nvSpPr>
          <p:cNvPr id="508" name="Google Shape;508;p31"/>
          <p:cNvSpPr txBox="1"/>
          <p:nvPr/>
        </p:nvSpPr>
        <p:spPr>
          <a:xfrm>
            <a:off x="704850" y="3895725"/>
            <a:ext cx="52768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Dashboard — Requests</a:t>
            </a:r>
            <a:endParaRPr/>
          </a:p>
        </p:txBody>
      </p:sp>
      <p:sp>
        <p:nvSpPr>
          <p:cNvPr id="509" name="Google Shape;509;p31"/>
          <p:cNvSpPr/>
          <p:nvPr/>
        </p:nvSpPr>
        <p:spPr>
          <a:xfrm>
            <a:off x="6191250" y="2247900"/>
            <a:ext cx="5314950" cy="1590675"/>
          </a:xfrm>
          <a:prstGeom prst="roundRect">
            <a:avLst>
              <a:gd fmla="val 7185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octor_dashboard_2.png" id="510" name="Google Shape;510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32846" y="2247900"/>
            <a:ext cx="3631756" cy="1590675"/>
          </a:xfrm>
          <a:prstGeom prst="roundRect">
            <a:avLst>
              <a:gd fmla="val 7185" name="adj"/>
            </a:avLst>
          </a:prstGeom>
          <a:noFill/>
          <a:ln>
            <a:noFill/>
          </a:ln>
        </p:spPr>
      </p:pic>
      <p:sp>
        <p:nvSpPr>
          <p:cNvPr id="511" name="Google Shape;511;p31"/>
          <p:cNvSpPr txBox="1"/>
          <p:nvPr/>
        </p:nvSpPr>
        <p:spPr>
          <a:xfrm>
            <a:off x="6210300" y="3895725"/>
            <a:ext cx="52768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Schedule &amp; Reviews</a:t>
            </a:r>
            <a:endParaRPr/>
          </a:p>
        </p:txBody>
      </p:sp>
      <p:sp>
        <p:nvSpPr>
          <p:cNvPr id="512" name="Google Shape;512;p31"/>
          <p:cNvSpPr/>
          <p:nvPr/>
        </p:nvSpPr>
        <p:spPr>
          <a:xfrm>
            <a:off x="685800" y="4314825"/>
            <a:ext cx="5314950" cy="1590675"/>
          </a:xfrm>
          <a:prstGeom prst="roundRect">
            <a:avLst>
              <a:gd fmla="val 7185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octor_profile.png" id="513" name="Google Shape;513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685815" y="4314825"/>
            <a:ext cx="3314918" cy="1590675"/>
          </a:xfrm>
          <a:prstGeom prst="roundRect">
            <a:avLst>
              <a:gd fmla="val 7185" name="adj"/>
            </a:avLst>
          </a:prstGeom>
          <a:noFill/>
          <a:ln>
            <a:noFill/>
          </a:ln>
        </p:spPr>
      </p:pic>
      <p:sp>
        <p:nvSpPr>
          <p:cNvPr id="514" name="Google Shape;514;p31"/>
          <p:cNvSpPr txBox="1"/>
          <p:nvPr/>
        </p:nvSpPr>
        <p:spPr>
          <a:xfrm>
            <a:off x="704850" y="5962650"/>
            <a:ext cx="52768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Professional Profile</a:t>
            </a:r>
            <a:endParaRPr/>
          </a:p>
        </p:txBody>
      </p:sp>
      <p:sp>
        <p:nvSpPr>
          <p:cNvPr id="515" name="Google Shape;515;p31"/>
          <p:cNvSpPr/>
          <p:nvPr/>
        </p:nvSpPr>
        <p:spPr>
          <a:xfrm>
            <a:off x="6191250" y="4314825"/>
            <a:ext cx="5314950" cy="1590675"/>
          </a:xfrm>
          <a:prstGeom prst="roundRect">
            <a:avLst>
              <a:gd fmla="val 7185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octor_schedule.png" id="516" name="Google Shape;516;p3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207155" y="4314825"/>
            <a:ext cx="3283139" cy="1590675"/>
          </a:xfrm>
          <a:prstGeom prst="roundRect">
            <a:avLst>
              <a:gd fmla="val 7185" name="adj"/>
            </a:avLst>
          </a:prstGeom>
          <a:noFill/>
          <a:ln>
            <a:noFill/>
          </a:ln>
        </p:spPr>
      </p:pic>
      <p:sp>
        <p:nvSpPr>
          <p:cNvPr id="517" name="Google Shape;517;p31"/>
          <p:cNvSpPr txBox="1"/>
          <p:nvPr/>
        </p:nvSpPr>
        <p:spPr>
          <a:xfrm>
            <a:off x="6210300" y="5962650"/>
            <a:ext cx="52768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Weekly Schedule Editor</a:t>
            </a:r>
            <a:endParaRPr/>
          </a:p>
        </p:txBody>
      </p:sp>
      <p:sp>
        <p:nvSpPr>
          <p:cNvPr id="518" name="Google Shape;518;p31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19 / 29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32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COMPLETE PLATFORM OVERSIGHT &amp; REVENUE</a:t>
            </a:r>
            <a:endParaRPr/>
          </a:p>
        </p:txBody>
      </p:sp>
      <p:sp>
        <p:nvSpPr>
          <p:cNvPr id="524" name="Google Shape;524;p32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32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UI Showcase — Admin Panel</a:t>
            </a:r>
            <a:endParaRPr/>
          </a:p>
        </p:txBody>
      </p:sp>
      <p:sp>
        <p:nvSpPr>
          <p:cNvPr id="526" name="Google Shape;526;p32"/>
          <p:cNvSpPr/>
          <p:nvPr/>
        </p:nvSpPr>
        <p:spPr>
          <a:xfrm>
            <a:off x="685800" y="2247900"/>
            <a:ext cx="3479800" cy="1590675"/>
          </a:xfrm>
          <a:prstGeom prst="roundRect">
            <a:avLst>
              <a:gd fmla="val 7185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dmin_dashboard_1.png" id="527" name="Google Shape;527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2347" y="2247900"/>
            <a:ext cx="3286704" cy="1590675"/>
          </a:xfrm>
          <a:prstGeom prst="roundRect">
            <a:avLst>
              <a:gd fmla="val 7185" name="adj"/>
            </a:avLst>
          </a:prstGeom>
          <a:noFill/>
          <a:ln>
            <a:noFill/>
          </a:ln>
        </p:spPr>
      </p:pic>
      <p:sp>
        <p:nvSpPr>
          <p:cNvPr id="528" name="Google Shape;528;p32"/>
          <p:cNvSpPr txBox="1"/>
          <p:nvPr/>
        </p:nvSpPr>
        <p:spPr>
          <a:xfrm>
            <a:off x="704850" y="3895725"/>
            <a:ext cx="34417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Admin Overview</a:t>
            </a:r>
            <a:endParaRPr/>
          </a:p>
        </p:txBody>
      </p:sp>
      <p:sp>
        <p:nvSpPr>
          <p:cNvPr id="529" name="Google Shape;529;p32"/>
          <p:cNvSpPr/>
          <p:nvPr/>
        </p:nvSpPr>
        <p:spPr>
          <a:xfrm>
            <a:off x="4356100" y="2247900"/>
            <a:ext cx="3479800" cy="1590675"/>
          </a:xfrm>
          <a:prstGeom prst="roundRect">
            <a:avLst>
              <a:gd fmla="val 7185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dmin_dashboard_2.png" id="530" name="Google Shape;530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56100" y="2264164"/>
            <a:ext cx="3479800" cy="1558146"/>
          </a:xfrm>
          <a:prstGeom prst="roundRect">
            <a:avLst>
              <a:gd fmla="val 7335" name="adj"/>
            </a:avLst>
          </a:prstGeom>
          <a:noFill/>
          <a:ln>
            <a:noFill/>
          </a:ln>
        </p:spPr>
      </p:pic>
      <p:sp>
        <p:nvSpPr>
          <p:cNvPr id="531" name="Google Shape;531;p32"/>
          <p:cNvSpPr txBox="1"/>
          <p:nvPr/>
        </p:nvSpPr>
        <p:spPr>
          <a:xfrm>
            <a:off x="4375150" y="3895725"/>
            <a:ext cx="34417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Revenue Summary</a:t>
            </a:r>
            <a:endParaRPr/>
          </a:p>
        </p:txBody>
      </p:sp>
      <p:sp>
        <p:nvSpPr>
          <p:cNvPr id="532" name="Google Shape;532;p32"/>
          <p:cNvSpPr/>
          <p:nvPr/>
        </p:nvSpPr>
        <p:spPr>
          <a:xfrm>
            <a:off x="8026399" y="2247900"/>
            <a:ext cx="3479800" cy="1590675"/>
          </a:xfrm>
          <a:prstGeom prst="roundRect">
            <a:avLst>
              <a:gd fmla="val 7185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dmin_manage_doctors.png" id="533" name="Google Shape;533;p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14978" y="2247900"/>
            <a:ext cx="3302643" cy="1590675"/>
          </a:xfrm>
          <a:prstGeom prst="roundRect">
            <a:avLst>
              <a:gd fmla="val 7185" name="adj"/>
            </a:avLst>
          </a:prstGeom>
          <a:noFill/>
          <a:ln>
            <a:noFill/>
          </a:ln>
        </p:spPr>
      </p:pic>
      <p:sp>
        <p:nvSpPr>
          <p:cNvPr id="534" name="Google Shape;534;p32"/>
          <p:cNvSpPr txBox="1"/>
          <p:nvPr/>
        </p:nvSpPr>
        <p:spPr>
          <a:xfrm>
            <a:off x="8045450" y="3895725"/>
            <a:ext cx="34417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Manage Doctors</a:t>
            </a:r>
            <a:endParaRPr/>
          </a:p>
        </p:txBody>
      </p:sp>
      <p:sp>
        <p:nvSpPr>
          <p:cNvPr id="535" name="Google Shape;535;p32"/>
          <p:cNvSpPr/>
          <p:nvPr/>
        </p:nvSpPr>
        <p:spPr>
          <a:xfrm>
            <a:off x="685800" y="4314825"/>
            <a:ext cx="3479800" cy="1590675"/>
          </a:xfrm>
          <a:prstGeom prst="roundRect">
            <a:avLst>
              <a:gd fmla="val 7185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dmin_manage_users.png" id="536" name="Google Shape;536;p3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84992" y="4314825"/>
            <a:ext cx="3281414" cy="1590675"/>
          </a:xfrm>
          <a:prstGeom prst="roundRect">
            <a:avLst>
              <a:gd fmla="val 7185" name="adj"/>
            </a:avLst>
          </a:prstGeom>
          <a:noFill/>
          <a:ln>
            <a:noFill/>
          </a:ln>
        </p:spPr>
      </p:pic>
      <p:sp>
        <p:nvSpPr>
          <p:cNvPr id="537" name="Google Shape;537;p32"/>
          <p:cNvSpPr txBox="1"/>
          <p:nvPr/>
        </p:nvSpPr>
        <p:spPr>
          <a:xfrm>
            <a:off x="704850" y="5962650"/>
            <a:ext cx="34417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Manage Users</a:t>
            </a:r>
            <a:endParaRPr/>
          </a:p>
        </p:txBody>
      </p:sp>
      <p:sp>
        <p:nvSpPr>
          <p:cNvPr id="538" name="Google Shape;538;p32"/>
          <p:cNvSpPr/>
          <p:nvPr/>
        </p:nvSpPr>
        <p:spPr>
          <a:xfrm>
            <a:off x="4356100" y="4314825"/>
            <a:ext cx="3479800" cy="1590675"/>
          </a:xfrm>
          <a:prstGeom prst="roundRect">
            <a:avLst>
              <a:gd fmla="val 7185" name="adj"/>
            </a:avLst>
          </a:prstGeom>
          <a:solidFill>
            <a:srgbClr val="141C2E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dmin_manage_appointments.png" id="539" name="Google Shape;539;p3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447403" y="4314825"/>
            <a:ext cx="3297192" cy="1590675"/>
          </a:xfrm>
          <a:prstGeom prst="roundRect">
            <a:avLst>
              <a:gd fmla="val 7185" name="adj"/>
            </a:avLst>
          </a:prstGeom>
          <a:noFill/>
          <a:ln>
            <a:noFill/>
          </a:ln>
        </p:spPr>
      </p:pic>
      <p:sp>
        <p:nvSpPr>
          <p:cNvPr id="540" name="Google Shape;540;p32"/>
          <p:cNvSpPr txBox="1"/>
          <p:nvPr/>
        </p:nvSpPr>
        <p:spPr>
          <a:xfrm>
            <a:off x="4375150" y="5962650"/>
            <a:ext cx="34417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All Appointments</a:t>
            </a:r>
            <a:endParaRPr/>
          </a:p>
        </p:txBody>
      </p:sp>
      <p:sp>
        <p:nvSpPr>
          <p:cNvPr id="541" name="Google Shape;541;p32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20 / 29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33"/>
          <p:cNvSpPr txBox="1"/>
          <p:nvPr/>
        </p:nvSpPr>
        <p:spPr>
          <a:xfrm>
            <a:off x="685800" y="685800"/>
            <a:ext cx="95250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A COMPLETE USER JOURNEY — PART 1</a:t>
            </a:r>
            <a:endParaRPr/>
          </a:p>
        </p:txBody>
      </p:sp>
      <p:sp>
        <p:nvSpPr>
          <p:cNvPr id="547" name="Google Shape;547;p33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33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Demo Flow — Getting Started</a:t>
            </a:r>
            <a:endParaRPr/>
          </a:p>
        </p:txBody>
      </p:sp>
      <p:sp>
        <p:nvSpPr>
          <p:cNvPr id="549" name="Google Shape;549;p33"/>
          <p:cNvSpPr/>
          <p:nvPr/>
        </p:nvSpPr>
        <p:spPr>
          <a:xfrm>
            <a:off x="685800" y="3238500"/>
            <a:ext cx="1809750" cy="666750"/>
          </a:xfrm>
          <a:prstGeom prst="roundRect">
            <a:avLst>
              <a:gd fmla="val 17142" name="adj"/>
            </a:avLst>
          </a:prstGeom>
          <a:solidFill>
            <a:srgbClr val="141C2E"/>
          </a:solidFill>
          <a:ln cap="flat" cmpd="sng" w="1427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33"/>
          <p:cNvSpPr txBox="1"/>
          <p:nvPr/>
        </p:nvSpPr>
        <p:spPr>
          <a:xfrm>
            <a:off x="762000" y="3333750"/>
            <a:ext cx="1657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Landing</a:t>
            </a:r>
            <a:endParaRPr/>
          </a:p>
        </p:txBody>
      </p:sp>
      <p:sp>
        <p:nvSpPr>
          <p:cNvPr id="551" name="Google Shape;551;p33"/>
          <p:cNvSpPr txBox="1"/>
          <p:nvPr/>
        </p:nvSpPr>
        <p:spPr>
          <a:xfrm>
            <a:off x="762000" y="3695700"/>
            <a:ext cx="16573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Discover MediCare Pro</a:t>
            </a:r>
            <a:endParaRPr/>
          </a:p>
        </p:txBody>
      </p:sp>
      <p:cxnSp>
        <p:nvCxnSpPr>
          <p:cNvPr id="552" name="Google Shape;552;p33"/>
          <p:cNvCxnSpPr/>
          <p:nvPr/>
        </p:nvCxnSpPr>
        <p:spPr>
          <a:xfrm>
            <a:off x="2495550" y="3571875"/>
            <a:ext cx="442912" cy="0"/>
          </a:xfrm>
          <a:prstGeom prst="straightConnector1">
            <a:avLst/>
          </a:prstGeom>
          <a:noFill/>
          <a:ln cap="flat" cmpd="sng" w="19050">
            <a:solidFill>
              <a:srgbClr val="2DD4B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53" name="Google Shape;553;p33"/>
          <p:cNvSpPr/>
          <p:nvPr/>
        </p:nvSpPr>
        <p:spPr>
          <a:xfrm>
            <a:off x="2938462" y="3238500"/>
            <a:ext cx="1809750" cy="666750"/>
          </a:xfrm>
          <a:prstGeom prst="roundRect">
            <a:avLst>
              <a:gd fmla="val 17142" name="adj"/>
            </a:avLst>
          </a:prstGeom>
          <a:solidFill>
            <a:srgbClr val="141C2E"/>
          </a:solidFill>
          <a:ln cap="flat" cmpd="sng" w="1427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33"/>
          <p:cNvSpPr txBox="1"/>
          <p:nvPr/>
        </p:nvSpPr>
        <p:spPr>
          <a:xfrm>
            <a:off x="3014662" y="3333750"/>
            <a:ext cx="1657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Sign Up</a:t>
            </a:r>
            <a:endParaRPr/>
          </a:p>
        </p:txBody>
      </p:sp>
      <p:sp>
        <p:nvSpPr>
          <p:cNvPr id="555" name="Google Shape;555;p33"/>
          <p:cNvSpPr txBox="1"/>
          <p:nvPr/>
        </p:nvSpPr>
        <p:spPr>
          <a:xfrm>
            <a:off x="3014662" y="3695700"/>
            <a:ext cx="16573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Patient or Doctor</a:t>
            </a:r>
            <a:endParaRPr/>
          </a:p>
        </p:txBody>
      </p:sp>
      <p:cxnSp>
        <p:nvCxnSpPr>
          <p:cNvPr id="556" name="Google Shape;556;p33"/>
          <p:cNvCxnSpPr/>
          <p:nvPr/>
        </p:nvCxnSpPr>
        <p:spPr>
          <a:xfrm>
            <a:off x="4748212" y="3571875"/>
            <a:ext cx="442913" cy="0"/>
          </a:xfrm>
          <a:prstGeom prst="straightConnector1">
            <a:avLst/>
          </a:prstGeom>
          <a:noFill/>
          <a:ln cap="flat" cmpd="sng" w="19050">
            <a:solidFill>
              <a:srgbClr val="2DD4B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57" name="Google Shape;557;p33"/>
          <p:cNvSpPr/>
          <p:nvPr/>
        </p:nvSpPr>
        <p:spPr>
          <a:xfrm>
            <a:off x="5191125" y="3238500"/>
            <a:ext cx="1809750" cy="666750"/>
          </a:xfrm>
          <a:prstGeom prst="roundRect">
            <a:avLst>
              <a:gd fmla="val 17142" name="adj"/>
            </a:avLst>
          </a:prstGeom>
          <a:solidFill>
            <a:srgbClr val="141C2E"/>
          </a:solidFill>
          <a:ln cap="flat" cmpd="sng" w="1427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33"/>
          <p:cNvSpPr txBox="1"/>
          <p:nvPr/>
        </p:nvSpPr>
        <p:spPr>
          <a:xfrm>
            <a:off x="5267325" y="3333750"/>
            <a:ext cx="1657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Login</a:t>
            </a:r>
            <a:endParaRPr/>
          </a:p>
        </p:txBody>
      </p:sp>
      <p:sp>
        <p:nvSpPr>
          <p:cNvPr id="559" name="Google Shape;559;p33"/>
          <p:cNvSpPr txBox="1"/>
          <p:nvPr/>
        </p:nvSpPr>
        <p:spPr>
          <a:xfrm>
            <a:off x="5267325" y="3695700"/>
            <a:ext cx="16573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Secure JWT session</a:t>
            </a:r>
            <a:endParaRPr/>
          </a:p>
        </p:txBody>
      </p:sp>
      <p:cxnSp>
        <p:nvCxnSpPr>
          <p:cNvPr id="560" name="Google Shape;560;p33"/>
          <p:cNvCxnSpPr/>
          <p:nvPr/>
        </p:nvCxnSpPr>
        <p:spPr>
          <a:xfrm>
            <a:off x="7000875" y="3571875"/>
            <a:ext cx="442912" cy="0"/>
          </a:xfrm>
          <a:prstGeom prst="straightConnector1">
            <a:avLst/>
          </a:prstGeom>
          <a:noFill/>
          <a:ln cap="flat" cmpd="sng" w="19050">
            <a:solidFill>
              <a:srgbClr val="2DD4B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61" name="Google Shape;561;p33"/>
          <p:cNvSpPr/>
          <p:nvPr/>
        </p:nvSpPr>
        <p:spPr>
          <a:xfrm>
            <a:off x="7443787" y="3238500"/>
            <a:ext cx="1809750" cy="666750"/>
          </a:xfrm>
          <a:prstGeom prst="roundRect">
            <a:avLst>
              <a:gd fmla="val 17142" name="adj"/>
            </a:avLst>
          </a:prstGeom>
          <a:solidFill>
            <a:srgbClr val="141C2E"/>
          </a:solidFill>
          <a:ln cap="flat" cmpd="sng" w="1427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33"/>
          <p:cNvSpPr txBox="1"/>
          <p:nvPr/>
        </p:nvSpPr>
        <p:spPr>
          <a:xfrm>
            <a:off x="7519987" y="3333750"/>
            <a:ext cx="1657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Find Doctor</a:t>
            </a:r>
            <a:endParaRPr/>
          </a:p>
        </p:txBody>
      </p:sp>
      <p:sp>
        <p:nvSpPr>
          <p:cNvPr id="563" name="Google Shape;563;p33"/>
          <p:cNvSpPr txBox="1"/>
          <p:nvPr/>
        </p:nvSpPr>
        <p:spPr>
          <a:xfrm>
            <a:off x="7519987" y="3695700"/>
            <a:ext cx="16573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Search specialists</a:t>
            </a:r>
            <a:endParaRPr/>
          </a:p>
        </p:txBody>
      </p:sp>
      <p:cxnSp>
        <p:nvCxnSpPr>
          <p:cNvPr id="564" name="Google Shape;564;p33"/>
          <p:cNvCxnSpPr/>
          <p:nvPr/>
        </p:nvCxnSpPr>
        <p:spPr>
          <a:xfrm>
            <a:off x="9253537" y="3571875"/>
            <a:ext cx="442913" cy="0"/>
          </a:xfrm>
          <a:prstGeom prst="straightConnector1">
            <a:avLst/>
          </a:prstGeom>
          <a:noFill/>
          <a:ln cap="flat" cmpd="sng" w="19050">
            <a:solidFill>
              <a:srgbClr val="2DD4B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65" name="Google Shape;565;p33"/>
          <p:cNvSpPr/>
          <p:nvPr/>
        </p:nvSpPr>
        <p:spPr>
          <a:xfrm>
            <a:off x="9696450" y="3238500"/>
            <a:ext cx="1809750" cy="666750"/>
          </a:xfrm>
          <a:prstGeom prst="roundRect">
            <a:avLst>
              <a:gd fmla="val 17142" name="adj"/>
            </a:avLst>
          </a:prstGeom>
          <a:solidFill>
            <a:srgbClr val="141C2E"/>
          </a:solidFill>
          <a:ln cap="flat" cmpd="sng" w="1427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33"/>
          <p:cNvSpPr txBox="1"/>
          <p:nvPr/>
        </p:nvSpPr>
        <p:spPr>
          <a:xfrm>
            <a:off x="9772650" y="3333750"/>
            <a:ext cx="1657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Book Visit</a:t>
            </a:r>
            <a:endParaRPr/>
          </a:p>
        </p:txBody>
      </p:sp>
      <p:sp>
        <p:nvSpPr>
          <p:cNvPr id="567" name="Google Shape;567;p33"/>
          <p:cNvSpPr txBox="1"/>
          <p:nvPr/>
        </p:nvSpPr>
        <p:spPr>
          <a:xfrm>
            <a:off x="9772650" y="3695700"/>
            <a:ext cx="16573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Pick date &amp; slot</a:t>
            </a:r>
            <a:endParaRPr/>
          </a:p>
        </p:txBody>
      </p:sp>
      <p:sp>
        <p:nvSpPr>
          <p:cNvPr id="568" name="Google Shape;568;p33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21 / 29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572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34"/>
          <p:cNvSpPr txBox="1"/>
          <p:nvPr/>
        </p:nvSpPr>
        <p:spPr>
          <a:xfrm>
            <a:off x="685800" y="685800"/>
            <a:ext cx="95250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A COMPLETE USER JOURNEY — PART 2</a:t>
            </a:r>
            <a:endParaRPr/>
          </a:p>
        </p:txBody>
      </p:sp>
      <p:sp>
        <p:nvSpPr>
          <p:cNvPr id="574" name="Google Shape;574;p34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34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Demo Flow — Booking to Review</a:t>
            </a:r>
            <a:endParaRPr/>
          </a:p>
        </p:txBody>
      </p:sp>
      <p:sp>
        <p:nvSpPr>
          <p:cNvPr id="576" name="Google Shape;576;p34"/>
          <p:cNvSpPr/>
          <p:nvPr/>
        </p:nvSpPr>
        <p:spPr>
          <a:xfrm>
            <a:off x="685800" y="3238500"/>
            <a:ext cx="2286000" cy="666750"/>
          </a:xfrm>
          <a:prstGeom prst="roundRect">
            <a:avLst>
              <a:gd fmla="val 17142" name="adj"/>
            </a:avLst>
          </a:prstGeom>
          <a:solidFill>
            <a:srgbClr val="141C2E"/>
          </a:solidFill>
          <a:ln cap="flat" cmpd="sng" w="1427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34"/>
          <p:cNvSpPr txBox="1"/>
          <p:nvPr/>
        </p:nvSpPr>
        <p:spPr>
          <a:xfrm>
            <a:off x="762000" y="3333750"/>
            <a:ext cx="21336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Stripe Pay</a:t>
            </a:r>
            <a:endParaRPr/>
          </a:p>
        </p:txBody>
      </p:sp>
      <p:sp>
        <p:nvSpPr>
          <p:cNvPr id="578" name="Google Shape;578;p34"/>
          <p:cNvSpPr txBox="1"/>
          <p:nvPr/>
        </p:nvSpPr>
        <p:spPr>
          <a:xfrm>
            <a:off x="762000" y="3695700"/>
            <a:ext cx="21336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Secure checkout</a:t>
            </a:r>
            <a:endParaRPr/>
          </a:p>
        </p:txBody>
      </p:sp>
      <p:cxnSp>
        <p:nvCxnSpPr>
          <p:cNvPr id="579" name="Google Shape;579;p34"/>
          <p:cNvCxnSpPr/>
          <p:nvPr/>
        </p:nvCxnSpPr>
        <p:spPr>
          <a:xfrm>
            <a:off x="2971800" y="3571875"/>
            <a:ext cx="558800" cy="0"/>
          </a:xfrm>
          <a:prstGeom prst="straightConnector1">
            <a:avLst/>
          </a:prstGeom>
          <a:noFill/>
          <a:ln cap="flat" cmpd="sng" w="19050">
            <a:solidFill>
              <a:srgbClr val="2DD4B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80" name="Google Shape;580;p34"/>
          <p:cNvSpPr/>
          <p:nvPr/>
        </p:nvSpPr>
        <p:spPr>
          <a:xfrm>
            <a:off x="3530600" y="3238500"/>
            <a:ext cx="2286000" cy="666750"/>
          </a:xfrm>
          <a:prstGeom prst="roundRect">
            <a:avLst>
              <a:gd fmla="val 17142" name="adj"/>
            </a:avLst>
          </a:prstGeom>
          <a:solidFill>
            <a:srgbClr val="141C2E"/>
          </a:solidFill>
          <a:ln cap="flat" cmpd="sng" w="1427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34"/>
          <p:cNvSpPr txBox="1"/>
          <p:nvPr/>
        </p:nvSpPr>
        <p:spPr>
          <a:xfrm>
            <a:off x="3606800" y="3333750"/>
            <a:ext cx="21336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Confirmed</a:t>
            </a:r>
            <a:endParaRPr/>
          </a:p>
        </p:txBody>
      </p:sp>
      <p:sp>
        <p:nvSpPr>
          <p:cNvPr id="582" name="Google Shape;582;p34"/>
          <p:cNvSpPr txBox="1"/>
          <p:nvPr/>
        </p:nvSpPr>
        <p:spPr>
          <a:xfrm>
            <a:off x="3606800" y="3695700"/>
            <a:ext cx="21336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Booking verified</a:t>
            </a:r>
            <a:endParaRPr/>
          </a:p>
        </p:txBody>
      </p:sp>
      <p:cxnSp>
        <p:nvCxnSpPr>
          <p:cNvPr id="583" name="Google Shape;583;p34"/>
          <p:cNvCxnSpPr/>
          <p:nvPr/>
        </p:nvCxnSpPr>
        <p:spPr>
          <a:xfrm>
            <a:off x="5816600" y="3571875"/>
            <a:ext cx="558800" cy="0"/>
          </a:xfrm>
          <a:prstGeom prst="straightConnector1">
            <a:avLst/>
          </a:prstGeom>
          <a:noFill/>
          <a:ln cap="flat" cmpd="sng" w="19050">
            <a:solidFill>
              <a:srgbClr val="2DD4B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84" name="Google Shape;584;p34"/>
          <p:cNvSpPr/>
          <p:nvPr/>
        </p:nvSpPr>
        <p:spPr>
          <a:xfrm>
            <a:off x="6375400" y="3238500"/>
            <a:ext cx="2286000" cy="666750"/>
          </a:xfrm>
          <a:prstGeom prst="roundRect">
            <a:avLst>
              <a:gd fmla="val 17142" name="adj"/>
            </a:avLst>
          </a:prstGeom>
          <a:solidFill>
            <a:srgbClr val="141C2E"/>
          </a:solidFill>
          <a:ln cap="flat" cmpd="sng" w="1427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34"/>
          <p:cNvSpPr txBox="1"/>
          <p:nvPr/>
        </p:nvSpPr>
        <p:spPr>
          <a:xfrm>
            <a:off x="6451600" y="3333750"/>
            <a:ext cx="21336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Doctor View</a:t>
            </a:r>
            <a:endParaRPr/>
          </a:p>
        </p:txBody>
      </p:sp>
      <p:sp>
        <p:nvSpPr>
          <p:cNvPr id="586" name="Google Shape;586;p34"/>
          <p:cNvSpPr txBox="1"/>
          <p:nvPr/>
        </p:nvSpPr>
        <p:spPr>
          <a:xfrm>
            <a:off x="6451600" y="3695700"/>
            <a:ext cx="21336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Accepts request</a:t>
            </a:r>
            <a:endParaRPr/>
          </a:p>
        </p:txBody>
      </p:sp>
      <p:cxnSp>
        <p:nvCxnSpPr>
          <p:cNvPr id="587" name="Google Shape;587;p34"/>
          <p:cNvCxnSpPr/>
          <p:nvPr/>
        </p:nvCxnSpPr>
        <p:spPr>
          <a:xfrm>
            <a:off x="8661400" y="3571875"/>
            <a:ext cx="558800" cy="0"/>
          </a:xfrm>
          <a:prstGeom prst="straightConnector1">
            <a:avLst/>
          </a:prstGeom>
          <a:noFill/>
          <a:ln cap="flat" cmpd="sng" w="19050">
            <a:solidFill>
              <a:srgbClr val="2DD4B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88" name="Google Shape;588;p34"/>
          <p:cNvSpPr/>
          <p:nvPr/>
        </p:nvSpPr>
        <p:spPr>
          <a:xfrm>
            <a:off x="9220200" y="3238500"/>
            <a:ext cx="2286000" cy="666750"/>
          </a:xfrm>
          <a:prstGeom prst="roundRect">
            <a:avLst>
              <a:gd fmla="val 17142" name="adj"/>
            </a:avLst>
          </a:prstGeom>
          <a:solidFill>
            <a:srgbClr val="141C2E"/>
          </a:solidFill>
          <a:ln cap="flat" cmpd="sng" w="1427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34"/>
          <p:cNvSpPr txBox="1"/>
          <p:nvPr/>
        </p:nvSpPr>
        <p:spPr>
          <a:xfrm>
            <a:off x="9296400" y="3333750"/>
            <a:ext cx="21336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Complete</a:t>
            </a:r>
            <a:endParaRPr/>
          </a:p>
        </p:txBody>
      </p:sp>
      <p:sp>
        <p:nvSpPr>
          <p:cNvPr id="590" name="Google Shape;590;p34"/>
          <p:cNvSpPr txBox="1"/>
          <p:nvPr/>
        </p:nvSpPr>
        <p:spPr>
          <a:xfrm>
            <a:off x="9296400" y="3695700"/>
            <a:ext cx="21336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Visit + review</a:t>
            </a:r>
            <a:endParaRPr/>
          </a:p>
        </p:txBody>
      </p:sp>
      <p:sp>
        <p:nvSpPr>
          <p:cNvPr id="591" name="Google Shape;591;p34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22 / 29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p35"/>
          <p:cNvSpPr txBox="1"/>
          <p:nvPr/>
        </p:nvSpPr>
        <p:spPr>
          <a:xfrm>
            <a:off x="685800" y="685800"/>
            <a:ext cx="95250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REAL ENGINEERING PROBLEMS, SOLVED</a:t>
            </a:r>
            <a:endParaRPr/>
          </a:p>
        </p:txBody>
      </p:sp>
      <p:sp>
        <p:nvSpPr>
          <p:cNvPr id="597" name="Google Shape;597;p35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35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Challenges &amp; Solutions</a:t>
            </a:r>
            <a:endParaRPr/>
          </a:p>
        </p:txBody>
      </p:sp>
      <p:sp>
        <p:nvSpPr>
          <p:cNvPr id="599" name="Google Shape;599;p35"/>
          <p:cNvSpPr txBox="1"/>
          <p:nvPr/>
        </p:nvSpPr>
        <p:spPr>
          <a:xfrm>
            <a:off x="685800" y="2171700"/>
            <a:ext cx="45720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CHALLENGE</a:t>
            </a:r>
            <a:endParaRPr/>
          </a:p>
        </p:txBody>
      </p:sp>
      <p:sp>
        <p:nvSpPr>
          <p:cNvPr id="600" name="Google Shape;600;p35"/>
          <p:cNvSpPr txBox="1"/>
          <p:nvPr/>
        </p:nvSpPr>
        <p:spPr>
          <a:xfrm>
            <a:off x="6172200" y="2171700"/>
            <a:ext cx="53340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SOLUTION</a:t>
            </a:r>
            <a:endParaRPr/>
          </a:p>
        </p:txBody>
      </p:sp>
      <p:sp>
        <p:nvSpPr>
          <p:cNvPr id="601" name="Google Shape;601;p35"/>
          <p:cNvSpPr/>
          <p:nvPr/>
        </p:nvSpPr>
        <p:spPr>
          <a:xfrm>
            <a:off x="685800" y="2419350"/>
            <a:ext cx="4572000" cy="876300"/>
          </a:xfrm>
          <a:prstGeom prst="roundRect">
            <a:avLst>
              <a:gd fmla="val 13043" name="adj"/>
            </a:avLst>
          </a:prstGeom>
          <a:solidFill>
            <a:srgbClr val="EEF2F8"/>
          </a:solidFill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35"/>
          <p:cNvSpPr txBox="1"/>
          <p:nvPr/>
        </p:nvSpPr>
        <p:spPr>
          <a:xfrm>
            <a:off x="876300" y="2552700"/>
            <a:ext cx="4190999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Time Slot Collisions</a:t>
            </a:r>
            <a:endParaRPr/>
          </a:p>
        </p:txBody>
      </p:sp>
      <p:sp>
        <p:nvSpPr>
          <p:cNvPr id="603" name="Google Shape;603;p35"/>
          <p:cNvSpPr txBox="1"/>
          <p:nvPr/>
        </p:nvSpPr>
        <p:spPr>
          <a:xfrm>
            <a:off x="876300" y="2838450"/>
            <a:ext cx="4190999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9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Preventing double-bookings across concurrent requests.</a:t>
            </a:r>
            <a:endParaRPr/>
          </a:p>
        </p:txBody>
      </p:sp>
      <p:sp>
        <p:nvSpPr>
          <p:cNvPr id="604" name="Google Shape;604;p35"/>
          <p:cNvSpPr txBox="1"/>
          <p:nvPr/>
        </p:nvSpPr>
        <p:spPr>
          <a:xfrm>
            <a:off x="5372100" y="268605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605" name="Google Shape;605;p35"/>
          <p:cNvSpPr/>
          <p:nvPr/>
        </p:nvSpPr>
        <p:spPr>
          <a:xfrm>
            <a:off x="6172200" y="2419350"/>
            <a:ext cx="5334000" cy="876300"/>
          </a:xfrm>
          <a:prstGeom prst="roundRect">
            <a:avLst>
              <a:gd fmla="val 13043" name="adj"/>
            </a:avLst>
          </a:prstGeom>
          <a:solidFill>
            <a:srgbClr val="E3F7F5"/>
          </a:solidFill>
          <a:ln cap="flat" cmpd="sng" w="9525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35"/>
          <p:cNvSpPr txBox="1"/>
          <p:nvPr/>
        </p:nvSpPr>
        <p:spPr>
          <a:xfrm>
            <a:off x="6362700" y="2705100"/>
            <a:ext cx="4953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✓ DB transactions validate every slot before it is booked.</a:t>
            </a:r>
            <a:endParaRPr/>
          </a:p>
        </p:txBody>
      </p:sp>
      <p:sp>
        <p:nvSpPr>
          <p:cNvPr id="607" name="Google Shape;607;p35"/>
          <p:cNvSpPr/>
          <p:nvPr/>
        </p:nvSpPr>
        <p:spPr>
          <a:xfrm>
            <a:off x="685800" y="3390900"/>
            <a:ext cx="4572000" cy="876300"/>
          </a:xfrm>
          <a:prstGeom prst="roundRect">
            <a:avLst>
              <a:gd fmla="val 13043" name="adj"/>
            </a:avLst>
          </a:prstGeom>
          <a:solidFill>
            <a:srgbClr val="EEF2F8"/>
          </a:solidFill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35"/>
          <p:cNvSpPr txBox="1"/>
          <p:nvPr/>
        </p:nvSpPr>
        <p:spPr>
          <a:xfrm>
            <a:off x="876300" y="3524250"/>
            <a:ext cx="4190999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Payment State Sync</a:t>
            </a:r>
            <a:endParaRPr/>
          </a:p>
        </p:txBody>
      </p:sp>
      <p:sp>
        <p:nvSpPr>
          <p:cNvPr id="609" name="Google Shape;609;p35"/>
          <p:cNvSpPr txBox="1"/>
          <p:nvPr/>
        </p:nvSpPr>
        <p:spPr>
          <a:xfrm>
            <a:off x="876300" y="3810000"/>
            <a:ext cx="4190999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9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Users could drop off mid-payment.</a:t>
            </a:r>
            <a:endParaRPr/>
          </a:p>
        </p:txBody>
      </p:sp>
      <p:sp>
        <p:nvSpPr>
          <p:cNvPr id="610" name="Google Shape;610;p35"/>
          <p:cNvSpPr txBox="1"/>
          <p:nvPr/>
        </p:nvSpPr>
        <p:spPr>
          <a:xfrm>
            <a:off x="5372100" y="365760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611" name="Google Shape;611;p35"/>
          <p:cNvSpPr/>
          <p:nvPr/>
        </p:nvSpPr>
        <p:spPr>
          <a:xfrm>
            <a:off x="6172200" y="3390900"/>
            <a:ext cx="5334000" cy="876300"/>
          </a:xfrm>
          <a:prstGeom prst="roundRect">
            <a:avLst>
              <a:gd fmla="val 13043" name="adj"/>
            </a:avLst>
          </a:prstGeom>
          <a:solidFill>
            <a:srgbClr val="E3F7F5"/>
          </a:solidFill>
          <a:ln cap="flat" cmpd="sng" w="9525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35"/>
          <p:cNvSpPr txBox="1"/>
          <p:nvPr/>
        </p:nvSpPr>
        <p:spPr>
          <a:xfrm>
            <a:off x="6362700" y="3676649"/>
            <a:ext cx="4953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✓ Stripe Session IDs confirm payment before booking is created.</a:t>
            </a:r>
            <a:endParaRPr/>
          </a:p>
        </p:txBody>
      </p:sp>
      <p:sp>
        <p:nvSpPr>
          <p:cNvPr id="613" name="Google Shape;613;p35"/>
          <p:cNvSpPr/>
          <p:nvPr/>
        </p:nvSpPr>
        <p:spPr>
          <a:xfrm>
            <a:off x="685800" y="4362450"/>
            <a:ext cx="4572000" cy="876300"/>
          </a:xfrm>
          <a:prstGeom prst="roundRect">
            <a:avLst>
              <a:gd fmla="val 13043" name="adj"/>
            </a:avLst>
          </a:prstGeom>
          <a:solidFill>
            <a:srgbClr val="EEF2F8"/>
          </a:solidFill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35"/>
          <p:cNvSpPr txBox="1"/>
          <p:nvPr/>
        </p:nvSpPr>
        <p:spPr>
          <a:xfrm>
            <a:off x="876300" y="4495800"/>
            <a:ext cx="4190999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Orphaned Records</a:t>
            </a:r>
            <a:endParaRPr/>
          </a:p>
        </p:txBody>
      </p:sp>
      <p:sp>
        <p:nvSpPr>
          <p:cNvPr id="615" name="Google Shape;615;p35"/>
          <p:cNvSpPr txBox="1"/>
          <p:nvPr/>
        </p:nvSpPr>
        <p:spPr>
          <a:xfrm>
            <a:off x="876300" y="4781550"/>
            <a:ext cx="4190999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9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Deleting a user could break linked data.</a:t>
            </a:r>
            <a:endParaRPr/>
          </a:p>
        </p:txBody>
      </p:sp>
      <p:sp>
        <p:nvSpPr>
          <p:cNvPr id="616" name="Google Shape;616;p35"/>
          <p:cNvSpPr txBox="1"/>
          <p:nvPr/>
        </p:nvSpPr>
        <p:spPr>
          <a:xfrm>
            <a:off x="5372100" y="462915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617" name="Google Shape;617;p35"/>
          <p:cNvSpPr/>
          <p:nvPr/>
        </p:nvSpPr>
        <p:spPr>
          <a:xfrm>
            <a:off x="6172200" y="4362450"/>
            <a:ext cx="5334000" cy="876300"/>
          </a:xfrm>
          <a:prstGeom prst="roundRect">
            <a:avLst>
              <a:gd fmla="val 13043" name="adj"/>
            </a:avLst>
          </a:prstGeom>
          <a:solidFill>
            <a:srgbClr val="E3F7F5"/>
          </a:solidFill>
          <a:ln cap="flat" cmpd="sng" w="9525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35"/>
          <p:cNvSpPr txBox="1"/>
          <p:nvPr/>
        </p:nvSpPr>
        <p:spPr>
          <a:xfrm>
            <a:off x="6362700" y="4648200"/>
            <a:ext cx="4953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✓ Soft deletes protect data integrity across every table.</a:t>
            </a:r>
            <a:endParaRPr/>
          </a:p>
        </p:txBody>
      </p:sp>
      <p:sp>
        <p:nvSpPr>
          <p:cNvPr id="619" name="Google Shape;619;p35"/>
          <p:cNvSpPr/>
          <p:nvPr/>
        </p:nvSpPr>
        <p:spPr>
          <a:xfrm>
            <a:off x="685800" y="5334000"/>
            <a:ext cx="4572000" cy="876300"/>
          </a:xfrm>
          <a:prstGeom prst="roundRect">
            <a:avLst>
              <a:gd fmla="val 13043" name="adj"/>
            </a:avLst>
          </a:prstGeom>
          <a:solidFill>
            <a:srgbClr val="EEF2F8"/>
          </a:solidFill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35"/>
          <p:cNvSpPr txBox="1"/>
          <p:nvPr/>
        </p:nvSpPr>
        <p:spPr>
          <a:xfrm>
            <a:off x="876300" y="5467350"/>
            <a:ext cx="4190999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Complex State Management</a:t>
            </a:r>
            <a:endParaRPr/>
          </a:p>
        </p:txBody>
      </p:sp>
      <p:sp>
        <p:nvSpPr>
          <p:cNvPr id="621" name="Google Shape;621;p35"/>
          <p:cNvSpPr txBox="1"/>
          <p:nvPr/>
        </p:nvSpPr>
        <p:spPr>
          <a:xfrm>
            <a:off x="876300" y="5753100"/>
            <a:ext cx="4190999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9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Three roles needed to share auth state.</a:t>
            </a:r>
            <a:endParaRPr/>
          </a:p>
        </p:txBody>
      </p:sp>
      <p:sp>
        <p:nvSpPr>
          <p:cNvPr id="622" name="Google Shape;622;p35"/>
          <p:cNvSpPr txBox="1"/>
          <p:nvPr/>
        </p:nvSpPr>
        <p:spPr>
          <a:xfrm>
            <a:off x="5372100" y="560070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623" name="Google Shape;623;p35"/>
          <p:cNvSpPr/>
          <p:nvPr/>
        </p:nvSpPr>
        <p:spPr>
          <a:xfrm>
            <a:off x="6172200" y="5334000"/>
            <a:ext cx="5334000" cy="876300"/>
          </a:xfrm>
          <a:prstGeom prst="roundRect">
            <a:avLst>
              <a:gd fmla="val 13043" name="adj"/>
            </a:avLst>
          </a:prstGeom>
          <a:solidFill>
            <a:srgbClr val="E3F7F5"/>
          </a:solidFill>
          <a:ln cap="flat" cmpd="sng" w="9525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35"/>
          <p:cNvSpPr txBox="1"/>
          <p:nvPr/>
        </p:nvSpPr>
        <p:spPr>
          <a:xfrm>
            <a:off x="6362700" y="5619750"/>
            <a:ext cx="4953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✓ Context API &amp; Axios interceptors centralize auth state.</a:t>
            </a:r>
            <a:endParaRPr/>
          </a:p>
        </p:txBody>
      </p:sp>
      <p:sp>
        <p:nvSpPr>
          <p:cNvPr id="625" name="Google Shape;625;p35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23 / 29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36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WHAT SETS MEDICARE PRO APART</a:t>
            </a:r>
            <a:endParaRPr/>
          </a:p>
        </p:txBody>
      </p:sp>
      <p:sp>
        <p:nvSpPr>
          <p:cNvPr id="631" name="Google Shape;631;p36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36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Project Strengths</a:t>
            </a:r>
            <a:endParaRPr/>
          </a:p>
        </p:txBody>
      </p:sp>
      <p:sp>
        <p:nvSpPr>
          <p:cNvPr id="633" name="Google Shape;633;p36"/>
          <p:cNvSpPr txBox="1"/>
          <p:nvPr/>
        </p:nvSpPr>
        <p:spPr>
          <a:xfrm>
            <a:off x="685800" y="215265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634" name="Google Shape;634;p36"/>
          <p:cNvSpPr txBox="1"/>
          <p:nvPr/>
        </p:nvSpPr>
        <p:spPr>
          <a:xfrm>
            <a:off x="1600200" y="2133600"/>
            <a:ext cx="9906000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2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Secure by design — JWT, bcrypt, and RBAC from day one.</a:t>
            </a:r>
            <a:endParaRPr/>
          </a:p>
        </p:txBody>
      </p:sp>
      <p:cxnSp>
        <p:nvCxnSpPr>
          <p:cNvPr id="635" name="Google Shape;635;p36"/>
          <p:cNvCxnSpPr/>
          <p:nvPr/>
        </p:nvCxnSpPr>
        <p:spPr>
          <a:xfrm>
            <a:off x="685800" y="2667000"/>
            <a:ext cx="10820400" cy="0"/>
          </a:xfrm>
          <a:prstGeom prst="straightConnector1">
            <a:avLst/>
          </a:prstGeom>
          <a:noFill/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6" name="Google Shape;636;p36"/>
          <p:cNvSpPr txBox="1"/>
          <p:nvPr/>
        </p:nvSpPr>
        <p:spPr>
          <a:xfrm>
            <a:off x="685800" y="297180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637" name="Google Shape;637;p36"/>
          <p:cNvSpPr txBox="1"/>
          <p:nvPr/>
        </p:nvSpPr>
        <p:spPr>
          <a:xfrm>
            <a:off x="1600200" y="2952750"/>
            <a:ext cx="9906000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2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A true multi-role platform with three dashboards.</a:t>
            </a:r>
            <a:endParaRPr/>
          </a:p>
        </p:txBody>
      </p:sp>
      <p:cxnSp>
        <p:nvCxnSpPr>
          <p:cNvPr id="638" name="Google Shape;638;p36"/>
          <p:cNvCxnSpPr/>
          <p:nvPr/>
        </p:nvCxnSpPr>
        <p:spPr>
          <a:xfrm>
            <a:off x="685800" y="3486150"/>
            <a:ext cx="10820400" cy="0"/>
          </a:xfrm>
          <a:prstGeom prst="straightConnector1">
            <a:avLst/>
          </a:prstGeom>
          <a:noFill/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9" name="Google Shape;639;p36"/>
          <p:cNvSpPr txBox="1"/>
          <p:nvPr/>
        </p:nvSpPr>
        <p:spPr>
          <a:xfrm>
            <a:off x="685800" y="3790949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640" name="Google Shape;640;p36"/>
          <p:cNvSpPr txBox="1"/>
          <p:nvPr/>
        </p:nvSpPr>
        <p:spPr>
          <a:xfrm>
            <a:off x="1600200" y="3771900"/>
            <a:ext cx="9906000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2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Smart scheduling plus a live revenue analytics dashboard.</a:t>
            </a:r>
            <a:endParaRPr/>
          </a:p>
        </p:txBody>
      </p:sp>
      <p:cxnSp>
        <p:nvCxnSpPr>
          <p:cNvPr id="641" name="Google Shape;641;p36"/>
          <p:cNvCxnSpPr/>
          <p:nvPr/>
        </p:nvCxnSpPr>
        <p:spPr>
          <a:xfrm>
            <a:off x="685800" y="4305300"/>
            <a:ext cx="10820400" cy="0"/>
          </a:xfrm>
          <a:prstGeom prst="straightConnector1">
            <a:avLst/>
          </a:prstGeom>
          <a:noFill/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2" name="Google Shape;642;p36"/>
          <p:cNvSpPr txBox="1"/>
          <p:nvPr/>
        </p:nvSpPr>
        <p:spPr>
          <a:xfrm>
            <a:off x="685800" y="461010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  <p:sp>
        <p:nvSpPr>
          <p:cNvPr id="643" name="Google Shape;643;p36"/>
          <p:cNvSpPr txBox="1"/>
          <p:nvPr/>
        </p:nvSpPr>
        <p:spPr>
          <a:xfrm>
            <a:off x="1600200" y="4591050"/>
            <a:ext cx="9906000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25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A modern stack — React, Vite, Node.js, and SQL Server.</a:t>
            </a:r>
            <a:endParaRPr/>
          </a:p>
        </p:txBody>
      </p:sp>
      <p:sp>
        <p:nvSpPr>
          <p:cNvPr id="644" name="Google Shape;644;p36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24 / 29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37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PLANNED FEATURES FOR THE NEXT DEVELOPMENT PHASE</a:t>
            </a:r>
            <a:endParaRPr/>
          </a:p>
        </p:txBody>
      </p:sp>
      <p:sp>
        <p:nvSpPr>
          <p:cNvPr id="650" name="Google Shape;650;p37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" name="Google Shape;651;p37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Future Enhancements</a:t>
            </a:r>
            <a:endParaRPr/>
          </a:p>
        </p:txBody>
      </p:sp>
      <p:sp>
        <p:nvSpPr>
          <p:cNvPr id="652" name="Google Shape;652;p37"/>
          <p:cNvSpPr txBox="1"/>
          <p:nvPr/>
        </p:nvSpPr>
        <p:spPr>
          <a:xfrm>
            <a:off x="685800" y="22479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653" name="Google Shape;653;p37"/>
          <p:cNvSpPr txBox="1"/>
          <p:nvPr/>
        </p:nvSpPr>
        <p:spPr>
          <a:xfrm>
            <a:off x="1276350" y="2228850"/>
            <a:ext cx="3810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Coming Next</a:t>
            </a:r>
            <a:endParaRPr/>
          </a:p>
        </p:txBody>
      </p:sp>
      <p:cxnSp>
        <p:nvCxnSpPr>
          <p:cNvPr id="654" name="Google Shape;654;p37"/>
          <p:cNvCxnSpPr/>
          <p:nvPr/>
        </p:nvCxnSpPr>
        <p:spPr>
          <a:xfrm>
            <a:off x="685800" y="2781300"/>
            <a:ext cx="5086350" cy="0"/>
          </a:xfrm>
          <a:prstGeom prst="straightConnector1">
            <a:avLst/>
          </a:prstGeom>
          <a:noFill/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5" name="Google Shape;655;p37"/>
          <p:cNvSpPr txBox="1"/>
          <p:nvPr/>
        </p:nvSpPr>
        <p:spPr>
          <a:xfrm>
            <a:off x="685800" y="2971800"/>
            <a:ext cx="508635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9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7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Doctor–Patient Chat  — real-time messaging between doctors and patients.</a:t>
            </a:r>
            <a:br>
              <a:rPr b="0" i="0" lang="en-US" sz="157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157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7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Video Consultation — real-time teleconsultation for remote visits.</a:t>
            </a:r>
            <a:br>
              <a:rPr b="0" i="0" lang="en-US" sz="157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157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7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Notifications — email &amp; SMS alerts for appointment reminders.</a:t>
            </a:r>
            <a:endParaRPr/>
          </a:p>
        </p:txBody>
      </p:sp>
      <p:sp>
        <p:nvSpPr>
          <p:cNvPr id="656" name="Google Shape;656;p37"/>
          <p:cNvSpPr txBox="1"/>
          <p:nvPr/>
        </p:nvSpPr>
        <p:spPr>
          <a:xfrm>
            <a:off x="6191250" y="22479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657" name="Google Shape;657;p37"/>
          <p:cNvSpPr txBox="1"/>
          <p:nvPr/>
        </p:nvSpPr>
        <p:spPr>
          <a:xfrm>
            <a:off x="6781800" y="2228850"/>
            <a:ext cx="3810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On the Roadmap</a:t>
            </a:r>
            <a:endParaRPr/>
          </a:p>
        </p:txBody>
      </p:sp>
      <p:cxnSp>
        <p:nvCxnSpPr>
          <p:cNvPr id="658" name="Google Shape;658;p37"/>
          <p:cNvCxnSpPr/>
          <p:nvPr/>
        </p:nvCxnSpPr>
        <p:spPr>
          <a:xfrm>
            <a:off x="6191250" y="2781300"/>
            <a:ext cx="5086350" cy="0"/>
          </a:xfrm>
          <a:prstGeom prst="straightConnector1">
            <a:avLst/>
          </a:prstGeom>
          <a:noFill/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9" name="Google Shape;659;p37"/>
          <p:cNvSpPr txBox="1"/>
          <p:nvPr/>
        </p:nvSpPr>
        <p:spPr>
          <a:xfrm>
            <a:off x="6191250" y="2971800"/>
            <a:ext cx="508635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9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7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AI Doctor Matching — smart doctor suggestions based on symptoms &amp; history.</a:t>
            </a:r>
            <a:br>
              <a:rPr b="0" i="0" lang="en-US" sz="157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157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7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Medical Records — digital health records and prescription management.</a:t>
            </a:r>
            <a:br>
              <a:rPr b="0" i="0" lang="en-US" sz="157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157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7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Mobile Application — native iOS &amp; Android apps for on-the-go access.</a:t>
            </a:r>
            <a:endParaRPr/>
          </a:p>
        </p:txBody>
      </p:sp>
      <p:sp>
        <p:nvSpPr>
          <p:cNvPr id="660" name="Google Shape;660;p37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25 / 29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Update ONLY the &quot;Team Contributions&quot; section.&#10;&#10;⚠️ IMPORTANT:&#10;- Do NOT modify any other slide in the presentation.&#10;- Do NOT change the theme, colors, fonts, layout, animations, spacing, or design of any other slide.&#10;- Work ONLY on the Team Contributions slide(s).&#10;- Keep the existing presentation style completely consistent.&#10;&#10;The project team has expanded from 4 members to 8 members.&#10;&#10;Instead of forcing all 8 members into one crowded slide, split this section into TWO consecutive slides while preserving the exact design language of the current presentation.&#10;&#10;--------------------------------------------------&#10;Slide 1&#10;--------------------------------------------------&#10;&#10;Small Header:&#10;THE PEOPLE BEHIND MEDICARE PRO&#10;&#10;Main Title:&#10;Team Contributions&#10;&#10;Left Side:&#10;&#10;Eight specialists, one integrated healthcare platform.&#10;&#10;Each team member owned a specific system module, working together to deliver a complete end-to-end healthcare solution.&#10;&#10;Right Side:&#10;&#10;AHMED BAKR&#10;Project Lead &amp; System Architecture&#10;&#10;Project planning, system architecture, deployment, documentation, presentation, tech stack, application integration, and overall project coordination.&#10;&#10;AHMED HANY&#10;Backend Core&#10;&#10;Express.js server, database connection, middleware, business logic, error handling, and backend architecture.&#10;&#10;IBRAHIM MOHAMED&#10;Admin Module&#10;&#10;Admin dashboard, analytics, revenue tracking, doctor management, user management, appointments, and reporting.&#10;&#10;AHMED SABRY&#10;Frontend Core&#10;&#10;React architecture, routing, reusable components, UI/UX, theme management, Axios integration, responsive design, and navigation.&#10;&#10;--------------------------------------------------&#10;Slide 2&#10;--------------------------------------------------&#10;&#10;Keep the EXACT SAME design, spacing, typography, colors, and layout as Slide 1.&#10;&#10;Small Header:&#10;THE PEOPLE BEHIND MEDICARE PRO&#10;&#10;Main Title:&#10;Team Contributions&#10;&#10;Left Side:&#10;&#10;Every module was designed to integrate seamlessly with the others, resulting in a scalable, secure, and maintainable healthcare platform.&#10;&#10;Right Side:&#10;&#10;MINA SABIR&#10;Authentication &amp; Security&#10;&#10;Authentication, registration, JWT, protected routes, role-based authorization, and session management.&#10;&#10;BASANT ALI&#10;Patient Module&#10;&#10;Patient dashboard, doctor search, booking journey, profile management, reviews, and patient experience.&#10;&#10;MAHMOUD AMR&#10;Doctor Module&#10;&#10;Doctor dashboard, weekly schedule, availability management, doctor profile, and appointment handling.&#10;&#10;FATIMA MOHAMED&#10;Appointment &amp; Payment&#10;&#10;Appointment workflow, Stripe integration, payment processing, refund workflow, and appointment business rules.&#10;&#10;--------------------------------------------------&#10;Design Requirements&#10;--------------------------------------------------&#10;&#10;- Match the existing visual style exactly.&#10;- Use the same fonts, colors, spacing, separators, and typography already used in the current Team Contributions slide.&#10;- Ensure both slides look like they were designed together.&#10;- Keep everything aligned and balanced.&#10;- Make sure no text is cut off.&#10;- Do NOT resize or modify any other slide in the presentation.&#10;- Do NOT change slide numbering except for inserting the new Team Contributions slide immediately after the existing one." id="665" name="Google Shape;665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47625" y="0"/>
            <a:ext cx="1228725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9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Update ONLY the &quot;Team Contributions&quot; section.&#10;&#10;⚠️ IMPORTANT:&#10;- Do NOT modify any other slide in the presentation.&#10;- Do NOT change the theme, colors, fonts, layout, animations, spacing, or design of any other slide.&#10;- Work ONLY on the Team Contributions slide(s).&#10;- Keep the existing presentation style completely consistent.&#10;&#10;The project team has expanded from 4 members to 8 members.&#10;&#10;Instead of forcing all 8 members into one crowded slide, split this section into TWO consecutive slides while preserving the exact design language of the current presentation.&#10;&#10;--------------------------------------------------&#10;Slide 1&#10;--------------------------------------------------&#10;&#10;Small Header:&#10;THE PEOPLE BEHIND MEDICARE PRO&#10;&#10;Main Title:&#10;Team Contributions&#10;&#10;Left Side:&#10;&#10;Eight specialists, one integrated healthcare platform.&#10;&#10;Each team member owned a specific system module, working together to deliver a complete end-to-end healthcare solution.&#10;&#10;Right Side:&#10;&#10;AHMED BAKR&#10;Project Lead &amp; System Architecture&#10;&#10;Project planning, system architecture, deployment, documentation, presentation, tech stack, application integration, and overall project coordination.&#10;&#10;AHMED HANY&#10;Backend Core&#10;&#10;Express.js server, database connection, middleware, business logic, error handling, and backend architecture.&#10;&#10;IBRAHIM MOHAMED&#10;Admin Module&#10;&#10;Admin dashboard, analytics, revenue tracking, doctor management, user management, appointments, and reporting.&#10;&#10;AHMED SABRY&#10;Frontend Core&#10;&#10;React architecture, routing, reusable components, UI/UX, theme management, Axios integration, responsive design, and navigation.&#10;&#10;--------------------------------------------------&#10;Slide 2&#10;--------------------------------------------------&#10;&#10;Keep the EXACT SAME design, spacing, typography, colors, and layout as Slide 1.&#10;&#10;Small Header:&#10;THE PEOPLE BEHIND MEDICARE PRO&#10;&#10;Main Title:&#10;Team Contributions&#10;&#10;Left Side:&#10;&#10;Every module was designed to integrate seamlessly with the others, resulting in a scalable, secure, and maintainable healthcare platform.&#10;&#10;Right Side:&#10;&#10;MINA SABIR&#10;Authentication &amp; Security&#10;&#10;Authentication, registration, JWT, protected routes, role-based authorization, and session management.&#10;&#10;BASANT ALI&#10;Patient Module&#10;&#10;Patient dashboard, doctor search, booking journey, profile management, reviews, and patient experience.&#10;&#10;MAHMOUD AMR&#10;Doctor Module&#10;&#10;Doctor dashboard, weekly schedule, availability management, doctor profile, and appointment handling.&#10;&#10;FATIMA MOHAMED&#10;Appointment &amp; Payment&#10;&#10;Appointment workflow, Stripe integration, payment processing, refund workflow, and appointment business rules.&#10;&#10;--------------------------------------------------&#10;Design Requirements&#10;--------------------------------------------------&#10;&#10;- Match the existing visual style exactly.&#10;- Use the same fonts, colors, spacing, separators, and typography already used in the current Team Contributions slide.&#10;- Ensure both slides look like they were designed together.&#10;- Keep everything aligned and balanced.&#10;- Make sure no text is cut off.&#10;- Do NOT resize or modify any other slide in the presentation.&#10;- Do NOT change slide numbering except for inserting the new Team Contributions slide immediately after the existing one." id="670" name="Google Shape;670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47625" y="0"/>
            <a:ext cx="1228725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40"/>
          <p:cNvSpPr txBox="1"/>
          <p:nvPr/>
        </p:nvSpPr>
        <p:spPr>
          <a:xfrm>
            <a:off x="685800" y="685800"/>
            <a:ext cx="59055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WHAT WE ACCOMPLISHED</a:t>
            </a:r>
            <a:endParaRPr/>
          </a:p>
        </p:txBody>
      </p:sp>
      <p:sp>
        <p:nvSpPr>
          <p:cNvPr id="676" name="Google Shape;676;p40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40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/>
          </a:p>
        </p:txBody>
      </p:sp>
      <p:sp>
        <p:nvSpPr>
          <p:cNvPr id="678" name="Google Shape;678;p40"/>
          <p:cNvSpPr txBox="1"/>
          <p:nvPr/>
        </p:nvSpPr>
        <p:spPr>
          <a:xfrm>
            <a:off x="685800" y="22479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679" name="Google Shape;679;p40"/>
          <p:cNvSpPr txBox="1"/>
          <p:nvPr/>
        </p:nvSpPr>
        <p:spPr>
          <a:xfrm>
            <a:off x="1276350" y="2228850"/>
            <a:ext cx="3810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Platform Capabilities</a:t>
            </a:r>
            <a:endParaRPr/>
          </a:p>
        </p:txBody>
      </p:sp>
      <p:cxnSp>
        <p:nvCxnSpPr>
          <p:cNvPr id="680" name="Google Shape;680;p40"/>
          <p:cNvCxnSpPr/>
          <p:nvPr/>
        </p:nvCxnSpPr>
        <p:spPr>
          <a:xfrm>
            <a:off x="685800" y="2781300"/>
            <a:ext cx="5086350" cy="0"/>
          </a:xfrm>
          <a:prstGeom prst="straightConnector1">
            <a:avLst/>
          </a:prstGeom>
          <a:noFill/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1" name="Google Shape;681;p40"/>
          <p:cNvSpPr txBox="1"/>
          <p:nvPr/>
        </p:nvSpPr>
        <p:spPr>
          <a:xfrm>
            <a:off x="685800" y="2971800"/>
            <a:ext cx="508635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9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✓ Multi-Role Healthcare Platform</a:t>
            </a:r>
            <a:b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✓ Secure Authentication</a:t>
            </a:r>
            <a:b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✓ Role-Based Access Control</a:t>
            </a:r>
            <a:b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✓ Appointment Conflict Prevention</a:t>
            </a:r>
            <a:endParaRPr/>
          </a:p>
        </p:txBody>
      </p:sp>
      <p:sp>
        <p:nvSpPr>
          <p:cNvPr id="682" name="Google Shape;682;p40"/>
          <p:cNvSpPr txBox="1"/>
          <p:nvPr/>
        </p:nvSpPr>
        <p:spPr>
          <a:xfrm>
            <a:off x="6191250" y="22479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683" name="Google Shape;683;p40"/>
          <p:cNvSpPr txBox="1"/>
          <p:nvPr/>
        </p:nvSpPr>
        <p:spPr>
          <a:xfrm>
            <a:off x="6781800" y="2228850"/>
            <a:ext cx="3810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132238"/>
                </a:solidFill>
                <a:latin typeface="Arial"/>
                <a:ea typeface="Arial"/>
                <a:cs typeface="Arial"/>
                <a:sym typeface="Arial"/>
              </a:rPr>
              <a:t>Business &amp; Experience Wins</a:t>
            </a:r>
            <a:endParaRPr/>
          </a:p>
        </p:txBody>
      </p:sp>
      <p:cxnSp>
        <p:nvCxnSpPr>
          <p:cNvPr id="684" name="Google Shape;684;p40"/>
          <p:cNvCxnSpPr/>
          <p:nvPr/>
        </p:nvCxnSpPr>
        <p:spPr>
          <a:xfrm>
            <a:off x="6191250" y="2781300"/>
            <a:ext cx="5086350" cy="0"/>
          </a:xfrm>
          <a:prstGeom prst="straightConnector1">
            <a:avLst/>
          </a:prstGeom>
          <a:noFill/>
          <a:ln cap="flat" cmpd="sng" w="9525">
            <a:solidFill>
              <a:srgbClr val="DCE3E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5" name="Google Shape;685;p40"/>
          <p:cNvSpPr txBox="1"/>
          <p:nvPr/>
        </p:nvSpPr>
        <p:spPr>
          <a:xfrm>
            <a:off x="6191250" y="2971800"/>
            <a:ext cx="508635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9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✓ Stripe Payment Integration</a:t>
            </a:r>
            <a:b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✓ Automatic Refund System</a:t>
            </a:r>
            <a:b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✓ Smart Appointment Scheduling</a:t>
            </a:r>
            <a:b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✓ Analytics Dashboard</a:t>
            </a:r>
            <a:b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7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✓ Responsive UI</a:t>
            </a:r>
            <a:endParaRPr/>
          </a:p>
        </p:txBody>
      </p:sp>
      <p:sp>
        <p:nvSpPr>
          <p:cNvPr id="686" name="Google Shape;686;p40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5B6B84"/>
                </a:solidFill>
                <a:latin typeface="Arial"/>
                <a:ea typeface="Arial"/>
                <a:cs typeface="Arial"/>
                <a:sym typeface="Arial"/>
              </a:rPr>
              <a:t>27 / 29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41"/>
          <p:cNvSpPr txBox="1"/>
          <p:nvPr/>
        </p:nvSpPr>
        <p:spPr>
          <a:xfrm>
            <a:off x="685800" y="685800"/>
            <a:ext cx="95250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PRESENTATION COMMITTEE WALKTHROUGH</a:t>
            </a:r>
            <a:endParaRPr/>
          </a:p>
        </p:txBody>
      </p:sp>
      <p:sp>
        <p:nvSpPr>
          <p:cNvPr id="692" name="Google Shape;692;p41"/>
          <p:cNvSpPr/>
          <p:nvPr/>
        </p:nvSpPr>
        <p:spPr>
          <a:xfrm>
            <a:off x="685800" y="1009650"/>
            <a:ext cx="419100" cy="38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Google Shape;693;p41"/>
          <p:cNvSpPr txBox="1"/>
          <p:nvPr/>
        </p:nvSpPr>
        <p:spPr>
          <a:xfrm>
            <a:off x="685800" y="1181100"/>
            <a:ext cx="1082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Live Demo</a:t>
            </a:r>
            <a:endParaRPr/>
          </a:p>
        </p:txBody>
      </p:sp>
      <p:sp>
        <p:nvSpPr>
          <p:cNvPr id="694" name="Google Shape;694;p41"/>
          <p:cNvSpPr txBox="1"/>
          <p:nvPr/>
        </p:nvSpPr>
        <p:spPr>
          <a:xfrm>
            <a:off x="685800" y="2133600"/>
            <a:ext cx="108204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A single continuous journey across all three roles, demonstrated live end to end.</a:t>
            </a:r>
            <a:endParaRPr/>
          </a:p>
        </p:txBody>
      </p:sp>
      <p:sp>
        <p:nvSpPr>
          <p:cNvPr id="695" name="Google Shape;695;p41"/>
          <p:cNvSpPr/>
          <p:nvPr/>
        </p:nvSpPr>
        <p:spPr>
          <a:xfrm>
            <a:off x="685800" y="2552700"/>
            <a:ext cx="1809750" cy="590550"/>
          </a:xfrm>
          <a:prstGeom prst="roundRect">
            <a:avLst>
              <a:gd fmla="val 19354" name="adj"/>
            </a:avLst>
          </a:prstGeom>
          <a:solidFill>
            <a:srgbClr val="141C2E"/>
          </a:solidFill>
          <a:ln cap="flat" cmpd="sng" w="1427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41"/>
          <p:cNvSpPr txBox="1"/>
          <p:nvPr/>
        </p:nvSpPr>
        <p:spPr>
          <a:xfrm>
            <a:off x="762000" y="2743200"/>
            <a:ext cx="1657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Patient Login</a:t>
            </a:r>
            <a:endParaRPr/>
          </a:p>
        </p:txBody>
      </p:sp>
      <p:cxnSp>
        <p:nvCxnSpPr>
          <p:cNvPr id="697" name="Google Shape;697;p41"/>
          <p:cNvCxnSpPr/>
          <p:nvPr/>
        </p:nvCxnSpPr>
        <p:spPr>
          <a:xfrm>
            <a:off x="2495550" y="2847975"/>
            <a:ext cx="442912" cy="0"/>
          </a:xfrm>
          <a:prstGeom prst="straightConnector1">
            <a:avLst/>
          </a:prstGeom>
          <a:noFill/>
          <a:ln cap="flat" cmpd="sng" w="19050">
            <a:solidFill>
              <a:srgbClr val="2DD4B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698" name="Google Shape;698;p41"/>
          <p:cNvSpPr/>
          <p:nvPr/>
        </p:nvSpPr>
        <p:spPr>
          <a:xfrm>
            <a:off x="2938462" y="2552700"/>
            <a:ext cx="1809750" cy="590550"/>
          </a:xfrm>
          <a:prstGeom prst="roundRect">
            <a:avLst>
              <a:gd fmla="val 19354" name="adj"/>
            </a:avLst>
          </a:prstGeom>
          <a:solidFill>
            <a:srgbClr val="141C2E"/>
          </a:solidFill>
          <a:ln cap="flat" cmpd="sng" w="1427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" name="Google Shape;699;p41"/>
          <p:cNvSpPr txBox="1"/>
          <p:nvPr/>
        </p:nvSpPr>
        <p:spPr>
          <a:xfrm>
            <a:off x="3014662" y="2743200"/>
            <a:ext cx="1657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Doctor Search</a:t>
            </a:r>
            <a:endParaRPr/>
          </a:p>
        </p:txBody>
      </p:sp>
      <p:cxnSp>
        <p:nvCxnSpPr>
          <p:cNvPr id="700" name="Google Shape;700;p41"/>
          <p:cNvCxnSpPr/>
          <p:nvPr/>
        </p:nvCxnSpPr>
        <p:spPr>
          <a:xfrm>
            <a:off x="4748212" y="2847975"/>
            <a:ext cx="442913" cy="0"/>
          </a:xfrm>
          <a:prstGeom prst="straightConnector1">
            <a:avLst/>
          </a:prstGeom>
          <a:noFill/>
          <a:ln cap="flat" cmpd="sng" w="19050">
            <a:solidFill>
              <a:srgbClr val="2DD4B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701" name="Google Shape;701;p41"/>
          <p:cNvSpPr/>
          <p:nvPr/>
        </p:nvSpPr>
        <p:spPr>
          <a:xfrm>
            <a:off x="5191125" y="2552700"/>
            <a:ext cx="1809750" cy="590550"/>
          </a:xfrm>
          <a:prstGeom prst="roundRect">
            <a:avLst>
              <a:gd fmla="val 19354" name="adj"/>
            </a:avLst>
          </a:prstGeom>
          <a:solidFill>
            <a:srgbClr val="141C2E"/>
          </a:solidFill>
          <a:ln cap="flat" cmpd="sng" w="1427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41"/>
          <p:cNvSpPr txBox="1"/>
          <p:nvPr/>
        </p:nvSpPr>
        <p:spPr>
          <a:xfrm>
            <a:off x="5267325" y="2743200"/>
            <a:ext cx="1657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Book Appointment</a:t>
            </a:r>
            <a:endParaRPr/>
          </a:p>
        </p:txBody>
      </p:sp>
      <p:cxnSp>
        <p:nvCxnSpPr>
          <p:cNvPr id="703" name="Google Shape;703;p41"/>
          <p:cNvCxnSpPr/>
          <p:nvPr/>
        </p:nvCxnSpPr>
        <p:spPr>
          <a:xfrm>
            <a:off x="7000875" y="2847975"/>
            <a:ext cx="442912" cy="0"/>
          </a:xfrm>
          <a:prstGeom prst="straightConnector1">
            <a:avLst/>
          </a:prstGeom>
          <a:noFill/>
          <a:ln cap="flat" cmpd="sng" w="19050">
            <a:solidFill>
              <a:srgbClr val="2DD4B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704" name="Google Shape;704;p41"/>
          <p:cNvSpPr/>
          <p:nvPr/>
        </p:nvSpPr>
        <p:spPr>
          <a:xfrm>
            <a:off x="7443787" y="2552700"/>
            <a:ext cx="1809750" cy="590550"/>
          </a:xfrm>
          <a:prstGeom prst="roundRect">
            <a:avLst>
              <a:gd fmla="val 19354" name="adj"/>
            </a:avLst>
          </a:prstGeom>
          <a:solidFill>
            <a:srgbClr val="141C2E"/>
          </a:solidFill>
          <a:ln cap="flat" cmpd="sng" w="1427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41"/>
          <p:cNvSpPr txBox="1"/>
          <p:nvPr/>
        </p:nvSpPr>
        <p:spPr>
          <a:xfrm>
            <a:off x="7519987" y="2743200"/>
            <a:ext cx="1657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Stripe Payment</a:t>
            </a:r>
            <a:endParaRPr/>
          </a:p>
        </p:txBody>
      </p:sp>
      <p:cxnSp>
        <p:nvCxnSpPr>
          <p:cNvPr id="706" name="Google Shape;706;p41"/>
          <p:cNvCxnSpPr/>
          <p:nvPr/>
        </p:nvCxnSpPr>
        <p:spPr>
          <a:xfrm>
            <a:off x="9253537" y="2847975"/>
            <a:ext cx="442913" cy="0"/>
          </a:xfrm>
          <a:prstGeom prst="straightConnector1">
            <a:avLst/>
          </a:prstGeom>
          <a:noFill/>
          <a:ln cap="flat" cmpd="sng" w="19050">
            <a:solidFill>
              <a:srgbClr val="2DD4B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707" name="Google Shape;707;p41"/>
          <p:cNvSpPr/>
          <p:nvPr/>
        </p:nvSpPr>
        <p:spPr>
          <a:xfrm>
            <a:off x="9696450" y="2552700"/>
            <a:ext cx="1809750" cy="590550"/>
          </a:xfrm>
          <a:prstGeom prst="roundRect">
            <a:avLst>
              <a:gd fmla="val 19354" name="adj"/>
            </a:avLst>
          </a:prstGeom>
          <a:solidFill>
            <a:srgbClr val="141C2E"/>
          </a:solidFill>
          <a:ln cap="flat" cmpd="sng" w="1427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" name="Google Shape;708;p41"/>
          <p:cNvSpPr txBox="1"/>
          <p:nvPr/>
        </p:nvSpPr>
        <p:spPr>
          <a:xfrm>
            <a:off x="9772650" y="2743200"/>
            <a:ext cx="1657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Confirmation</a:t>
            </a:r>
            <a:endParaRPr/>
          </a:p>
        </p:txBody>
      </p:sp>
      <p:sp>
        <p:nvSpPr>
          <p:cNvPr id="709" name="Google Shape;709;p41"/>
          <p:cNvSpPr/>
          <p:nvPr/>
        </p:nvSpPr>
        <p:spPr>
          <a:xfrm>
            <a:off x="685800" y="4305300"/>
            <a:ext cx="1809750" cy="590550"/>
          </a:xfrm>
          <a:prstGeom prst="roundRect">
            <a:avLst>
              <a:gd fmla="val 19354" name="adj"/>
            </a:avLst>
          </a:prstGeom>
          <a:solidFill>
            <a:srgbClr val="141C2E"/>
          </a:solidFill>
          <a:ln cap="flat" cmpd="sng" w="1427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41"/>
          <p:cNvSpPr txBox="1"/>
          <p:nvPr/>
        </p:nvSpPr>
        <p:spPr>
          <a:xfrm>
            <a:off x="762000" y="4495800"/>
            <a:ext cx="1657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Doctor Dashboard</a:t>
            </a:r>
            <a:endParaRPr/>
          </a:p>
        </p:txBody>
      </p:sp>
      <p:cxnSp>
        <p:nvCxnSpPr>
          <p:cNvPr id="711" name="Google Shape;711;p41"/>
          <p:cNvCxnSpPr/>
          <p:nvPr/>
        </p:nvCxnSpPr>
        <p:spPr>
          <a:xfrm>
            <a:off x="2495550" y="4600575"/>
            <a:ext cx="442912" cy="0"/>
          </a:xfrm>
          <a:prstGeom prst="straightConnector1">
            <a:avLst/>
          </a:prstGeom>
          <a:noFill/>
          <a:ln cap="flat" cmpd="sng" w="19050">
            <a:solidFill>
              <a:srgbClr val="2DD4B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712" name="Google Shape;712;p41"/>
          <p:cNvSpPr/>
          <p:nvPr/>
        </p:nvSpPr>
        <p:spPr>
          <a:xfrm>
            <a:off x="2938462" y="4305300"/>
            <a:ext cx="1809750" cy="590550"/>
          </a:xfrm>
          <a:prstGeom prst="roundRect">
            <a:avLst>
              <a:gd fmla="val 19354" name="adj"/>
            </a:avLst>
          </a:prstGeom>
          <a:solidFill>
            <a:srgbClr val="141C2E"/>
          </a:solidFill>
          <a:ln cap="flat" cmpd="sng" w="1427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41"/>
          <p:cNvSpPr txBox="1"/>
          <p:nvPr/>
        </p:nvSpPr>
        <p:spPr>
          <a:xfrm>
            <a:off x="3014662" y="4495800"/>
            <a:ext cx="1657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Complete Visit</a:t>
            </a:r>
            <a:endParaRPr/>
          </a:p>
        </p:txBody>
      </p:sp>
      <p:cxnSp>
        <p:nvCxnSpPr>
          <p:cNvPr id="714" name="Google Shape;714;p41"/>
          <p:cNvCxnSpPr/>
          <p:nvPr/>
        </p:nvCxnSpPr>
        <p:spPr>
          <a:xfrm>
            <a:off x="4748212" y="4600575"/>
            <a:ext cx="442913" cy="0"/>
          </a:xfrm>
          <a:prstGeom prst="straightConnector1">
            <a:avLst/>
          </a:prstGeom>
          <a:noFill/>
          <a:ln cap="flat" cmpd="sng" w="19050">
            <a:solidFill>
              <a:srgbClr val="2DD4B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715" name="Google Shape;715;p41"/>
          <p:cNvSpPr/>
          <p:nvPr/>
        </p:nvSpPr>
        <p:spPr>
          <a:xfrm>
            <a:off x="5191125" y="4305300"/>
            <a:ext cx="1809750" cy="590550"/>
          </a:xfrm>
          <a:prstGeom prst="roundRect">
            <a:avLst>
              <a:gd fmla="val 19354" name="adj"/>
            </a:avLst>
          </a:prstGeom>
          <a:solidFill>
            <a:srgbClr val="141C2E"/>
          </a:solidFill>
          <a:ln cap="flat" cmpd="sng" w="1427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41"/>
          <p:cNvSpPr txBox="1"/>
          <p:nvPr/>
        </p:nvSpPr>
        <p:spPr>
          <a:xfrm>
            <a:off x="5267325" y="4495800"/>
            <a:ext cx="1657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Patient Review</a:t>
            </a:r>
            <a:endParaRPr/>
          </a:p>
        </p:txBody>
      </p:sp>
      <p:cxnSp>
        <p:nvCxnSpPr>
          <p:cNvPr id="717" name="Google Shape;717;p41"/>
          <p:cNvCxnSpPr/>
          <p:nvPr/>
        </p:nvCxnSpPr>
        <p:spPr>
          <a:xfrm>
            <a:off x="7000875" y="4600575"/>
            <a:ext cx="442912" cy="0"/>
          </a:xfrm>
          <a:prstGeom prst="straightConnector1">
            <a:avLst/>
          </a:prstGeom>
          <a:noFill/>
          <a:ln cap="flat" cmpd="sng" w="19050">
            <a:solidFill>
              <a:srgbClr val="2DD4B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718" name="Google Shape;718;p41"/>
          <p:cNvSpPr/>
          <p:nvPr/>
        </p:nvSpPr>
        <p:spPr>
          <a:xfrm>
            <a:off x="7443787" y="4305300"/>
            <a:ext cx="1809750" cy="590550"/>
          </a:xfrm>
          <a:prstGeom prst="roundRect">
            <a:avLst>
              <a:gd fmla="val 19354" name="adj"/>
            </a:avLst>
          </a:prstGeom>
          <a:solidFill>
            <a:srgbClr val="141C2E"/>
          </a:solidFill>
          <a:ln cap="flat" cmpd="sng" w="1427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" name="Google Shape;719;p41"/>
          <p:cNvSpPr txBox="1"/>
          <p:nvPr/>
        </p:nvSpPr>
        <p:spPr>
          <a:xfrm>
            <a:off x="7519987" y="4495800"/>
            <a:ext cx="1657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Admin Dashboard</a:t>
            </a:r>
            <a:endParaRPr/>
          </a:p>
        </p:txBody>
      </p:sp>
      <p:cxnSp>
        <p:nvCxnSpPr>
          <p:cNvPr id="720" name="Google Shape;720;p41"/>
          <p:cNvCxnSpPr/>
          <p:nvPr/>
        </p:nvCxnSpPr>
        <p:spPr>
          <a:xfrm>
            <a:off x="9253537" y="4600575"/>
            <a:ext cx="442913" cy="0"/>
          </a:xfrm>
          <a:prstGeom prst="straightConnector1">
            <a:avLst/>
          </a:prstGeom>
          <a:noFill/>
          <a:ln cap="flat" cmpd="sng" w="19050">
            <a:solidFill>
              <a:srgbClr val="2DD4B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721" name="Google Shape;721;p41"/>
          <p:cNvSpPr/>
          <p:nvPr/>
        </p:nvSpPr>
        <p:spPr>
          <a:xfrm>
            <a:off x="9696450" y="4305300"/>
            <a:ext cx="1809750" cy="590550"/>
          </a:xfrm>
          <a:prstGeom prst="roundRect">
            <a:avLst>
              <a:gd fmla="val 19354" name="adj"/>
            </a:avLst>
          </a:prstGeom>
          <a:solidFill>
            <a:srgbClr val="141C2E"/>
          </a:solidFill>
          <a:ln cap="flat" cmpd="sng" w="1427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41"/>
          <p:cNvSpPr txBox="1"/>
          <p:nvPr/>
        </p:nvSpPr>
        <p:spPr>
          <a:xfrm>
            <a:off x="9772650" y="4495800"/>
            <a:ext cx="16573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Refund Workflow</a:t>
            </a:r>
            <a:endParaRPr/>
          </a:p>
        </p:txBody>
      </p:sp>
      <p:cxnSp>
        <p:nvCxnSpPr>
          <p:cNvPr id="723" name="Google Shape;723;p41"/>
          <p:cNvCxnSpPr/>
          <p:nvPr/>
        </p:nvCxnSpPr>
        <p:spPr>
          <a:xfrm>
            <a:off x="10601325" y="3143250"/>
            <a:ext cx="0" cy="581025"/>
          </a:xfrm>
          <a:prstGeom prst="straightConnector1">
            <a:avLst/>
          </a:prstGeom>
          <a:noFill/>
          <a:ln cap="flat" cmpd="sng" w="19050">
            <a:solidFill>
              <a:srgbClr val="2DD4B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24" name="Google Shape;724;p41"/>
          <p:cNvCxnSpPr/>
          <p:nvPr/>
        </p:nvCxnSpPr>
        <p:spPr>
          <a:xfrm rot="10800000">
            <a:off x="1590675" y="3724275"/>
            <a:ext cx="9010650" cy="0"/>
          </a:xfrm>
          <a:prstGeom prst="straightConnector1">
            <a:avLst/>
          </a:prstGeom>
          <a:noFill/>
          <a:ln cap="flat" cmpd="sng" w="19050">
            <a:solidFill>
              <a:srgbClr val="2DD4B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25" name="Google Shape;725;p41"/>
          <p:cNvCxnSpPr/>
          <p:nvPr/>
        </p:nvCxnSpPr>
        <p:spPr>
          <a:xfrm>
            <a:off x="1590675" y="3724275"/>
            <a:ext cx="0" cy="581025"/>
          </a:xfrm>
          <a:prstGeom prst="straightConnector1">
            <a:avLst/>
          </a:prstGeom>
          <a:noFill/>
          <a:ln cap="flat" cmpd="sng" w="19050">
            <a:solidFill>
              <a:srgbClr val="2DD4B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726" name="Google Shape;726;p41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28 / 29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220"/>
        </a:solidFill>
      </p:bgPr>
    </p:bg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42"/>
          <p:cNvSpPr txBox="1"/>
          <p:nvPr/>
        </p:nvSpPr>
        <p:spPr>
          <a:xfrm>
            <a:off x="0" y="876300"/>
            <a:ext cx="12192000" cy="247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MEDICARE PRO — SMART HEALTHCARE MANAGEMENT SYSTEM</a:t>
            </a:r>
            <a:endParaRPr/>
          </a:p>
        </p:txBody>
      </p:sp>
      <p:pic>
        <p:nvPicPr>
          <p:cNvPr descr="logo.png" id="732" name="Google Shape;732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72125" y="1428750"/>
            <a:ext cx="1047749" cy="1047749"/>
          </a:xfrm>
          <a:prstGeom prst="roundRect">
            <a:avLst>
              <a:gd fmla="val 14545" name="adj"/>
            </a:avLst>
          </a:prstGeom>
          <a:noFill/>
          <a:ln>
            <a:noFill/>
          </a:ln>
        </p:spPr>
      </p:pic>
      <p:sp>
        <p:nvSpPr>
          <p:cNvPr id="733" name="Google Shape;733;p42"/>
          <p:cNvSpPr txBox="1"/>
          <p:nvPr/>
        </p:nvSpPr>
        <p:spPr>
          <a:xfrm>
            <a:off x="0" y="2743200"/>
            <a:ext cx="121920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9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350" u="none" cap="none" strike="noStrike">
                <a:solidFill>
                  <a:srgbClr val="F3F6FA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/>
          </a:p>
        </p:txBody>
      </p:sp>
      <p:sp>
        <p:nvSpPr>
          <p:cNvPr id="734" name="Google Shape;734;p42"/>
          <p:cNvSpPr txBox="1"/>
          <p:nvPr/>
        </p:nvSpPr>
        <p:spPr>
          <a:xfrm>
            <a:off x="0" y="3771900"/>
            <a:ext cx="12192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DEPI Graduation Project · 2026</a:t>
            </a:r>
            <a:endParaRPr/>
          </a:p>
        </p:txBody>
      </p:sp>
      <p:sp>
        <p:nvSpPr>
          <p:cNvPr id="735" name="Google Shape;735;p42"/>
          <p:cNvSpPr txBox="1"/>
          <p:nvPr/>
        </p:nvSpPr>
        <p:spPr>
          <a:xfrm>
            <a:off x="0" y="4076699"/>
            <a:ext cx="12192000" cy="2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cap="none" strike="noStrike">
                <a:solidFill>
                  <a:srgbClr val="2DD4BF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github.com/A200B5/smart-healthcare-system</a:t>
            </a:r>
            <a:endParaRPr>
              <a:solidFill>
                <a:srgbClr val="2DD4BF"/>
              </a:solidFill>
            </a:endParaRPr>
          </a:p>
        </p:txBody>
      </p:sp>
      <p:sp>
        <p:nvSpPr>
          <p:cNvPr id="736" name="Google Shape;736;p42"/>
          <p:cNvSpPr txBox="1"/>
          <p:nvPr/>
        </p:nvSpPr>
        <p:spPr>
          <a:xfrm>
            <a:off x="0" y="4438650"/>
            <a:ext cx="1219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Ahmed Bakr · Ahmed Sabry · Ibrahim Mohamed · Ahmed Hany</a:t>
            </a:r>
            <a:endParaRPr/>
          </a:p>
        </p:txBody>
      </p:sp>
      <p:sp>
        <p:nvSpPr>
          <p:cNvPr id="737" name="Google Shape;737;p42"/>
          <p:cNvSpPr/>
          <p:nvPr/>
        </p:nvSpPr>
        <p:spPr>
          <a:xfrm>
            <a:off x="10287000" y="4953000"/>
            <a:ext cx="1219200" cy="12192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9525">
            <a:solidFill>
              <a:srgbClr val="28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qr_code.png" id="738" name="Google Shape;738;p4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401300" y="5067300"/>
            <a:ext cx="990599" cy="990599"/>
          </a:xfrm>
          <a:prstGeom prst="rect">
            <a:avLst/>
          </a:prstGeom>
          <a:noFill/>
          <a:ln>
            <a:noFill/>
          </a:ln>
        </p:spPr>
      </p:pic>
      <p:sp>
        <p:nvSpPr>
          <p:cNvPr id="739" name="Google Shape;739;p42"/>
          <p:cNvSpPr txBox="1"/>
          <p:nvPr/>
        </p:nvSpPr>
        <p:spPr>
          <a:xfrm>
            <a:off x="10096500" y="4743450"/>
            <a:ext cx="16002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8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Scan for GitHub repo</a:t>
            </a:r>
            <a:endParaRPr/>
          </a:p>
        </p:txBody>
      </p:sp>
      <p:sp>
        <p:nvSpPr>
          <p:cNvPr id="740" name="Google Shape;740;p42"/>
          <p:cNvSpPr txBox="1"/>
          <p:nvPr/>
        </p:nvSpPr>
        <p:spPr>
          <a:xfrm>
            <a:off x="10934700" y="6477000"/>
            <a:ext cx="571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" u="none" cap="none" strike="noStrike">
                <a:solidFill>
                  <a:srgbClr val="93A3B8"/>
                </a:solidFill>
                <a:latin typeface="Arial"/>
                <a:ea typeface="Arial"/>
                <a:cs typeface="Arial"/>
                <a:sym typeface="Arial"/>
              </a:rPr>
              <a:t>29 / 29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